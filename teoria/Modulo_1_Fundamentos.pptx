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dulo 1" id="{a2620905-93dd-1fe4-8680-843750dac86d}">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Hola, bienvenidos al curso de ancestría genética de la Asociación Colombiana de Genética Humana. Soy Yina Tatiana Zambrano y vamos a trabajar juntos durante cuatro semanas.
Este es el módulo 1 y es teórico. Son unos cincuenta minutos repartidos en cápsulas cortas, y su objetivo es que lleguen al sábado entendiendo POR QUÉ hacemos cada cosa, para que ese día podamos concentrarnos en el cómo.
No necesitan saber programar. No necesitan instalar nada. Lo único que les voy a pedir es que vean este video antes del sábado y que lean el artículo que les dejo al final: es corto, es colombiano y es de acceso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Empecemos por el tamaño del problema.
El Proyecto 1000 Genomas secuenció 2.504 personas de 26 poblaciones de todo el mundo, y entre todas ellas encontró 88 millones de variantes. Ese número suena enorme, pero no es el que nos sirve.
El número que de verdad importa es el de abajo: cuando ustedes comparan el genoma de UNA persona contra el genoma de referencia, encuentran entre cuatro y cinco millones de diferencias. Eso es lo que tiene cada uno de nosotros, y de ahí es de donde vamos a sacar la ancestría.
Quiero que se queden con esta idea: entre dos personas cualesquiera compartimos la inmensa mayoría del genoma, más del 99 %. Pero el genoma es tan grande que ese 1 % restante son millones de posiciones. Hay muchísimo con qué trabajar.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parece una contradicción y confunde a mucha gente, así que vamos despacio.
A la izquierda: si uno junta a todas las personas del mundo y hace la lista de todas las variantes que existen, la mayoría son rarísimas. De los 88 millones, 64 millones aparecen en menos del medio por ciento de la gente. Solo 8 millones superan el 5 %.
A la derecha: pero si uno mira el genoma de UNA sola persona, pasa exactamente lo contrario. De sus cuatro o cinco millones de variantes, apenas el 1 % al 4 % son raras. Casi todas las que carga son comunes.
Y no hay contradicción: las variantes raras son muchísimas en la lista, pero cada una está en poquísima gente. Las comunes son pocas en la lista, pero están en casi todo el mundo. Por eso cada uno de nosotros lleva sobre todo variantes comunes.
Esto tiene una consecuencia directa para nosotros: la ancestría se estima con variantes comunes. Son las que están en suficiente gente como para que su frecuencia sea estable y comparable entre poblaciones. El sábado vamos a escribir un filtro, guion guion m-a-f cero punto cero uno, que quiere decir exactamente eso: quédate solo con las variantes que estén en al menos el 1 % de la muestra.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SNP, single nucleotide polymorphism, es simplemente una posición del genoma donde las personas nos diferenciamos en una sola letra. Aquí todos tienen A-C-G-T antes y T-A-G-G después; la única posición que cambia es la del medio.
Fíjense en algo importante que casi siempre se pasa por alto: cada persona aparece con DOS filas, no con una. Eso es porque cada uno de nosotros tiene dos copias de cada cromosoma, una que vino del papá y otra de la mamá. Entonces cada persona no aporta un alelo a esa posición: aporta dos.
La Persona 1 tiene C en las dos copias. La Persona 2 tiene C en una y T en la otra. La Persona 3, igual.
Ahora, a la derecha, la cuenta. Y esta es la parte que quiero que les quede clarísima porque es el error más común: la frecuencia alélica NO se cuenta sobre personas, se cuenta sobre alelos.
Tenemos tres personas por dos copias cada una: seis alelos en total. ¿Cuántos son C? La Persona 1 aporta dos, la Persona 2 aporta uno y la Persona 3 aporta uno. Cuatro de seis. Cuatro sextos es cero coma sesenta y siete. Y los T son dos de seis, cero coma treinta y tres. Suman uno, como tiene que ser.
Si ustedes hubieran contado personas en lugar de alelos, les habría dado otra cosa, y estaría mal.
Esto es literalmente lo que hace PLINK cuando ustedes le piden las frecuencias. Y es todo lo que necesitamos: la ancestría se infiere porque este número, cero coma sesenta y siete, es distinto en una población africana, en una europea y en una nativa americana. Nada más. No nos importa si la variante causa algo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diapositiva más importante del módulo. Si esto queda claro, el resto del curso se entiende solo.
Arriba, parte A. Su mamá tiene dos cromosomas: el que le dio su papá, en azul, y el que le dio su mamá, en naranja. Cuando su mamá produce un óvulo, esos dos cromosomas no se reparten enteros. Se cortan y se pegan. A eso se le llama recombinación, y los puntos donde se corta están marcados con las equis verdes.
El resultado es el cromosoma de abajo: el que ustedes heredaron. Vean que no es ni el azul ni el naranja: es un mosaico de los dos.
Ahora el dato que más sorprende: en cada meiosis hay apenas una o dos recombinaciones por cromosoma. No son cientos. Son una o dos. Eso significa que entre un corte y el siguiente pasa un tramo enorme de cromosoma, íntegro, sin alterarse.
Ese tramo que viajó junto es un haplotipo. Y en la parte B lo vemos por dentro: si ese tramo traía una T, una G, una C y una A en cuatro posiciones vecinas, las cuatro llegaron juntas. No llegaron por separado.
Ahora piensen en lo que significa esto para nosotros. Si una persona en Medellín tuvo un tatarabuelo africano, ese tatarabuelo le pasó tramos enteros de cromosoma. Esos tramos se han ido cortando generación tras generación, cada vez más cortos, pero todavía están ahí y todavía se reconocen. Por eso podemos mirar un cromosoma y decir: este pedazo vino de África, este de Europa, este de un pueblo nativo americano.
Eso es ancestría local, y es de lo que se trata el módulo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Desequilibrio de ligamiento. El nombre asusta, pero la idea es sencilla y es consecuencia directa de lo que acabamos de ver: si las variantes viajan en bloques, las vecinas tienden a aparecer juntas.
A la izquierda están los dos casos extremos. Imaginen dos variantes vecinas: la primera puede ser A o a, la segunda puede ser B o b. En principio hay cuatro combinaciones posibles: A con B, A con b, a con B, a con b.
Arriba, en equilibrio, aparecen las cuatro. Si yo les digo que una persona tiene A en la primera variante, ustedes no pueden adivinar qué tiene en la segunda: puede ser B o puede ser b. Las dos variantes son independientes. Eso es r cuadrado igual a cero.
Abajo, en desequilibrio, solo aparecen dos combinaciones: A con B, y a con b. Las otras dos no existen. Entonces si yo les digo que una persona tiene A, ustedes ya saben que tiene B. Con certeza. La primera variante les dio la información de la segunda gratis. Eso es r cuadrado igual a uno.
Y eso es todo lo que mide r cuadrado: qué tan bien el alelo de una variante les permite adivinar el de la vecina. Cero, no les dice nada. Uno, se la dice completa. En la vida real está casi siempre en el medio.
Ojo con una confusión frecuente: el desequilibrio no cambia las frecuencias de cada variante por separado. Cada una sigue teniendo las suyas. Lo que cambia es si van juntas o no.
A la derecha está la segunda idea. Como el LD se rompe con la recombinación, entre más lejos estén dos variantes, más oportunidades hubo de que un corte las separara. Por eso el LD cae con la distancia.
Pero, y esto es lo clave, no cae al mismo ritmo en todo el genoma, porque la recombinación no está repartida de forma pareja. Hay zonas donde se recombina muchísimo y zonas donde casi no. Miren la línea verde: a 50 kb el r cuadrado ya bajó a cero coma diez, o sea que las dos variantes ya casi no se predicen. Y ahora la línea naranja: a esos mismos 50 kb el r cuadrado todavía es cero coma setenta. La misma distancia, resultados completamente distintos, según en qué parte del genoma estén.
¿Y por qué nos importa todo esto? Porque el PCA y ADMIXTURE, que son las herramientas del próximo módulo, suponen que las variantes que uno les da son independientes. Si uno les mete diez mil variantes de una región con mucho LD, esa región va a pesar diez mil veces, cuando en realidad está diciendo una sola cosa. El resultado sale sesgado.
Por eso el sábado, antes de correr nada, vamos a hacer una poda por LD: le pedimos a PLINK que recorra el genoma y descarte las variantes que repiten lo que ya dijo una vecina. Van a ver cómo pasamos de ciento diez mil variantes a sesenta mil, y eso está bien: no perdimos información, quitamos repetición.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la inferencia de ancestría se apoya en que las frecuencias alélicas son distintas entre poblaciones. Vale la pena entender por qué lo son, porque hay cuatro razones y solo una es la que la gente suele imaginar.
La deriva genética es azar puro. En cada generación, quién se reproduce y qué alelo le toca a cada hijo es un sorteo. En poblaciones grandes ese ruido se promedia; en poblaciones pequeñas las frecuencias se mueven mucho de una generación a otra. La deriva es, con diferencia, la causa principal.
El aislamiento y la migración: dos poblaciones que llevan milenios separadas acumulan diferencias cada una por su lado. Y cuando vuelve a haber flujo de gente entre ellas, esas diferencias se vuelven a borrar.
El efecto fundador: cuando un grupo pequeño se separa y funda una población nueva, solo se lleva una parte de la variación que había. Toda la población que descienda de ellos arranca con esa muestra sesgada.
Y la selección natural, que es la que todo el mundo nombra primero, en realidad explica diferencias en unas pocas regiones del genoma. La lactasa, la pigmentación, la adaptación a la altura, la resistencia a la malaria. Son casos reales e interesantes, pero son excepciones. El patrón general del genoma lo explican la deriva y la historia demográfica.
Y ahora la frase de abajo, que les pido que escuchen con atención porque es el contexto de todo el curso.
Rosenberg y colaboradores, en Science en 2002, midieron cómo se reparte la variación genética humana. Entre el 93 y el 95 % de esa variación está DENTRO de cada población. Entre los grandes grupos continentales hay apenas del 3 al 5 %.
Léanlo así: dos personas de la misma ciudad son, en promedio, casi tan distintas entre sí como dos personas de continentes opuestos. Las diferencias entre poblaciones existen, son reales y son medibles (si no, este curso no tendría sentido), pero son pequeñas comparadas con la variación que hay entre dos vecinos cualesquiera.
Esto es importante decirlo porque un curso de ancestría puede leerse mal. No estamos midiendo razas ni estamos justificando categorías. Estamos midiendo un parecido estadístico con unas poblaciones de referencia que nosotros mismos elegimos.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al caso que nos toca de cerca.
Desde el siglo XVI confluyen en América tres grupos de poblaciones que llevaban milenios separadas: los pueblos nativos americanos, los europeos y los africanos traídos por la trata esclavista. Ese encuentro es el origen de las poblaciones mezcladas de todo el continente.
Lo clave para nosotros es que fue hace muy poco en términos evolutivos: unas quince a veinte generaciones. Acuérdense del módulo de hace un momento, cuando dijimos que los haplotipos se van cortando generación tras generación. Quince generaciones son muy pocos cortes. Por eso los bloques de ancestría en una persona colombiana todavía son largos y relativamente fáciles de reconocer.
Si la mezcla hubiera ocurrido hace cinco mil años, los bloques estarían tan picados que no los distinguiríamos. Tenemos suerte de llegar en este momento.
Tercer punto, y este incomoda pero hay que decirlo: la mezcla no fue simétrica. Fue sesgada por sexo. En Colombia, la ancestría europea entra sobre todo por vía paterna y la nativa americana sobre todo por vía materna. Eso se ve en los datos, en el cromosoma Y frente al ADN mitocondrial, y refleja lo que fue históricamente la Conquista.
Y los números concretos, del artículo de Rishishwar: en sesenta genomas de Medellín, el promedio es setenta y cuatro coma seis por ciento de ancestría europea, dieciocho coma uno nativa americana y siete coma tres africana. Pero subrayen la palabra promedio: la variación entre personas es enorme. Hay gente de Medellín con mucha más ancestría nativa y gente con mucha más africana. El promedio no describe a nadie en particular.
Esas sesenta personas son, literalmente, las que vamos a analizar en las sesiones 3 y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es la que más preguntas genera y la que más conviene decir despacio.
A la izquierda, qué sí es la ancestría genética. Es una estimación estadística: le preguntamos a los datos a qué poblaciones de referencia se parece más el genoma de esta persona. Es un número continuo, no una etiqueta. Nadie es europeo o no europeo; una persona tiene sesenta y tres coma dos por ciento. Y depende por completo de qué referencias le dimos al modelo. Esa última frase es la más importante de la diapositiva y voy a volver a ella en un segundo.
A la derecha, qué no es. No es raza. Las categorías raciales son construcciones sociales, cambian de país a país y de época a época, y no se corresponden con la variación genética; acuérdense del noventa y tres a noventa y cinco por ciento de hace un momento. No es nacionalidad ni identidad: una persona puede sentirse profundamente colombiana y tener la composición genética que sea, y las dos cosas son verdad al mismo tiempo. Y no es un árbol genealógico: la ancestría no dice de qué personas uno desciende, dice a qué poblaciones se parece.
Ahora el ejemplo que a mí me parece el más útil para explicar esto, y que además todos conocen.
Cuando alguien se hace un test comercial de ancestría, en dos empresas distintas, y le dan resultados diferentes, la reacción natural es pensar que una de las dos se equivocó. No. Las dos pueden estar bien. Lo que pasa es que cada empresa tiene su propio panel de referencia, con poblaciones distintas y con nombres distintos para esas poblaciones. Si yo le pregunto a qué se parece su genoma, la respuesta depende de contra qué lo esté comparando.
Esto no es un defecto del método. Es lo que el método es. Y es la razón por la que en este curso vamos a dedicarle tanto cuidado a elegir las referencias.
Para quien quiera profundizar en esta parte, el informe de las Academias Nacionales de Estados Unidos de 2023 sobre descriptores poblacionales es la referencia actual y es de acceso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dos preguntas distintas que se pueden hacer sobre la ancestría de una persona, y conviene no confundirlas porque se responden con herramientas distintas.
La primera, a la izquierda, es la ancestría global: ¿qué proporción del genoma de esta persona viene de cada población ancestral? La respuesta es un puñado de números que suman cien por ciento. Sesenta por ciento europea, treinta y tres nativa americana, siete africana. Un número por persona y por componente. Eso lo calculamos con PCA y con ADMIXTURE, y es el módulo 2 y la sesión 2.
La segunda, a la derecha, es la ancestría local: ¿de qué población viene cada TRAMO de cada cromosoma de esta persona? La respuesta ya no es un número, es un mapa. Un mosaico de colores a lo largo de cada cromosoma. Y fíjense que son dos mosaicos por cromosoma, no uno, porque cada uno de nosotros tiene dos copias: la que vino del papá y la que vino de la mamá. Eso lo calculamos con RFMix, y es el módulo 3 y la sesión 3.
La relación entre las dos es sencilla: la global es el promedio de la local. Si ustedes miden qué fracción del mosaico es naranja, les da el porcentaje de ancestría africana.
Pero aquí está el punto que quiero dejar sembrado para el módulo 4. El promedio esconde exactamente lo que importa en clínica. Saber que una persona tiene siete por ciento de ancestría africana no les dice si ese siete por ciento cayó, o no cayó, en el gen que a ustedes les interesa. Y a veces esa es toda la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es nueva y es la que responde la pregunta de "sí, muy bonito, pero ¿esto para qué me sirve a mí?".
La ancestría global sirve, antes que nada, para controlar la estructura poblacional. Si ustedes hacen un estudio de asociación en una población mezclada y no controlan por ancestría, les van a salir asociaciones que son puro artefacto: la variante no causa la enfermedad, simplemente es más frecuente en un grupo ancestral que además, por razones sociales, tiene más de esa enfermedad. Esto no es teórico, pasa todo el tiempo. La ancestría global es la variable con la que se corrige.
Sirve también para describir una cohorte. Si ustedes van a publicar un estudio en población colombiana, hoy se espera que reporten la composición ancestral de su muestra, no solo que digan "colombianos".
Sirve para decidir si una herramienta es aplicable. Si un puntaje de riesgo fue construido en población europea y su paciente tiene cuarenta por ciento de ancestría nativa americana, eso cambia cuánto pueden confiar en el resultado.
Y sirve para estudiar historia poblacional, que no es nuestro tema, pero es de donde viene buena parte de la literatura.
Ahora la local, que es más específica y más potente.
Primero: saber la ancestría en un gen concreto, cuando el riesgo depende de ella. El caso clásico es APOL1. Hay dos variantes de ese gen que aumentan muchísimo el riesgo de enfermedad renal, que prácticamente solo existen en haplotipos de origen africano, y cuyo efecto es recesivo: hacen falta las dos copias. Entonces para una persona mezclada, la pregunta clínica no es cuánta ancestría africana tiene en total. La pregunta es si sus dos copias del cromosoma 22, justo en esa posición, son africanas o no. Eso solo lo responde la ancestría local. Lo vamos a hacer con datos reales en la sesión 4.
Segundo: admixture mapping. Es una idea preciosa. Si una enfermedad es más frecuente en un grupo ancestral por razones genéticas, entonces en los pacientes debería haber un exceso de esa ancestría justo alrededor del gen responsable. Uno recorre el genoma buscando dónde la ancestría local se desvía del promedio en los casos y no en los controles. Con pocas personas se puede rastrear todo el genoma, porque los bloques son grandes.
Tercero: mejorar los puntajes poligénicos en poblaciones mezcladas, ponderando cada tramo según su ancestría en lugar de aplicar un puntaje europeo a todo el genoma.
Y cuarto, más técnico: controlar la calidad de la imputación.
Todo esto lo retomamos en el módulo 4 y lo trabajamos con datos el 5 de diciembre. Por ahora basta con que sepan que la distinción entre global y local no es un capricho académico: cambia qué preguntas pueden responder.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qué vamos a hacer el sábado.
Vamos a trabajar con datos reales: novecientas sesenta y nueve personas de quince poblaciones, del Proyecto 1000 Genomas y del HGDP. No son datos de juguete.
Vamos a abrir un archivo VCF y mirarlo por dentro, línea por línea, para que vean qué hay ahí. Después lo convertimos al formato de PLINK, que son tres archivos que siempre van juntos: punto bed, punto bim y punto fam. Y después aplicamos los filtros de calidad y la poda por LD de la que acabamos de hablar.
Todo corre en el navegador, con Google Colab. No hay que instalar absolutamente nada. Lo único que necesitan es una cuenta de Google.
Una sola tarea antes del sábado, y es de treinta segundos: abran el enlace del cuaderno de la sesión 1 que está en el repositorio y comprueben que les carga. Si les carga, están listos. Si no, escríbanme antes del sábado y lo resolvemos con calma en lugar de en plena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Eso es todo por el módulo 1. Les dejo tres lecturas. La primera, la de Rishishwar, es la importante: son nueve páginas sobre genomas colombianos y es la que vamos a estar citando todo el curso. Las otras dos son de consulta, para cuando quieran profundizar.
Nos vemos el sábado 14 a las ocho de la mañana. Lleguen con una cuenta de Google abierta y con ganas; no necesitan nada más. Hasta el sábado.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286000"/>
            <a:ext cx="9509760" cy="1828800"/>
          </a:xfrm>
          <a:prstGeom prst="rect">
            <a:avLst/>
          </a:prstGeom>
          <a:noFill/>
          <a:ln/>
        </p:spPr>
        <p:txBody>
          <a:bodyPr wrap="square" rtlCol="0"/>
          <a:lstStyle>
            <a:lvl1pPr algn="l" indent="0" marL="0">
              <a:buNone/>
              <a:defRPr lang="en-US" sz="3800" b="1" dirty="0">
                <a:solidFill>
                  <a:schemeClr val="accent1"/>
                </a:solidFill>
              </a:defRPr>
            </a:lvl1pPr>
          </a:lstStyle>
          <a:p>
            <a:pPr algn="l" indent="0" marL="0">
              <a:buNone/>
            </a:pPr>
            <a:r>
              <a:rPr lang="en-US" sz="3800" b="1" dirty="0">
                <a:solidFill>
                  <a:schemeClr val="accent1"/>
                </a:solidFill>
              </a:rPr>
              <a:t> </a:t>
            </a:r>
            <a:endParaRPr lang="en-US" sz="3800" dirty="0"/>
          </a:p>
        </p:txBody>
      </p:sp>
      <p:sp>
        <p:nvSpPr>
          <p:cNvPr id="3" name="Text 0"/>
          <p:cNvSpPr/>
          <p:nvPr>
            <p:ph idx="101" type="body" hasCustomPrompt="1"/>
          </p:nvPr>
        </p:nvSpPr>
        <p:spPr>
          <a:xfrm>
            <a:off x="914400" y="4251960"/>
            <a:ext cx="9509760" cy="1371600"/>
          </a:xfrm>
          <a:prstGeom prst="rect">
            <a:avLst/>
          </a:prstGeom>
          <a:noFill/>
          <a:ln/>
        </p:spPr>
        <p:txBody>
          <a:bodyPr wrap="square" rtlCol="0"/>
          <a:lstStyle>
            <a:lvl1pPr algn="l" indent="0" marL="0">
              <a:buNone/>
              <a:defRPr lang="en-US" sz="1700" dirty="0">
                <a:solidFill>
                  <a:srgbClr val="8A6A1E"/>
                </a:solidFill>
              </a:defRPr>
            </a:lvl1pPr>
          </a:lstStyle>
          <a:p>
            <a:pPr algn="l" indent="0" marL="0">
              <a:buNone/>
            </a:pPr>
            <a:r>
              <a:rPr lang="en-US" sz="1700" dirty="0">
                <a:solidFill>
                  <a:srgbClr val="8A6A1E"/>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457200"/>
            <a:ext cx="10424160" cy="86868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r>
              <a:rPr lang="en-US" sz="3000" b="1" dirty="0">
                <a:solidFill>
                  <a:schemeClr val="accent1"/>
                </a:solidFill>
              </a:rPr>
              <a:t> </a:t>
            </a:r>
            <a:endParaRPr lang="en-US" sz="3000" dirty="0"/>
          </a:p>
        </p:txBody>
      </p:sp>
      <p:sp>
        <p:nvSpPr>
          <p:cNvPr id="3" name="Text 0"/>
          <p:cNvSpPr/>
          <p:nvPr>
            <p:ph idx="101" type="body" hasCustomPrompt="1"/>
          </p:nvPr>
        </p:nvSpPr>
        <p:spPr>
          <a:xfrm>
            <a:off x="914400" y="1508760"/>
            <a:ext cx="10424160" cy="45720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LOTITUL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457200"/>
            <a:ext cx="10424160" cy="86868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r>
              <a:rPr lang="en-US" sz="3000" b="1" dirty="0">
                <a:solidFill>
                  <a:schemeClr val="accent1"/>
                </a:solidFill>
              </a:rPr>
              <a:t> </a:t>
            </a:r>
            <a:endParaRPr lang="en-US" sz="30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oi.org/10.1038/srep12376" TargetMode="External"/><Relationship Id="rId2" Type="http://schemas.openxmlformats.org/officeDocument/2006/relationships/hyperlink" Target="https://doi.org/10.1038/nature15393" TargetMode="External"/><Relationship Id="rId3" Type="http://schemas.openxmlformats.org/officeDocument/2006/relationships/hyperlink" Target="https://doi.org/10.17226/26902" TargetMode="External"/><Relationship Id="rId4" Type="http://schemas.openxmlformats.org/officeDocument/2006/relationships/image" Target="../media/image-13-1.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rra-portada"/>
          <p:cNvSpPr/>
          <p:nvPr/>
        </p:nvSpPr>
        <p:spPr>
          <a:xfrm>
            <a:off x="566928" y="2331720"/>
            <a:ext cx="82296" cy="1737360"/>
          </a:xfrm>
          <a:prstGeom prst="rect">
            <a:avLst/>
          </a:prstGeom>
          <a:solidFill>
            <a:schemeClr val="accent2"/>
          </a:solidFill>
          <a:ln w="12700">
            <a:solidFill>
              <a:schemeClr val="accent2"/>
            </a:solidFill>
            <a:prstDash val="solid"/>
          </a:ln>
        </p:spPr>
      </p:sp>
      <p:sp>
        <p:nvSpPr>
          <p:cNvPr id="3" name="Text 0"/>
          <p:cNvSpPr/>
          <p:nvPr>
            <p:ph idx="100" type="title" hasCustomPrompt="1"/>
          </p:nvPr>
        </p:nvSpPr>
        <p:spPr>
          <a:xfrm>
            <a:off x="914400" y="2286000"/>
            <a:ext cx="9509760" cy="1828800"/>
          </a:xfrm>
          <a:prstGeom prst="rect">
            <a:avLst/>
          </a:prstGeom>
          <a:noFill/>
          <a:ln/>
        </p:spPr>
        <p:txBody>
          <a:bodyPr wrap="square" rtlCol="0" anchor="b"/>
          <a:lstStyle/>
          <a:p>
            <a:pPr algn="l" indent="0" marL="0">
              <a:buNone/>
            </a:pPr>
            <a:r>
              <a:rPr lang="en-US" sz="3800" b="1" dirty="0">
                <a:solidFill>
                  <a:schemeClr val="accent1"/>
                </a:solidFill>
              </a:rPr>
              <a:t>Módulo 1. Fundamentos de genética poblacional y ancestría</a:t>
            </a:r>
            <a:endParaRPr lang="en-US" sz="3800" dirty="0"/>
          </a:p>
        </p:txBody>
      </p:sp>
      <p:sp>
        <p:nvSpPr>
          <p:cNvPr id="4" name="Text 0"/>
          <p:cNvSpPr/>
          <p:nvPr>
            <p:ph idx="101" type="body" hasCustomPrompt="1"/>
          </p:nvPr>
        </p:nvSpPr>
        <p:spPr>
          <a:xfrm>
            <a:off x="914400" y="4251960"/>
            <a:ext cx="9509760" cy="1371600"/>
          </a:xfrm>
          <a:prstGeom prst="rect">
            <a:avLst/>
          </a:prstGeom>
          <a:noFill/>
          <a:ln/>
        </p:spPr>
        <p:txBody>
          <a:bodyPr wrap="square" rtlCol="0" anchor="t"/>
          <a:lstStyle/>
          <a:p>
            <a:pPr algn="l" indent="0" marL="0">
              <a:buNone/>
            </a:pPr>
            <a:r>
              <a:rPr lang="en-US" sz="1700" dirty="0">
                <a:solidFill>
                  <a:srgbClr val="8A6A1E"/>
                </a:solidFill>
              </a:rPr>
              <a:t>Antes de la sesión del sábado 14 de noviembre</a:t>
            </a:r>
            <a:endParaRPr lang="en-US" sz="1700" dirty="0"/>
          </a:p>
          <a:p>
            <a:pPr algn="l" indent="0" marL="0">
              <a:buNone/>
            </a:pPr>
            <a:r>
              <a:rPr lang="en-US" sz="1700" dirty="0">
                <a:solidFill>
                  <a:srgbClr val="8A6A1E"/>
                </a:solidFill>
              </a:rPr>
              <a:t>Variación humana, SNPs, haplotipos, desequilibrio de ligamiento y estructura poblacional</a:t>
            </a:r>
            <a:endParaRPr lang="en-US" sz="1700" dirty="0"/>
          </a:p>
        </p:txBody>
      </p:sp>
      <p:sp>
        <p:nvSpPr>
          <p:cNvPr id="5" name="Text 3"/>
          <p:cNvSpPr txBox="1"/>
          <p:nvPr/>
        </p:nvSpPr>
        <p:spPr>
          <a:xfrm>
            <a:off x="914400" y="5943600"/>
            <a:ext cx="7315200" cy="457200"/>
          </a:xfrm>
          <a:prstGeom prst="rect">
            <a:avLst/>
          </a:prstGeom>
          <a:noFill/>
          <a:ln/>
        </p:spPr>
        <p:txBody>
          <a:bodyPr wrap="square" lIns="0" tIns="0" rIns="0" bIns="0" rtlCol="0" anchor="ctr"/>
          <a:lstStyle/>
          <a:p>
            <a:pPr indent="0" marL="0">
              <a:buNone/>
            </a:pPr>
            <a:r>
              <a:rPr lang="en-US" sz="1300" dirty="0">
                <a:solidFill>
                  <a:srgbClr val="6E7899"/>
                </a:solidFill>
              </a:rPr>
              <a:t>Curso de ancestría genética · Dra. Yina Tatiana Zambrano</a:t>
            </a:r>
            <a:endParaRPr lang="en-US" sz="1300" dirty="0"/>
          </a:p>
        </p:txBody>
      </p:sp>
      <p:pic>
        <p:nvPicPr>
          <p:cNvPr id="6" name="logo-acgh" descr="/tmp/claude-0/-home-claude/e238050a-ce3c-58bd-bb86-9554df59862c/scratchpad/marca/logo_acgh_hd.png">    </p:cNvPr>
          <p:cNvPicPr>
            <a:picLocks noChangeAspect="1"/>
          </p:cNvPicPr>
          <p:nvPr/>
        </p:nvPicPr>
        <p:blipFill>
          <a:blip r:embed="rId1"/>
          <a:stretch>
            <a:fillRect/>
          </a:stretch>
        </p:blipFill>
        <p:spPr>
          <a:xfrm>
            <a:off x="9464040" y="457200"/>
            <a:ext cx="2002536" cy="74980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¿Cuánta variación genética hay entre personas?</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stat-personas"/>
          <p:cNvSpPr/>
          <p:nvPr/>
        </p:nvSpPr>
        <p:spPr>
          <a:xfrm>
            <a:off x="914400" y="1737360"/>
            <a:ext cx="3200400" cy="2011680"/>
          </a:xfrm>
          <a:prstGeom prst="roundRect">
            <a:avLst>
              <a:gd name="adj" fmla="val 4545"/>
            </a:avLst>
          </a:prstGeom>
          <a:solidFill>
            <a:schemeClr val="bg2"/>
          </a:solidFill>
          <a:ln w="9525">
            <a:solidFill>
              <a:srgbClr val="F2E3C8"/>
            </a:solidFill>
            <a:prstDash val="solid"/>
          </a:ln>
        </p:spPr>
      </p:sp>
      <p:sp>
        <p:nvSpPr>
          <p:cNvPr id="6" name="Text 3"/>
          <p:cNvSpPr txBox="1"/>
          <p:nvPr/>
        </p:nvSpPr>
        <p:spPr>
          <a:xfrm>
            <a:off x="1051560" y="1938528"/>
            <a:ext cx="2926080" cy="868680"/>
          </a:xfrm>
          <a:prstGeom prst="rect">
            <a:avLst/>
          </a:prstGeom>
          <a:noFill/>
          <a:ln/>
        </p:spPr>
        <p:txBody>
          <a:bodyPr wrap="square" lIns="0" tIns="0" rIns="0" bIns="0" rtlCol="0" anchor="ctr"/>
          <a:lstStyle/>
          <a:p>
            <a:pPr algn="ctr" indent="0" marL="0">
              <a:buNone/>
            </a:pPr>
            <a:r>
              <a:rPr lang="en-US" sz="4000" b="1" dirty="0">
                <a:solidFill>
                  <a:schemeClr val="accent1"/>
                </a:solidFill>
              </a:rPr>
              <a:t>2.504</a:t>
            </a:r>
            <a:endParaRPr lang="en-US" sz="4000" dirty="0"/>
          </a:p>
        </p:txBody>
      </p:sp>
      <p:sp>
        <p:nvSpPr>
          <p:cNvPr id="7" name="Text 4"/>
          <p:cNvSpPr txBox="1"/>
          <p:nvPr/>
        </p:nvSpPr>
        <p:spPr>
          <a:xfrm>
            <a:off x="1051560" y="2834640"/>
            <a:ext cx="2926080" cy="777240"/>
          </a:xfrm>
          <a:prstGeom prst="rect">
            <a:avLst/>
          </a:prstGeom>
          <a:noFill/>
          <a:ln/>
        </p:spPr>
        <p:txBody>
          <a:bodyPr wrap="square" lIns="0" tIns="0" rIns="0" bIns="0" rtlCol="0" anchor="t"/>
          <a:lstStyle/>
          <a:p>
            <a:pPr algn="ctr" indent="0" marL="0">
              <a:buNone/>
            </a:pPr>
            <a:r>
              <a:rPr lang="en-US" sz="1300" dirty="0">
                <a:solidFill>
                  <a:schemeClr val="tx1"/>
                </a:solidFill>
              </a:rPr>
              <a:t>personas secuenciadas en el Proyecto 1000 Genomas</a:t>
            </a:r>
            <a:endParaRPr lang="en-US" sz="1300" dirty="0"/>
          </a:p>
        </p:txBody>
      </p:sp>
      <p:sp>
        <p:nvSpPr>
          <p:cNvPr id="8" name="stat-poblaciones"/>
          <p:cNvSpPr/>
          <p:nvPr/>
        </p:nvSpPr>
        <p:spPr>
          <a:xfrm>
            <a:off x="4526280" y="1737360"/>
            <a:ext cx="3200400" cy="2011680"/>
          </a:xfrm>
          <a:prstGeom prst="roundRect">
            <a:avLst>
              <a:gd name="adj" fmla="val 4545"/>
            </a:avLst>
          </a:prstGeom>
          <a:solidFill>
            <a:schemeClr val="bg2"/>
          </a:solidFill>
          <a:ln w="9525">
            <a:solidFill>
              <a:srgbClr val="F2E3C8"/>
            </a:solidFill>
            <a:prstDash val="solid"/>
          </a:ln>
        </p:spPr>
      </p:sp>
      <p:sp>
        <p:nvSpPr>
          <p:cNvPr id="9" name="Text 6"/>
          <p:cNvSpPr txBox="1"/>
          <p:nvPr/>
        </p:nvSpPr>
        <p:spPr>
          <a:xfrm>
            <a:off x="4663440" y="1938528"/>
            <a:ext cx="2926080" cy="868680"/>
          </a:xfrm>
          <a:prstGeom prst="rect">
            <a:avLst/>
          </a:prstGeom>
          <a:noFill/>
          <a:ln/>
        </p:spPr>
        <p:txBody>
          <a:bodyPr wrap="square" lIns="0" tIns="0" rIns="0" bIns="0" rtlCol="0" anchor="ctr"/>
          <a:lstStyle/>
          <a:p>
            <a:pPr algn="ctr" indent="0" marL="0">
              <a:buNone/>
            </a:pPr>
            <a:r>
              <a:rPr lang="en-US" sz="4000" b="1" dirty="0">
                <a:solidFill>
                  <a:schemeClr val="accent3"/>
                </a:solidFill>
              </a:rPr>
              <a:t>26</a:t>
            </a:r>
            <a:endParaRPr lang="en-US" sz="4000" dirty="0"/>
          </a:p>
        </p:txBody>
      </p:sp>
      <p:sp>
        <p:nvSpPr>
          <p:cNvPr id="10" name="Text 7"/>
          <p:cNvSpPr txBox="1"/>
          <p:nvPr/>
        </p:nvSpPr>
        <p:spPr>
          <a:xfrm>
            <a:off x="4663440" y="2834640"/>
            <a:ext cx="2926080" cy="777240"/>
          </a:xfrm>
          <a:prstGeom prst="rect">
            <a:avLst/>
          </a:prstGeom>
          <a:noFill/>
          <a:ln/>
        </p:spPr>
        <p:txBody>
          <a:bodyPr wrap="square" lIns="0" tIns="0" rIns="0" bIns="0" rtlCol="0" anchor="t"/>
          <a:lstStyle/>
          <a:p>
            <a:pPr algn="ctr" indent="0" marL="0">
              <a:buNone/>
            </a:pPr>
            <a:r>
              <a:rPr lang="en-US" sz="1300" dirty="0">
                <a:solidFill>
                  <a:schemeClr val="tx1"/>
                </a:solidFill>
              </a:rPr>
              <a:t>poblaciones de todo el mundo</a:t>
            </a:r>
            <a:endParaRPr lang="en-US" sz="1300" dirty="0"/>
          </a:p>
        </p:txBody>
      </p:sp>
      <p:sp>
        <p:nvSpPr>
          <p:cNvPr id="11" name="stat-variantes"/>
          <p:cNvSpPr/>
          <p:nvPr/>
        </p:nvSpPr>
        <p:spPr>
          <a:xfrm>
            <a:off x="8138160" y="1737360"/>
            <a:ext cx="3200400" cy="2011680"/>
          </a:xfrm>
          <a:prstGeom prst="roundRect">
            <a:avLst>
              <a:gd name="adj" fmla="val 4545"/>
            </a:avLst>
          </a:prstGeom>
          <a:solidFill>
            <a:schemeClr val="bg2"/>
          </a:solidFill>
          <a:ln w="9525">
            <a:solidFill>
              <a:srgbClr val="F2E3C8"/>
            </a:solidFill>
            <a:prstDash val="solid"/>
          </a:ln>
        </p:spPr>
      </p:sp>
      <p:sp>
        <p:nvSpPr>
          <p:cNvPr id="12" name="Text 9"/>
          <p:cNvSpPr txBox="1"/>
          <p:nvPr/>
        </p:nvSpPr>
        <p:spPr>
          <a:xfrm>
            <a:off x="8275320" y="1938528"/>
            <a:ext cx="2926080" cy="868680"/>
          </a:xfrm>
          <a:prstGeom prst="rect">
            <a:avLst/>
          </a:prstGeom>
          <a:noFill/>
          <a:ln/>
        </p:spPr>
        <p:txBody>
          <a:bodyPr wrap="square" lIns="0" tIns="0" rIns="0" bIns="0" rtlCol="0" anchor="ctr"/>
          <a:lstStyle/>
          <a:p>
            <a:pPr algn="ctr" indent="0" marL="0">
              <a:buNone/>
            </a:pPr>
            <a:r>
              <a:rPr lang="en-US" sz="4000" b="1" dirty="0">
                <a:solidFill>
                  <a:schemeClr val="accent2"/>
                </a:solidFill>
              </a:rPr>
              <a:t>88 M</a:t>
            </a:r>
            <a:endParaRPr lang="en-US" sz="4000" dirty="0"/>
          </a:p>
        </p:txBody>
      </p:sp>
      <p:sp>
        <p:nvSpPr>
          <p:cNvPr id="13" name="Text 10"/>
          <p:cNvSpPr txBox="1"/>
          <p:nvPr/>
        </p:nvSpPr>
        <p:spPr>
          <a:xfrm>
            <a:off x="8275320" y="2834640"/>
            <a:ext cx="2926080" cy="777240"/>
          </a:xfrm>
          <a:prstGeom prst="rect">
            <a:avLst/>
          </a:prstGeom>
          <a:noFill/>
          <a:ln/>
        </p:spPr>
        <p:txBody>
          <a:bodyPr wrap="square" lIns="0" tIns="0" rIns="0" bIns="0" rtlCol="0" anchor="t"/>
          <a:lstStyle/>
          <a:p>
            <a:pPr algn="ctr" indent="0" marL="0">
              <a:buNone/>
            </a:pPr>
            <a:r>
              <a:rPr lang="en-US" sz="1300" dirty="0">
                <a:solidFill>
                  <a:schemeClr val="tx1"/>
                </a:solidFill>
              </a:rPr>
              <a:t>variantes encontradas entre todas ellas</a:t>
            </a:r>
            <a:endParaRPr lang="en-US" sz="1300" dirty="0"/>
          </a:p>
        </p:txBody>
      </p:sp>
      <p:sp>
        <p:nvSpPr>
          <p:cNvPr id="14" name="Text 11"/>
          <p:cNvSpPr txBox="1"/>
          <p:nvPr/>
        </p:nvSpPr>
        <p:spPr>
          <a:xfrm>
            <a:off x="914400" y="4114800"/>
            <a:ext cx="10424160" cy="1097280"/>
          </a:xfrm>
          <a:prstGeom prst="rect">
            <a:avLst/>
          </a:prstGeom>
          <a:noFill/>
          <a:ln/>
        </p:spPr>
        <p:txBody>
          <a:bodyPr wrap="square" rtlCol="0" anchor="t"/>
          <a:lstStyle/>
          <a:p>
            <a:pPr indent="0" marL="0">
              <a:buNone/>
            </a:pPr>
            <a:r>
              <a:rPr lang="en-US" sz="1800" dirty="0">
                <a:solidFill>
                  <a:schemeClr val="tx1"/>
                </a:solidFill>
              </a:rPr>
              <a:t>Pero el número que importa para entender ancestría es otro: el genoma de una persona difiere del genoma de referencia en 4,1 a 5,0 millones de sitios. Esa es la materia prima con la que trabajamos.</a:t>
            </a:r>
            <a:endParaRPr lang="en-US" sz="1800" dirty="0"/>
          </a:p>
        </p:txBody>
      </p:sp>
      <p:sp>
        <p:nvSpPr>
          <p:cNvPr id="15" name="Text 12"/>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Fuente: 1000 Genomes Project Consortium. Nature. 2015;526(7571):68–74. doi:10.1038/nature15393</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La mayoría de tus variantes son comunes, no raras</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645920"/>
            <a:ext cx="4846320" cy="2011680"/>
          </a:xfrm>
          <a:prstGeom prst="rect">
            <a:avLst/>
          </a:prstGeom>
          <a:noFill/>
          <a:ln/>
        </p:spPr>
        <p:txBody>
          <a:bodyPr wrap="square" rtlCol="0" anchor="t"/>
          <a:lstStyle/>
          <a:p>
            <a:pPr indent="0" marL="0">
              <a:buNone/>
            </a:pPr>
            <a:r>
              <a:rPr lang="en-US" sz="1600" dirty="0">
                <a:solidFill>
                  <a:schemeClr val="tx1"/>
                </a:solidFill>
              </a:rPr>
              <a:t>En el conjunto de todas las personas, la mayoría de las variantes son raras: 64 millones tienen frecuencia menor al 0,5 %, 12 millones entre 0,5 % y 5 %, y solo 8 millones superan el 5 %.</a:t>
            </a:r>
            <a:endParaRPr lang="en-US" sz="1600" dirty="0"/>
          </a:p>
        </p:txBody>
      </p:sp>
      <p:sp>
        <p:nvSpPr>
          <p:cNvPr id="6" name="Text 3"/>
          <p:cNvSpPr txBox="1"/>
          <p:nvPr/>
        </p:nvSpPr>
        <p:spPr>
          <a:xfrm>
            <a:off x="6492240" y="1645920"/>
            <a:ext cx="4846320" cy="2011680"/>
          </a:xfrm>
          <a:prstGeom prst="rect">
            <a:avLst/>
          </a:prstGeom>
          <a:noFill/>
          <a:ln/>
        </p:spPr>
        <p:txBody>
          <a:bodyPr wrap="square" rtlCol="0" anchor="t"/>
          <a:lstStyle/>
          <a:p>
            <a:pPr indent="0" marL="0">
              <a:buNone/>
            </a:pPr>
            <a:r>
              <a:rPr lang="en-US" sz="1600" dirty="0">
                <a:solidFill>
                  <a:schemeClr val="tx1"/>
                </a:solidFill>
              </a:rPr>
              <a:t>Pero dentro de un solo genoma pasa lo contrario: de los 4 a 5 millones de variantes que tiene una persona, solo entre 40.000 y 200.000 (1 % a 4 %) son raras. El resto son comunes.</a:t>
            </a:r>
            <a:endParaRPr lang="en-US" sz="1600" dirty="0"/>
          </a:p>
        </p:txBody>
      </p:sp>
      <p:sp>
        <p:nvSpPr>
          <p:cNvPr id="7" name="caja-consecuencia"/>
          <p:cNvSpPr/>
          <p:nvPr/>
        </p:nvSpPr>
        <p:spPr>
          <a:xfrm>
            <a:off x="914400" y="3931920"/>
            <a:ext cx="10424160" cy="1371600"/>
          </a:xfrm>
          <a:prstGeom prst="roundRect">
            <a:avLst>
              <a:gd name="adj" fmla="val 6667"/>
            </a:avLst>
          </a:prstGeom>
          <a:solidFill>
            <a:schemeClr val="bg2"/>
          </a:solidFill>
          <a:ln w="9525">
            <a:solidFill>
              <a:srgbClr val="F2E3C8"/>
            </a:solidFill>
            <a:prstDash val="solid"/>
          </a:ln>
        </p:spPr>
      </p:sp>
      <p:sp>
        <p:nvSpPr>
          <p:cNvPr id="8" name="Text 5"/>
          <p:cNvSpPr txBox="1"/>
          <p:nvPr/>
        </p:nvSpPr>
        <p:spPr>
          <a:xfrm>
            <a:off x="1188720" y="4114800"/>
            <a:ext cx="9875520" cy="1005840"/>
          </a:xfrm>
          <a:prstGeom prst="rect">
            <a:avLst/>
          </a:prstGeom>
          <a:noFill/>
          <a:ln/>
        </p:spPr>
        <p:txBody>
          <a:bodyPr wrap="square" rtlCol="0" anchor="ctr"/>
          <a:lstStyle/>
          <a:p>
            <a:pPr indent="0" marL="0">
              <a:buNone/>
            </a:pPr>
            <a:r>
              <a:rPr lang="en-US" sz="1600" dirty="0">
                <a:solidFill>
                  <a:schemeClr val="tx1"/>
                </a:solidFill>
              </a:rPr>
              <a:t>Por eso los análisis de ancestría se hacen con variantes comunes: están presentes en muchas personas y sus frecuencias difieren de forma estable entre poblaciones. En la práctica del sábado las filtraremos con --maf 0.01.</a:t>
            </a:r>
            <a:endParaRPr lang="en-US" sz="1600" dirty="0"/>
          </a:p>
        </p:txBody>
      </p:sp>
      <p:sp>
        <p:nvSpPr>
          <p:cNvPr id="9" name="Text 6"/>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Fuente: 1000 Genomes Project Consortium. Nature. 2015;526(7571):68–74. doi:10.1038/nature15393</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SNP: la unidad con la que trabajamos</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572768"/>
            <a:ext cx="10424160" cy="548640"/>
          </a:xfrm>
          <a:prstGeom prst="rect">
            <a:avLst/>
          </a:prstGeom>
          <a:noFill/>
          <a:ln/>
        </p:spPr>
        <p:txBody>
          <a:bodyPr wrap="square" rtlCol="0" anchor="ctr"/>
          <a:lstStyle/>
          <a:p>
            <a:pPr indent="0" marL="0">
              <a:buNone/>
            </a:pPr>
            <a:r>
              <a:rPr lang="en-US" sz="1600" dirty="0">
                <a:solidFill>
                  <a:schemeClr val="tx1"/>
                </a:solidFill>
              </a:rPr>
              <a:t>Un SNP es una posición del genoma donde las personas difieren en una sola letra. Cada persona tiene dos copias de cada cromosoma, así que aporta dos alelos a esa posición.</a:t>
            </a:r>
            <a:endParaRPr lang="en-US" sz="1600" dirty="0"/>
          </a:p>
        </p:txBody>
      </p:sp>
      <p:sp>
        <p:nvSpPr>
          <p:cNvPr id="6" name="Text 3"/>
          <p:cNvSpPr txBox="1"/>
          <p:nvPr/>
        </p:nvSpPr>
        <p:spPr>
          <a:xfrm>
            <a:off x="914400" y="2459736"/>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Persona 1</a:t>
            </a:r>
            <a:endParaRPr lang="en-US" sz="1400" dirty="0"/>
          </a:p>
        </p:txBody>
      </p:sp>
      <p:sp>
        <p:nvSpPr>
          <p:cNvPr id="7" name="Text 4"/>
          <p:cNvSpPr txBox="1"/>
          <p:nvPr/>
        </p:nvSpPr>
        <p:spPr>
          <a:xfrm>
            <a:off x="2240280" y="2304288"/>
            <a:ext cx="1234440" cy="347472"/>
          </a:xfrm>
          <a:prstGeom prst="rect">
            <a:avLst/>
          </a:prstGeom>
          <a:noFill/>
          <a:ln/>
        </p:spPr>
        <p:txBody>
          <a:bodyPr wrap="square" lIns="0" tIns="0" rIns="0" bIns="0" rtlCol="0" anchor="ctr"/>
          <a:lstStyle/>
          <a:p>
            <a:pPr algn="r" indent="0" marL="0">
              <a:buNone/>
            </a:pPr>
            <a:r>
              <a:rPr lang="en-US" sz="1100" dirty="0">
                <a:solidFill>
                  <a:srgbClr val="6E7899"/>
                </a:solidFill>
              </a:rPr>
              <a:t>copia paterna</a:t>
            </a:r>
            <a:endParaRPr lang="en-US" sz="1100" dirty="0"/>
          </a:p>
        </p:txBody>
      </p:sp>
      <p:sp>
        <p:nvSpPr>
          <p:cNvPr id="8" name="Text 5"/>
          <p:cNvSpPr txBox="1"/>
          <p:nvPr/>
        </p:nvSpPr>
        <p:spPr>
          <a:xfrm>
            <a:off x="3566160" y="2304288"/>
            <a:ext cx="1051560" cy="347472"/>
          </a:xfrm>
          <a:prstGeom prst="rect">
            <a:avLst/>
          </a:prstGeom>
          <a:noFill/>
          <a:ln/>
        </p:spPr>
        <p:txBody>
          <a:bodyPr wrap="square" lIns="0" tIns="0" rIns="0" bIns="0" rtlCol="0" anchor="ctr"/>
          <a:lstStyle/>
          <a:p>
            <a:pPr algn="r" indent="0" marL="0">
              <a:buNone/>
            </a:pPr>
            <a:r>
              <a:rPr lang="en-US" sz="1500" dirty="0">
                <a:solidFill>
                  <a:srgbClr val="9AA3BE"/>
                </a:solidFill>
                <a:latin typeface="Courier New" pitchFamily="34" charset="0"/>
                <a:ea typeface="Courier New" pitchFamily="34" charset="-122"/>
                <a:cs typeface="Courier New" pitchFamily="34" charset="-120"/>
              </a:rPr>
              <a:t>A C G T</a:t>
            </a:r>
            <a:endParaRPr lang="en-US" sz="1500" dirty="0"/>
          </a:p>
        </p:txBody>
      </p:sp>
      <p:sp>
        <p:nvSpPr>
          <p:cNvPr id="9" name="alelo-0-0"/>
          <p:cNvSpPr/>
          <p:nvPr/>
        </p:nvSpPr>
        <p:spPr>
          <a:xfrm>
            <a:off x="4681728" y="2322576"/>
            <a:ext cx="384048" cy="310896"/>
          </a:xfrm>
          <a:prstGeom prst="roundRect">
            <a:avLst>
              <a:gd name="adj" fmla="val 14706"/>
            </a:avLst>
          </a:prstGeom>
          <a:solidFill>
            <a:srgbClr val="2A78D6"/>
          </a:solidFill>
          <a:ln w="12700">
            <a:solidFill>
              <a:srgbClr val="2A78D6"/>
            </a:solidFill>
            <a:prstDash val="solid"/>
          </a:ln>
        </p:spPr>
      </p:sp>
      <p:sp>
        <p:nvSpPr>
          <p:cNvPr id="10" name="Text 7"/>
          <p:cNvSpPr txBox="1"/>
          <p:nvPr/>
        </p:nvSpPr>
        <p:spPr>
          <a:xfrm>
            <a:off x="4681728" y="2322576"/>
            <a:ext cx="38404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1" name="Text 8"/>
          <p:cNvSpPr txBox="1"/>
          <p:nvPr/>
        </p:nvSpPr>
        <p:spPr>
          <a:xfrm>
            <a:off x="5120640" y="2304288"/>
            <a:ext cx="1051560" cy="347472"/>
          </a:xfrm>
          <a:prstGeom prst="rect">
            <a:avLst/>
          </a:prstGeom>
          <a:noFill/>
          <a:ln/>
        </p:spPr>
        <p:txBody>
          <a:bodyPr wrap="square" lIns="0" tIns="0" rIns="0" bIns="0" rtlCol="0" anchor="ctr"/>
          <a:lstStyle/>
          <a:p>
            <a:pPr indent="0" marL="0">
              <a:buNone/>
            </a:pPr>
            <a:r>
              <a:rPr lang="en-US" sz="1500" dirty="0">
                <a:solidFill>
                  <a:srgbClr val="9AA3BE"/>
                </a:solidFill>
                <a:latin typeface="Courier New" pitchFamily="34" charset="0"/>
                <a:ea typeface="Courier New" pitchFamily="34" charset="-122"/>
                <a:cs typeface="Courier New" pitchFamily="34" charset="-120"/>
              </a:rPr>
              <a:t>T A G G</a:t>
            </a:r>
            <a:endParaRPr lang="en-US" sz="1500" dirty="0"/>
          </a:p>
        </p:txBody>
      </p:sp>
      <p:sp>
        <p:nvSpPr>
          <p:cNvPr id="12" name="Text 9"/>
          <p:cNvSpPr txBox="1"/>
          <p:nvPr/>
        </p:nvSpPr>
        <p:spPr>
          <a:xfrm>
            <a:off x="2240280" y="2688336"/>
            <a:ext cx="1234440" cy="347472"/>
          </a:xfrm>
          <a:prstGeom prst="rect">
            <a:avLst/>
          </a:prstGeom>
          <a:noFill/>
          <a:ln/>
        </p:spPr>
        <p:txBody>
          <a:bodyPr wrap="square" lIns="0" tIns="0" rIns="0" bIns="0" rtlCol="0" anchor="ctr"/>
          <a:lstStyle/>
          <a:p>
            <a:pPr algn="r" indent="0" marL="0">
              <a:buNone/>
            </a:pPr>
            <a:r>
              <a:rPr lang="en-US" sz="1100" dirty="0">
                <a:solidFill>
                  <a:srgbClr val="6E7899"/>
                </a:solidFill>
              </a:rPr>
              <a:t>copia materna</a:t>
            </a:r>
            <a:endParaRPr lang="en-US" sz="1100" dirty="0"/>
          </a:p>
        </p:txBody>
      </p:sp>
      <p:sp>
        <p:nvSpPr>
          <p:cNvPr id="13" name="Text 10"/>
          <p:cNvSpPr txBox="1"/>
          <p:nvPr/>
        </p:nvSpPr>
        <p:spPr>
          <a:xfrm>
            <a:off x="3566160" y="2688336"/>
            <a:ext cx="1051560" cy="347472"/>
          </a:xfrm>
          <a:prstGeom prst="rect">
            <a:avLst/>
          </a:prstGeom>
          <a:noFill/>
          <a:ln/>
        </p:spPr>
        <p:txBody>
          <a:bodyPr wrap="square" lIns="0" tIns="0" rIns="0" bIns="0" rtlCol="0" anchor="ctr"/>
          <a:lstStyle/>
          <a:p>
            <a:pPr algn="r" indent="0" marL="0">
              <a:buNone/>
            </a:pPr>
            <a:r>
              <a:rPr lang="en-US" sz="1500" dirty="0">
                <a:solidFill>
                  <a:srgbClr val="9AA3BE"/>
                </a:solidFill>
                <a:latin typeface="Courier New" pitchFamily="34" charset="0"/>
                <a:ea typeface="Courier New" pitchFamily="34" charset="-122"/>
                <a:cs typeface="Courier New" pitchFamily="34" charset="-120"/>
              </a:rPr>
              <a:t>A C G T</a:t>
            </a:r>
            <a:endParaRPr lang="en-US" sz="1500" dirty="0"/>
          </a:p>
        </p:txBody>
      </p:sp>
      <p:sp>
        <p:nvSpPr>
          <p:cNvPr id="14" name="alelo-0-1"/>
          <p:cNvSpPr/>
          <p:nvPr/>
        </p:nvSpPr>
        <p:spPr>
          <a:xfrm>
            <a:off x="4681728" y="2706624"/>
            <a:ext cx="384048" cy="310896"/>
          </a:xfrm>
          <a:prstGeom prst="roundRect">
            <a:avLst>
              <a:gd name="adj" fmla="val 14706"/>
            </a:avLst>
          </a:prstGeom>
          <a:solidFill>
            <a:srgbClr val="2A78D6"/>
          </a:solidFill>
          <a:ln w="12700">
            <a:solidFill>
              <a:srgbClr val="2A78D6"/>
            </a:solidFill>
            <a:prstDash val="solid"/>
          </a:ln>
        </p:spPr>
      </p:sp>
      <p:sp>
        <p:nvSpPr>
          <p:cNvPr id="15" name="Text 12"/>
          <p:cNvSpPr txBox="1"/>
          <p:nvPr/>
        </p:nvSpPr>
        <p:spPr>
          <a:xfrm>
            <a:off x="4681728" y="2706624"/>
            <a:ext cx="38404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6" name="Text 13"/>
          <p:cNvSpPr txBox="1"/>
          <p:nvPr/>
        </p:nvSpPr>
        <p:spPr>
          <a:xfrm>
            <a:off x="5120640" y="2688336"/>
            <a:ext cx="1051560" cy="347472"/>
          </a:xfrm>
          <a:prstGeom prst="rect">
            <a:avLst/>
          </a:prstGeom>
          <a:noFill/>
          <a:ln/>
        </p:spPr>
        <p:txBody>
          <a:bodyPr wrap="square" lIns="0" tIns="0" rIns="0" bIns="0" rtlCol="0" anchor="ctr"/>
          <a:lstStyle/>
          <a:p>
            <a:pPr indent="0" marL="0">
              <a:buNone/>
            </a:pPr>
            <a:r>
              <a:rPr lang="en-US" sz="1500" dirty="0">
                <a:solidFill>
                  <a:srgbClr val="9AA3BE"/>
                </a:solidFill>
                <a:latin typeface="Courier New" pitchFamily="34" charset="0"/>
                <a:ea typeface="Courier New" pitchFamily="34" charset="-122"/>
                <a:cs typeface="Courier New" pitchFamily="34" charset="-120"/>
              </a:rPr>
              <a:t>T A G G</a:t>
            </a:r>
            <a:endParaRPr lang="en-US" sz="1500" dirty="0"/>
          </a:p>
        </p:txBody>
      </p:sp>
      <p:sp>
        <p:nvSpPr>
          <p:cNvPr id="17" name="Text 14"/>
          <p:cNvSpPr txBox="1"/>
          <p:nvPr/>
        </p:nvSpPr>
        <p:spPr>
          <a:xfrm>
            <a:off x="914400" y="3392424"/>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Persona 2</a:t>
            </a:r>
            <a:endParaRPr lang="en-US" sz="1400" dirty="0"/>
          </a:p>
        </p:txBody>
      </p:sp>
      <p:sp>
        <p:nvSpPr>
          <p:cNvPr id="18" name="Text 15"/>
          <p:cNvSpPr txBox="1"/>
          <p:nvPr/>
        </p:nvSpPr>
        <p:spPr>
          <a:xfrm>
            <a:off x="2240280" y="3236976"/>
            <a:ext cx="1234440" cy="347472"/>
          </a:xfrm>
          <a:prstGeom prst="rect">
            <a:avLst/>
          </a:prstGeom>
          <a:noFill/>
          <a:ln/>
        </p:spPr>
        <p:txBody>
          <a:bodyPr wrap="square" lIns="0" tIns="0" rIns="0" bIns="0" rtlCol="0" anchor="ctr"/>
          <a:lstStyle/>
          <a:p>
            <a:pPr algn="r" indent="0" marL="0">
              <a:buNone/>
            </a:pPr>
            <a:r>
              <a:rPr lang="en-US" sz="1100" dirty="0">
                <a:solidFill>
                  <a:srgbClr val="6E7899"/>
                </a:solidFill>
              </a:rPr>
              <a:t>copia paterna</a:t>
            </a:r>
            <a:endParaRPr lang="en-US" sz="1100" dirty="0"/>
          </a:p>
        </p:txBody>
      </p:sp>
      <p:sp>
        <p:nvSpPr>
          <p:cNvPr id="19" name="Text 16"/>
          <p:cNvSpPr txBox="1"/>
          <p:nvPr/>
        </p:nvSpPr>
        <p:spPr>
          <a:xfrm>
            <a:off x="3566160" y="3236976"/>
            <a:ext cx="1051560" cy="347472"/>
          </a:xfrm>
          <a:prstGeom prst="rect">
            <a:avLst/>
          </a:prstGeom>
          <a:noFill/>
          <a:ln/>
        </p:spPr>
        <p:txBody>
          <a:bodyPr wrap="square" lIns="0" tIns="0" rIns="0" bIns="0" rtlCol="0" anchor="ctr"/>
          <a:lstStyle/>
          <a:p>
            <a:pPr algn="r" indent="0" marL="0">
              <a:buNone/>
            </a:pPr>
            <a:r>
              <a:rPr lang="en-US" sz="1500" dirty="0">
                <a:solidFill>
                  <a:srgbClr val="9AA3BE"/>
                </a:solidFill>
                <a:latin typeface="Courier New" pitchFamily="34" charset="0"/>
                <a:ea typeface="Courier New" pitchFamily="34" charset="-122"/>
                <a:cs typeface="Courier New" pitchFamily="34" charset="-120"/>
              </a:rPr>
              <a:t>A C G T</a:t>
            </a:r>
            <a:endParaRPr lang="en-US" sz="1500" dirty="0"/>
          </a:p>
        </p:txBody>
      </p:sp>
      <p:sp>
        <p:nvSpPr>
          <p:cNvPr id="20" name="alelo-1-0"/>
          <p:cNvSpPr/>
          <p:nvPr/>
        </p:nvSpPr>
        <p:spPr>
          <a:xfrm>
            <a:off x="4681728" y="3255264"/>
            <a:ext cx="384048" cy="310896"/>
          </a:xfrm>
          <a:prstGeom prst="roundRect">
            <a:avLst>
              <a:gd name="adj" fmla="val 14706"/>
            </a:avLst>
          </a:prstGeom>
          <a:solidFill>
            <a:srgbClr val="2A78D6"/>
          </a:solidFill>
          <a:ln w="12700">
            <a:solidFill>
              <a:srgbClr val="2A78D6"/>
            </a:solidFill>
            <a:prstDash val="solid"/>
          </a:ln>
        </p:spPr>
      </p:sp>
      <p:sp>
        <p:nvSpPr>
          <p:cNvPr id="21" name="Text 18"/>
          <p:cNvSpPr txBox="1"/>
          <p:nvPr/>
        </p:nvSpPr>
        <p:spPr>
          <a:xfrm>
            <a:off x="4681728" y="3255264"/>
            <a:ext cx="38404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22" name="Text 19"/>
          <p:cNvSpPr txBox="1"/>
          <p:nvPr/>
        </p:nvSpPr>
        <p:spPr>
          <a:xfrm>
            <a:off x="5120640" y="3236976"/>
            <a:ext cx="1051560" cy="347472"/>
          </a:xfrm>
          <a:prstGeom prst="rect">
            <a:avLst/>
          </a:prstGeom>
          <a:noFill/>
          <a:ln/>
        </p:spPr>
        <p:txBody>
          <a:bodyPr wrap="square" lIns="0" tIns="0" rIns="0" bIns="0" rtlCol="0" anchor="ctr"/>
          <a:lstStyle/>
          <a:p>
            <a:pPr indent="0" marL="0">
              <a:buNone/>
            </a:pPr>
            <a:r>
              <a:rPr lang="en-US" sz="1500" dirty="0">
                <a:solidFill>
                  <a:srgbClr val="9AA3BE"/>
                </a:solidFill>
                <a:latin typeface="Courier New" pitchFamily="34" charset="0"/>
                <a:ea typeface="Courier New" pitchFamily="34" charset="-122"/>
                <a:cs typeface="Courier New" pitchFamily="34" charset="-120"/>
              </a:rPr>
              <a:t>T A G G</a:t>
            </a:r>
            <a:endParaRPr lang="en-US" sz="1500" dirty="0"/>
          </a:p>
        </p:txBody>
      </p:sp>
      <p:sp>
        <p:nvSpPr>
          <p:cNvPr id="23" name="Text 20"/>
          <p:cNvSpPr txBox="1"/>
          <p:nvPr/>
        </p:nvSpPr>
        <p:spPr>
          <a:xfrm>
            <a:off x="2240280" y="3621024"/>
            <a:ext cx="1234440" cy="347472"/>
          </a:xfrm>
          <a:prstGeom prst="rect">
            <a:avLst/>
          </a:prstGeom>
          <a:noFill/>
          <a:ln/>
        </p:spPr>
        <p:txBody>
          <a:bodyPr wrap="square" lIns="0" tIns="0" rIns="0" bIns="0" rtlCol="0" anchor="ctr"/>
          <a:lstStyle/>
          <a:p>
            <a:pPr algn="r" indent="0" marL="0">
              <a:buNone/>
            </a:pPr>
            <a:r>
              <a:rPr lang="en-US" sz="1100" dirty="0">
                <a:solidFill>
                  <a:srgbClr val="6E7899"/>
                </a:solidFill>
              </a:rPr>
              <a:t>copia materna</a:t>
            </a:r>
            <a:endParaRPr lang="en-US" sz="1100" dirty="0"/>
          </a:p>
        </p:txBody>
      </p:sp>
      <p:sp>
        <p:nvSpPr>
          <p:cNvPr id="24" name="Text 21"/>
          <p:cNvSpPr txBox="1"/>
          <p:nvPr/>
        </p:nvSpPr>
        <p:spPr>
          <a:xfrm>
            <a:off x="3566160" y="3621024"/>
            <a:ext cx="1051560" cy="347472"/>
          </a:xfrm>
          <a:prstGeom prst="rect">
            <a:avLst/>
          </a:prstGeom>
          <a:noFill/>
          <a:ln/>
        </p:spPr>
        <p:txBody>
          <a:bodyPr wrap="square" lIns="0" tIns="0" rIns="0" bIns="0" rtlCol="0" anchor="ctr"/>
          <a:lstStyle/>
          <a:p>
            <a:pPr algn="r" indent="0" marL="0">
              <a:buNone/>
            </a:pPr>
            <a:r>
              <a:rPr lang="en-US" sz="1500" dirty="0">
                <a:solidFill>
                  <a:srgbClr val="9AA3BE"/>
                </a:solidFill>
                <a:latin typeface="Courier New" pitchFamily="34" charset="0"/>
                <a:ea typeface="Courier New" pitchFamily="34" charset="-122"/>
                <a:cs typeface="Courier New" pitchFamily="34" charset="-120"/>
              </a:rPr>
              <a:t>A C G T</a:t>
            </a:r>
            <a:endParaRPr lang="en-US" sz="1500" dirty="0"/>
          </a:p>
        </p:txBody>
      </p:sp>
      <p:sp>
        <p:nvSpPr>
          <p:cNvPr id="25" name="alelo-1-1"/>
          <p:cNvSpPr/>
          <p:nvPr/>
        </p:nvSpPr>
        <p:spPr>
          <a:xfrm>
            <a:off x="4681728" y="3639312"/>
            <a:ext cx="384048" cy="310896"/>
          </a:xfrm>
          <a:prstGeom prst="roundRect">
            <a:avLst>
              <a:gd name="adj" fmla="val 14706"/>
            </a:avLst>
          </a:prstGeom>
          <a:solidFill>
            <a:srgbClr val="EB6834"/>
          </a:solidFill>
          <a:ln w="12700">
            <a:solidFill>
              <a:srgbClr val="EB6834"/>
            </a:solidFill>
            <a:prstDash val="solid"/>
          </a:ln>
        </p:spPr>
      </p:sp>
      <p:sp>
        <p:nvSpPr>
          <p:cNvPr id="26" name="Text 23"/>
          <p:cNvSpPr txBox="1"/>
          <p:nvPr/>
        </p:nvSpPr>
        <p:spPr>
          <a:xfrm>
            <a:off x="4681728" y="3639312"/>
            <a:ext cx="38404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27" name="Text 24"/>
          <p:cNvSpPr txBox="1"/>
          <p:nvPr/>
        </p:nvSpPr>
        <p:spPr>
          <a:xfrm>
            <a:off x="5120640" y="3621024"/>
            <a:ext cx="1051560" cy="347472"/>
          </a:xfrm>
          <a:prstGeom prst="rect">
            <a:avLst/>
          </a:prstGeom>
          <a:noFill/>
          <a:ln/>
        </p:spPr>
        <p:txBody>
          <a:bodyPr wrap="square" lIns="0" tIns="0" rIns="0" bIns="0" rtlCol="0" anchor="ctr"/>
          <a:lstStyle/>
          <a:p>
            <a:pPr indent="0" marL="0">
              <a:buNone/>
            </a:pPr>
            <a:r>
              <a:rPr lang="en-US" sz="1500" dirty="0">
                <a:solidFill>
                  <a:srgbClr val="9AA3BE"/>
                </a:solidFill>
                <a:latin typeface="Courier New" pitchFamily="34" charset="0"/>
                <a:ea typeface="Courier New" pitchFamily="34" charset="-122"/>
                <a:cs typeface="Courier New" pitchFamily="34" charset="-120"/>
              </a:rPr>
              <a:t>T A G G</a:t>
            </a:r>
            <a:endParaRPr lang="en-US" sz="1500" dirty="0"/>
          </a:p>
        </p:txBody>
      </p:sp>
      <p:sp>
        <p:nvSpPr>
          <p:cNvPr id="28" name="Text 25"/>
          <p:cNvSpPr txBox="1"/>
          <p:nvPr/>
        </p:nvSpPr>
        <p:spPr>
          <a:xfrm>
            <a:off x="914400" y="4325112"/>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Persona 3</a:t>
            </a:r>
            <a:endParaRPr lang="en-US" sz="1400" dirty="0"/>
          </a:p>
        </p:txBody>
      </p:sp>
      <p:sp>
        <p:nvSpPr>
          <p:cNvPr id="29" name="Text 26"/>
          <p:cNvSpPr txBox="1"/>
          <p:nvPr/>
        </p:nvSpPr>
        <p:spPr>
          <a:xfrm>
            <a:off x="2240280" y="4169664"/>
            <a:ext cx="1234440" cy="347472"/>
          </a:xfrm>
          <a:prstGeom prst="rect">
            <a:avLst/>
          </a:prstGeom>
          <a:noFill/>
          <a:ln/>
        </p:spPr>
        <p:txBody>
          <a:bodyPr wrap="square" lIns="0" tIns="0" rIns="0" bIns="0" rtlCol="0" anchor="ctr"/>
          <a:lstStyle/>
          <a:p>
            <a:pPr algn="r" indent="0" marL="0">
              <a:buNone/>
            </a:pPr>
            <a:r>
              <a:rPr lang="en-US" sz="1100" dirty="0">
                <a:solidFill>
                  <a:srgbClr val="6E7899"/>
                </a:solidFill>
              </a:rPr>
              <a:t>copia paterna</a:t>
            </a:r>
            <a:endParaRPr lang="en-US" sz="1100" dirty="0"/>
          </a:p>
        </p:txBody>
      </p:sp>
      <p:sp>
        <p:nvSpPr>
          <p:cNvPr id="30" name="Text 27"/>
          <p:cNvSpPr txBox="1"/>
          <p:nvPr/>
        </p:nvSpPr>
        <p:spPr>
          <a:xfrm>
            <a:off x="3566160" y="4169664"/>
            <a:ext cx="1051560" cy="347472"/>
          </a:xfrm>
          <a:prstGeom prst="rect">
            <a:avLst/>
          </a:prstGeom>
          <a:noFill/>
          <a:ln/>
        </p:spPr>
        <p:txBody>
          <a:bodyPr wrap="square" lIns="0" tIns="0" rIns="0" bIns="0" rtlCol="0" anchor="ctr"/>
          <a:lstStyle/>
          <a:p>
            <a:pPr algn="r" indent="0" marL="0">
              <a:buNone/>
            </a:pPr>
            <a:r>
              <a:rPr lang="en-US" sz="1500" dirty="0">
                <a:solidFill>
                  <a:srgbClr val="9AA3BE"/>
                </a:solidFill>
                <a:latin typeface="Courier New" pitchFamily="34" charset="0"/>
                <a:ea typeface="Courier New" pitchFamily="34" charset="-122"/>
                <a:cs typeface="Courier New" pitchFamily="34" charset="-120"/>
              </a:rPr>
              <a:t>A C G T</a:t>
            </a:r>
            <a:endParaRPr lang="en-US" sz="1500" dirty="0"/>
          </a:p>
        </p:txBody>
      </p:sp>
      <p:sp>
        <p:nvSpPr>
          <p:cNvPr id="31" name="alelo-2-0"/>
          <p:cNvSpPr/>
          <p:nvPr/>
        </p:nvSpPr>
        <p:spPr>
          <a:xfrm>
            <a:off x="4681728" y="4187952"/>
            <a:ext cx="384048" cy="310896"/>
          </a:xfrm>
          <a:prstGeom prst="roundRect">
            <a:avLst>
              <a:gd name="adj" fmla="val 14706"/>
            </a:avLst>
          </a:prstGeom>
          <a:solidFill>
            <a:srgbClr val="2A78D6"/>
          </a:solidFill>
          <a:ln w="12700">
            <a:solidFill>
              <a:srgbClr val="2A78D6"/>
            </a:solidFill>
            <a:prstDash val="solid"/>
          </a:ln>
        </p:spPr>
      </p:sp>
      <p:sp>
        <p:nvSpPr>
          <p:cNvPr id="32" name="Text 29"/>
          <p:cNvSpPr txBox="1"/>
          <p:nvPr/>
        </p:nvSpPr>
        <p:spPr>
          <a:xfrm>
            <a:off x="4681728" y="4187952"/>
            <a:ext cx="38404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33" name="Text 30"/>
          <p:cNvSpPr txBox="1"/>
          <p:nvPr/>
        </p:nvSpPr>
        <p:spPr>
          <a:xfrm>
            <a:off x="5120640" y="4169664"/>
            <a:ext cx="1051560" cy="347472"/>
          </a:xfrm>
          <a:prstGeom prst="rect">
            <a:avLst/>
          </a:prstGeom>
          <a:noFill/>
          <a:ln/>
        </p:spPr>
        <p:txBody>
          <a:bodyPr wrap="square" lIns="0" tIns="0" rIns="0" bIns="0" rtlCol="0" anchor="ctr"/>
          <a:lstStyle/>
          <a:p>
            <a:pPr indent="0" marL="0">
              <a:buNone/>
            </a:pPr>
            <a:r>
              <a:rPr lang="en-US" sz="1500" dirty="0">
                <a:solidFill>
                  <a:srgbClr val="9AA3BE"/>
                </a:solidFill>
                <a:latin typeface="Courier New" pitchFamily="34" charset="0"/>
                <a:ea typeface="Courier New" pitchFamily="34" charset="-122"/>
                <a:cs typeface="Courier New" pitchFamily="34" charset="-120"/>
              </a:rPr>
              <a:t>T A G G</a:t>
            </a:r>
            <a:endParaRPr lang="en-US" sz="1500" dirty="0"/>
          </a:p>
        </p:txBody>
      </p:sp>
      <p:sp>
        <p:nvSpPr>
          <p:cNvPr id="34" name="Text 31"/>
          <p:cNvSpPr txBox="1"/>
          <p:nvPr/>
        </p:nvSpPr>
        <p:spPr>
          <a:xfrm>
            <a:off x="2240280" y="4553712"/>
            <a:ext cx="1234440" cy="347472"/>
          </a:xfrm>
          <a:prstGeom prst="rect">
            <a:avLst/>
          </a:prstGeom>
          <a:noFill/>
          <a:ln/>
        </p:spPr>
        <p:txBody>
          <a:bodyPr wrap="square" lIns="0" tIns="0" rIns="0" bIns="0" rtlCol="0" anchor="ctr"/>
          <a:lstStyle/>
          <a:p>
            <a:pPr algn="r" indent="0" marL="0">
              <a:buNone/>
            </a:pPr>
            <a:r>
              <a:rPr lang="en-US" sz="1100" dirty="0">
                <a:solidFill>
                  <a:srgbClr val="6E7899"/>
                </a:solidFill>
              </a:rPr>
              <a:t>copia materna</a:t>
            </a:r>
            <a:endParaRPr lang="en-US" sz="1100" dirty="0"/>
          </a:p>
        </p:txBody>
      </p:sp>
      <p:sp>
        <p:nvSpPr>
          <p:cNvPr id="35" name="Text 32"/>
          <p:cNvSpPr txBox="1"/>
          <p:nvPr/>
        </p:nvSpPr>
        <p:spPr>
          <a:xfrm>
            <a:off x="3566160" y="4553712"/>
            <a:ext cx="1051560" cy="347472"/>
          </a:xfrm>
          <a:prstGeom prst="rect">
            <a:avLst/>
          </a:prstGeom>
          <a:noFill/>
          <a:ln/>
        </p:spPr>
        <p:txBody>
          <a:bodyPr wrap="square" lIns="0" tIns="0" rIns="0" bIns="0" rtlCol="0" anchor="ctr"/>
          <a:lstStyle/>
          <a:p>
            <a:pPr algn="r" indent="0" marL="0">
              <a:buNone/>
            </a:pPr>
            <a:r>
              <a:rPr lang="en-US" sz="1500" dirty="0">
                <a:solidFill>
                  <a:srgbClr val="9AA3BE"/>
                </a:solidFill>
                <a:latin typeface="Courier New" pitchFamily="34" charset="0"/>
                <a:ea typeface="Courier New" pitchFamily="34" charset="-122"/>
                <a:cs typeface="Courier New" pitchFamily="34" charset="-120"/>
              </a:rPr>
              <a:t>A C G T</a:t>
            </a:r>
            <a:endParaRPr lang="en-US" sz="1500" dirty="0"/>
          </a:p>
        </p:txBody>
      </p:sp>
      <p:sp>
        <p:nvSpPr>
          <p:cNvPr id="36" name="alelo-2-1"/>
          <p:cNvSpPr/>
          <p:nvPr/>
        </p:nvSpPr>
        <p:spPr>
          <a:xfrm>
            <a:off x="4681728" y="4572000"/>
            <a:ext cx="384048" cy="310896"/>
          </a:xfrm>
          <a:prstGeom prst="roundRect">
            <a:avLst>
              <a:gd name="adj" fmla="val 14706"/>
            </a:avLst>
          </a:prstGeom>
          <a:solidFill>
            <a:srgbClr val="EB6834"/>
          </a:solidFill>
          <a:ln w="12700">
            <a:solidFill>
              <a:srgbClr val="EB6834"/>
            </a:solidFill>
            <a:prstDash val="solid"/>
          </a:ln>
        </p:spPr>
      </p:sp>
      <p:sp>
        <p:nvSpPr>
          <p:cNvPr id="37" name="Text 34"/>
          <p:cNvSpPr txBox="1"/>
          <p:nvPr/>
        </p:nvSpPr>
        <p:spPr>
          <a:xfrm>
            <a:off x="4681728" y="4572000"/>
            <a:ext cx="38404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38" name="Text 35"/>
          <p:cNvSpPr txBox="1"/>
          <p:nvPr/>
        </p:nvSpPr>
        <p:spPr>
          <a:xfrm>
            <a:off x="5120640" y="4553712"/>
            <a:ext cx="1051560" cy="347472"/>
          </a:xfrm>
          <a:prstGeom prst="rect">
            <a:avLst/>
          </a:prstGeom>
          <a:noFill/>
          <a:ln/>
        </p:spPr>
        <p:txBody>
          <a:bodyPr wrap="square" lIns="0" tIns="0" rIns="0" bIns="0" rtlCol="0" anchor="ctr"/>
          <a:lstStyle/>
          <a:p>
            <a:pPr indent="0" marL="0">
              <a:buNone/>
            </a:pPr>
            <a:r>
              <a:rPr lang="en-US" sz="1500" dirty="0">
                <a:solidFill>
                  <a:srgbClr val="9AA3BE"/>
                </a:solidFill>
                <a:latin typeface="Courier New" pitchFamily="34" charset="0"/>
                <a:ea typeface="Courier New" pitchFamily="34" charset="-122"/>
                <a:cs typeface="Courier New" pitchFamily="34" charset="-120"/>
              </a:rPr>
              <a:t>T A G G</a:t>
            </a:r>
            <a:endParaRPr lang="en-US" sz="1500" dirty="0"/>
          </a:p>
        </p:txBody>
      </p:sp>
      <p:sp>
        <p:nvSpPr>
          <p:cNvPr id="39" name="caja-cuentas"/>
          <p:cNvSpPr/>
          <p:nvPr/>
        </p:nvSpPr>
        <p:spPr>
          <a:xfrm>
            <a:off x="6720840" y="2148840"/>
            <a:ext cx="4617720" cy="3063240"/>
          </a:xfrm>
          <a:prstGeom prst="roundRect">
            <a:avLst>
              <a:gd name="adj" fmla="val 2985"/>
            </a:avLst>
          </a:prstGeom>
          <a:solidFill>
            <a:schemeClr val="bg2"/>
          </a:solidFill>
          <a:ln w="9525">
            <a:solidFill>
              <a:srgbClr val="F2E3C8"/>
            </a:solidFill>
            <a:prstDash val="solid"/>
          </a:ln>
        </p:spPr>
      </p:sp>
      <p:sp>
        <p:nvSpPr>
          <p:cNvPr id="40" name="Text 37"/>
          <p:cNvSpPr txBox="1"/>
          <p:nvPr/>
        </p:nvSpPr>
        <p:spPr>
          <a:xfrm>
            <a:off x="6949440" y="2304288"/>
            <a:ext cx="4160520" cy="365760"/>
          </a:xfrm>
          <a:prstGeom prst="rect">
            <a:avLst/>
          </a:prstGeom>
          <a:noFill/>
          <a:ln/>
        </p:spPr>
        <p:txBody>
          <a:bodyPr wrap="square" lIns="0" tIns="0" rIns="0" bIns="0" rtlCol="0" anchor="ctr"/>
          <a:lstStyle/>
          <a:p>
            <a:pPr indent="0" marL="0">
              <a:buNone/>
            </a:pPr>
            <a:r>
              <a:rPr lang="en-US" sz="1600" b="1" dirty="0">
                <a:solidFill>
                  <a:schemeClr val="accent1"/>
                </a:solidFill>
              </a:rPr>
              <a:t>¿De dónde sale 0,67?</a:t>
            </a:r>
            <a:endParaRPr lang="en-US" sz="1600" dirty="0"/>
          </a:p>
        </p:txBody>
      </p:sp>
      <p:sp>
        <p:nvSpPr>
          <p:cNvPr id="41" name="Text 38"/>
          <p:cNvSpPr txBox="1"/>
          <p:nvPr/>
        </p:nvSpPr>
        <p:spPr>
          <a:xfrm>
            <a:off x="6949440" y="2697480"/>
            <a:ext cx="4160520" cy="640080"/>
          </a:xfrm>
          <a:prstGeom prst="rect">
            <a:avLst/>
          </a:prstGeom>
          <a:noFill/>
          <a:ln/>
        </p:spPr>
        <p:txBody>
          <a:bodyPr wrap="square" lIns="0" tIns="0" rIns="0" bIns="0" rtlCol="0" anchor="t"/>
          <a:lstStyle/>
          <a:p>
            <a:pPr indent="0" marL="0">
              <a:buNone/>
            </a:pPr>
            <a:r>
              <a:rPr lang="en-US" sz="1400" dirty="0">
                <a:solidFill>
                  <a:schemeClr val="tx1"/>
                </a:solidFill>
              </a:rPr>
              <a:t>Se cuentan alelos, no personas.</a:t>
            </a:r>
            <a:endParaRPr lang="en-US" sz="1400" dirty="0"/>
          </a:p>
          <a:p>
            <a:pPr indent="0" marL="0">
              <a:buNone/>
            </a:pPr>
            <a:r>
              <a:rPr lang="en-US" sz="1400" dirty="0">
                <a:solidFill>
                  <a:schemeClr val="tx1"/>
                </a:solidFill>
              </a:rPr>
              <a:t>3 personas × 2 copias = 6 alelos en total.</a:t>
            </a:r>
            <a:endParaRPr lang="en-US" sz="1400" dirty="0"/>
          </a:p>
        </p:txBody>
      </p:sp>
      <p:sp>
        <p:nvSpPr>
          <p:cNvPr id="42" name="Text 39"/>
          <p:cNvSpPr txBox="1"/>
          <p:nvPr/>
        </p:nvSpPr>
        <p:spPr>
          <a:xfrm>
            <a:off x="6949440" y="3401568"/>
            <a:ext cx="4160520" cy="731520"/>
          </a:xfrm>
          <a:prstGeom prst="rect">
            <a:avLst/>
          </a:prstGeom>
          <a:noFill/>
          <a:ln/>
        </p:spPr>
        <p:txBody>
          <a:bodyPr wrap="square" lIns="0" tIns="0" rIns="0" bIns="0" rtlCol="0" anchor="t"/>
          <a:lstStyle/>
          <a:p>
            <a:pPr indent="0" marL="0">
              <a:spcAft>
                <a:spcPts val="400"/>
              </a:spcAft>
              <a:buNone/>
            </a:pPr>
            <a:r>
              <a:rPr lang="en-US" sz="1500" b="1" dirty="0">
                <a:solidFill>
                  <a:srgbClr val="2A78D6"/>
                </a:solidFill>
                <a:latin typeface="Courier New" pitchFamily="34" charset="0"/>
                <a:ea typeface="Courier New" pitchFamily="34" charset="-122"/>
                <a:cs typeface="Courier New" pitchFamily="34" charset="-120"/>
              </a:rPr>
              <a:t>Alelo C:  </a:t>
            </a:r>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2 + 1 + 1 = 4 de 6</a:t>
            </a:r>
            <a:endParaRPr lang="en-US" sz="1500" dirty="0"/>
          </a:p>
          <a:p>
            <a:pPr indent="0" marL="0">
              <a:spcAft>
                <a:spcPts val="400"/>
              </a:spcAft>
              <a:buNone/>
            </a:pPr>
            <a:r>
              <a:rPr lang="en-US" sz="1500" b="1" dirty="0">
                <a:solidFill>
                  <a:srgbClr val="EB6834"/>
                </a:solidFill>
                <a:latin typeface="Courier New" pitchFamily="34" charset="0"/>
                <a:ea typeface="Courier New" pitchFamily="34" charset="-122"/>
                <a:cs typeface="Courier New" pitchFamily="34" charset="-120"/>
              </a:rPr>
              <a:t>Alelo T:  </a:t>
            </a:r>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0 + 1 + 1 = 2 de 6</a:t>
            </a:r>
            <a:endParaRPr lang="en-US" sz="1500" dirty="0"/>
          </a:p>
        </p:txBody>
      </p:sp>
      <p:sp>
        <p:nvSpPr>
          <p:cNvPr id="43" name="raya-cuentas"/>
          <p:cNvSpPr/>
          <p:nvPr/>
        </p:nvSpPr>
        <p:spPr>
          <a:xfrm>
            <a:off x="6949440" y="4169664"/>
            <a:ext cx="4160520" cy="0"/>
          </a:xfrm>
          <a:prstGeom prst="line">
            <a:avLst/>
          </a:prstGeom>
          <a:noFill/>
          <a:ln w="12700">
            <a:solidFill>
              <a:srgbClr val="E0C9A6"/>
            </a:solidFill>
            <a:prstDash val="solid"/>
          </a:ln>
        </p:spPr>
      </p:sp>
      <p:sp>
        <p:nvSpPr>
          <p:cNvPr id="44" name="Text 41"/>
          <p:cNvSpPr txBox="1"/>
          <p:nvPr/>
        </p:nvSpPr>
        <p:spPr>
          <a:xfrm>
            <a:off x="6949440" y="4297680"/>
            <a:ext cx="4160520" cy="777240"/>
          </a:xfrm>
          <a:prstGeom prst="rect">
            <a:avLst/>
          </a:prstGeom>
          <a:noFill/>
          <a:ln/>
        </p:spPr>
        <p:txBody>
          <a:bodyPr wrap="square" lIns="0" tIns="0" rIns="0" bIns="0" rtlCol="0" anchor="t"/>
          <a:lstStyle/>
          <a:p>
            <a:pPr indent="0" marL="0">
              <a:spcAft>
                <a:spcPts val="400"/>
              </a:spcAft>
              <a:buNone/>
            </a:pPr>
            <a:r>
              <a:rPr lang="en-US" sz="1600" b="1" dirty="0">
                <a:solidFill>
                  <a:srgbClr val="2A78D6"/>
                </a:solidFill>
              </a:rPr>
              <a:t>frecuencia(C) = 4 / 6 = 0,67</a:t>
            </a:r>
            <a:endParaRPr lang="en-US" sz="1600" dirty="0"/>
          </a:p>
          <a:p>
            <a:pPr indent="0" marL="0">
              <a:spcAft>
                <a:spcPts val="400"/>
              </a:spcAft>
              <a:buNone/>
            </a:pPr>
            <a:r>
              <a:rPr lang="en-US" sz="1600" b="1" dirty="0">
                <a:solidFill>
                  <a:srgbClr val="EB6834"/>
                </a:solidFill>
              </a:rPr>
              <a:t>frecuencia(T) = 2 / 6 = 0,33</a:t>
            </a:r>
            <a:endParaRPr lang="en-US" sz="1600" dirty="0"/>
          </a:p>
        </p:txBody>
      </p:sp>
      <p:sp>
        <p:nvSpPr>
          <p:cNvPr id="45" name="Text 42"/>
          <p:cNvSpPr txBox="1"/>
          <p:nvPr/>
        </p:nvSpPr>
        <p:spPr>
          <a:xfrm>
            <a:off x="914400" y="5349240"/>
            <a:ext cx="10424160" cy="777240"/>
          </a:xfrm>
          <a:prstGeom prst="rect">
            <a:avLst/>
          </a:prstGeom>
          <a:noFill/>
          <a:ln/>
        </p:spPr>
        <p:txBody>
          <a:bodyPr wrap="square" rtlCol="0" anchor="t"/>
          <a:lstStyle/>
          <a:p>
            <a:pPr indent="0" marL="0">
              <a:buNone/>
            </a:pPr>
            <a:r>
              <a:rPr lang="en-US" sz="1600" i="1" dirty="0">
                <a:solidFill>
                  <a:schemeClr val="accent1"/>
                </a:solidFill>
              </a:rPr>
              <a:t>La frecuencia alélica es lo único que necesitamos: toda la inferencia de ancestría se basa en que estas frecuencias difieren entre poblaciones.</a:t>
            </a:r>
            <a:endParaRPr lang="en-US" sz="1600" dirty="0"/>
          </a:p>
        </p:txBody>
      </p:sp>
      <p:sp>
        <p:nvSpPr>
          <p:cNvPr id="46" name="Text 43"/>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La frecuencia alélica se define sobre 2N alelos, no sobre N personas. Hartl DL, Clark AG. Principles of Population Genetics. 4.ª ed. Sunderland: Sinauer; 2007.</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Las variantes no se heredan sueltas: viajan en bloques</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pic>
        <p:nvPicPr>
          <p:cNvPr id="5" name="figura" descr="/tmp/claude-0/-home-claude/e238050a-ce3c-58bd-bb86-9554df59862c/scratchpad/figs/haplotipo.png">    </p:cNvPr>
          <p:cNvPicPr>
            <a:picLocks noChangeAspect="1"/>
          </p:cNvPicPr>
          <p:nvPr/>
        </p:nvPicPr>
        <p:blipFill>
          <a:blip r:embed="rId2"/>
          <a:stretch>
            <a:fillRect/>
          </a:stretch>
        </p:blipFill>
        <p:spPr>
          <a:xfrm>
            <a:off x="685800" y="1371600"/>
            <a:ext cx="10881360" cy="3977640"/>
          </a:xfrm>
          <a:prstGeom prst="rect">
            <a:avLst/>
          </a:prstGeom>
        </p:spPr>
      </p:pic>
      <p:sp>
        <p:nvSpPr>
          <p:cNvPr id="6" name="caja-haplo"/>
          <p:cNvSpPr/>
          <p:nvPr/>
        </p:nvSpPr>
        <p:spPr>
          <a:xfrm>
            <a:off x="914400" y="5468112"/>
            <a:ext cx="10424160" cy="658368"/>
          </a:xfrm>
          <a:prstGeom prst="roundRect">
            <a:avLst>
              <a:gd name="adj" fmla="val 13889"/>
            </a:avLst>
          </a:prstGeom>
          <a:solidFill>
            <a:schemeClr val="bg2"/>
          </a:solidFill>
          <a:ln w="9525">
            <a:solidFill>
              <a:srgbClr val="F2E3C8"/>
            </a:solidFill>
            <a:prstDash val="solid"/>
          </a:ln>
        </p:spPr>
      </p:sp>
      <p:sp>
        <p:nvSpPr>
          <p:cNvPr id="7" name="Text 3"/>
          <p:cNvSpPr txBox="1"/>
          <p:nvPr/>
        </p:nvSpPr>
        <p:spPr>
          <a:xfrm>
            <a:off x="1143000" y="5468112"/>
            <a:ext cx="9966960" cy="658368"/>
          </a:xfrm>
          <a:prstGeom prst="rect">
            <a:avLst/>
          </a:prstGeom>
          <a:noFill/>
          <a:ln/>
        </p:spPr>
        <p:txBody>
          <a:bodyPr wrap="square" rtlCol="0" anchor="ctr"/>
          <a:lstStyle/>
          <a:p>
            <a:pPr indent="0" marL="0">
              <a:buNone/>
            </a:pPr>
            <a:r>
              <a:rPr lang="en-US" sz="1400" dirty="0">
                <a:solidFill>
                  <a:schemeClr val="tx1"/>
                </a:solidFill>
              </a:rPr>
              <a:t>Si una persona mezclada heredó un tramo entero de un ancestro africano, ese tramo sigue siendo reconociblemente africano hoy. Esa es la idea que hace posible la ancestría local.</a:t>
            </a:r>
            <a:endParaRPr lang="en-US" sz="1400" dirty="0"/>
          </a:p>
        </p:txBody>
      </p:sp>
      <p:sp>
        <p:nvSpPr>
          <p:cNvPr id="8" name="Text 4"/>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Hay alrededor de una recombinación por cromosoma y por meiosis. Hinch AG, et al. Science. 2019;363(6433):eaau8861. doi:10.1126/science.aau8861  ·  Definición de haplotipo: NHGRI, genome.gov</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Desequilibrio de ligamiento (LD)</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481328"/>
            <a:ext cx="10424160" cy="457200"/>
          </a:xfrm>
          <a:prstGeom prst="rect">
            <a:avLst/>
          </a:prstGeom>
          <a:noFill/>
          <a:ln/>
        </p:spPr>
        <p:txBody>
          <a:bodyPr wrap="square" rtlCol="0" anchor="ctr"/>
          <a:lstStyle/>
          <a:p>
            <a:pPr indent="0" marL="0">
              <a:buNone/>
            </a:pPr>
            <a:r>
              <a:rPr lang="en-US" sz="1600" b="1" dirty="0">
                <a:solidFill>
                  <a:schemeClr val="accent1"/>
                </a:solidFill>
              </a:rPr>
              <a:t>Si dos variantes vecinas se heredan casi siempre juntas, conocer el alelo de una predice el de la otra. Eso es desequilibrio de ligamiento.</a:t>
            </a:r>
            <a:endParaRPr lang="en-US" sz="1600" dirty="0"/>
          </a:p>
        </p:txBody>
      </p:sp>
      <p:pic>
        <p:nvPicPr>
          <p:cNvPr id="6" name="figura" descr="/tmp/claude-0/-home-claude/e238050a-ce3c-58bd-bb86-9554df59862c/scratchpad/figs/ld.png">    </p:cNvPr>
          <p:cNvPicPr>
            <a:picLocks noChangeAspect="1"/>
          </p:cNvPicPr>
          <p:nvPr/>
        </p:nvPicPr>
        <p:blipFill>
          <a:blip r:embed="rId2"/>
          <a:stretch>
            <a:fillRect/>
          </a:stretch>
        </p:blipFill>
        <p:spPr>
          <a:xfrm>
            <a:off x="777240" y="1993392"/>
            <a:ext cx="10698480" cy="3337560"/>
          </a:xfrm>
          <a:prstGeom prst="rect">
            <a:avLst/>
          </a:prstGeom>
        </p:spPr>
      </p:pic>
      <p:sp>
        <p:nvSpPr>
          <p:cNvPr id="7" name="caja-ld"/>
          <p:cNvSpPr/>
          <p:nvPr/>
        </p:nvSpPr>
        <p:spPr>
          <a:xfrm>
            <a:off x="914400" y="5440680"/>
            <a:ext cx="10424160" cy="685800"/>
          </a:xfrm>
          <a:prstGeom prst="roundRect">
            <a:avLst>
              <a:gd name="adj" fmla="val 13333"/>
            </a:avLst>
          </a:prstGeom>
          <a:solidFill>
            <a:schemeClr val="bg2"/>
          </a:solidFill>
          <a:ln w="9525">
            <a:solidFill>
              <a:srgbClr val="F2E3C8"/>
            </a:solidFill>
            <a:prstDash val="solid"/>
          </a:ln>
        </p:spPr>
      </p:sp>
      <p:sp>
        <p:nvSpPr>
          <p:cNvPr id="8" name="Text 4"/>
          <p:cNvSpPr txBox="1"/>
          <p:nvPr/>
        </p:nvSpPr>
        <p:spPr>
          <a:xfrm>
            <a:off x="1143000" y="5440680"/>
            <a:ext cx="9966960" cy="685800"/>
          </a:xfrm>
          <a:prstGeom prst="rect">
            <a:avLst/>
          </a:prstGeom>
          <a:noFill/>
          <a:ln/>
        </p:spPr>
        <p:txBody>
          <a:bodyPr wrap="square" rtlCol="0" anchor="ctr"/>
          <a:lstStyle/>
          <a:p>
            <a:pPr indent="0" marL="0">
              <a:buNone/>
            </a:pPr>
            <a:r>
              <a:rPr lang="en-US" sz="1400" dirty="0">
                <a:solidFill>
                  <a:schemeClr val="tx1"/>
                </a:solidFill>
              </a:rPr>
              <a:t>El PCA y ADMIXTURE suponen que las variantes son independientes. Por eso antes de correrlos se hace una poda por LD: se descartan las que repiten información, para que ninguna región del genoma pese de más. Lo haremos el sábado con --indep-pairwise.</a:t>
            </a:r>
            <a:endParaRPr lang="en-US" sz="1400" dirty="0"/>
          </a:p>
        </p:txBody>
      </p:sp>
      <p:sp>
        <p:nvSpPr>
          <p:cNvPr id="9" name="Text 5"/>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Fuente: Slatkin M. Linkage disequilibrium — understanding the evolutionary past and mapping the medical future. Nat Rev Genet. 2008;9:477–485. doi:10.1038/nrg2361</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¿Por qué difieren las frecuencias entre poblaciones?</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causa-0"/>
          <p:cNvSpPr/>
          <p:nvPr/>
        </p:nvSpPr>
        <p:spPr>
          <a:xfrm>
            <a:off x="914400" y="1755648"/>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1481328" y="1691640"/>
            <a:ext cx="4370832" cy="347472"/>
          </a:xfrm>
          <a:prstGeom prst="rect">
            <a:avLst/>
          </a:prstGeom>
          <a:noFill/>
          <a:ln/>
        </p:spPr>
        <p:txBody>
          <a:bodyPr wrap="square" lIns="0" tIns="0" rIns="0" bIns="0" rtlCol="0" anchor="ctr"/>
          <a:lstStyle/>
          <a:p>
            <a:pPr indent="0" marL="0">
              <a:buNone/>
            </a:pPr>
            <a:r>
              <a:rPr lang="en-US" sz="1700" b="1" dirty="0">
                <a:solidFill>
                  <a:schemeClr val="accent1"/>
                </a:solidFill>
              </a:rPr>
              <a:t>Deriva genética</a:t>
            </a:r>
            <a:endParaRPr lang="en-US" sz="1700" dirty="0"/>
          </a:p>
        </p:txBody>
      </p:sp>
      <p:sp>
        <p:nvSpPr>
          <p:cNvPr id="7" name="Text 4"/>
          <p:cNvSpPr txBox="1"/>
          <p:nvPr/>
        </p:nvSpPr>
        <p:spPr>
          <a:xfrm>
            <a:off x="1481328" y="2075688"/>
            <a:ext cx="4370832" cy="777240"/>
          </a:xfrm>
          <a:prstGeom prst="rect">
            <a:avLst/>
          </a:prstGeom>
          <a:noFill/>
          <a:ln/>
        </p:spPr>
        <p:txBody>
          <a:bodyPr wrap="square" lIns="0" tIns="0" rIns="0" bIns="0" rtlCol="0" anchor="t"/>
          <a:lstStyle/>
          <a:p>
            <a:pPr indent="0" marL="0">
              <a:buNone/>
            </a:pPr>
            <a:r>
              <a:rPr lang="en-US" sz="1400" dirty="0">
                <a:solidFill>
                  <a:schemeClr val="tx1"/>
                </a:solidFill>
              </a:rPr>
              <a:t>En cada generación las frecuencias cambian un poco por azar. En poblaciones pequeñas, mucho.</a:t>
            </a:r>
            <a:endParaRPr lang="en-US" sz="1400" dirty="0"/>
          </a:p>
        </p:txBody>
      </p:sp>
      <p:sp>
        <p:nvSpPr>
          <p:cNvPr id="8" name="causa-1"/>
          <p:cNvSpPr/>
          <p:nvPr/>
        </p:nvSpPr>
        <p:spPr>
          <a:xfrm>
            <a:off x="6309360" y="1755648"/>
            <a:ext cx="384048" cy="384048"/>
          </a:xfrm>
          <a:prstGeom prst="ellipse">
            <a:avLst/>
          </a:prstGeom>
          <a:solidFill>
            <a:schemeClr val="accent3"/>
          </a:solidFill>
          <a:ln w="12700">
            <a:solidFill>
              <a:schemeClr val="accent3"/>
            </a:solidFill>
            <a:prstDash val="solid"/>
          </a:ln>
        </p:spPr>
      </p:sp>
      <p:sp>
        <p:nvSpPr>
          <p:cNvPr id="9" name="Text 6"/>
          <p:cNvSpPr txBox="1"/>
          <p:nvPr/>
        </p:nvSpPr>
        <p:spPr>
          <a:xfrm>
            <a:off x="6876288" y="1691640"/>
            <a:ext cx="4370832" cy="347472"/>
          </a:xfrm>
          <a:prstGeom prst="rect">
            <a:avLst/>
          </a:prstGeom>
          <a:noFill/>
          <a:ln/>
        </p:spPr>
        <p:txBody>
          <a:bodyPr wrap="square" lIns="0" tIns="0" rIns="0" bIns="0" rtlCol="0" anchor="ctr"/>
          <a:lstStyle/>
          <a:p>
            <a:pPr indent="0" marL="0">
              <a:buNone/>
            </a:pPr>
            <a:r>
              <a:rPr lang="en-US" sz="1700" b="1" dirty="0">
                <a:solidFill>
                  <a:schemeClr val="accent1"/>
                </a:solidFill>
              </a:rPr>
              <a:t>Aislamiento y migración</a:t>
            </a:r>
            <a:endParaRPr lang="en-US" sz="1700" dirty="0"/>
          </a:p>
        </p:txBody>
      </p:sp>
      <p:sp>
        <p:nvSpPr>
          <p:cNvPr id="10" name="Text 7"/>
          <p:cNvSpPr txBox="1"/>
          <p:nvPr/>
        </p:nvSpPr>
        <p:spPr>
          <a:xfrm>
            <a:off x="6876288" y="2075688"/>
            <a:ext cx="4370832" cy="777240"/>
          </a:xfrm>
          <a:prstGeom prst="rect">
            <a:avLst/>
          </a:prstGeom>
          <a:noFill/>
          <a:ln/>
        </p:spPr>
        <p:txBody>
          <a:bodyPr wrap="square" lIns="0" tIns="0" rIns="0" bIns="0" rtlCol="0" anchor="t"/>
          <a:lstStyle/>
          <a:p>
            <a:pPr indent="0" marL="0">
              <a:buNone/>
            </a:pPr>
            <a:r>
              <a:rPr lang="en-US" sz="1400" dirty="0">
                <a:solidFill>
                  <a:schemeClr val="tx1"/>
                </a:solidFill>
              </a:rPr>
              <a:t>Poblaciones separadas acumulan diferencias; el flujo de personas las vuelve a acercar.</a:t>
            </a:r>
            <a:endParaRPr lang="en-US" sz="1400" dirty="0"/>
          </a:p>
        </p:txBody>
      </p:sp>
      <p:sp>
        <p:nvSpPr>
          <p:cNvPr id="11" name="causa-2"/>
          <p:cNvSpPr/>
          <p:nvPr/>
        </p:nvSpPr>
        <p:spPr>
          <a:xfrm>
            <a:off x="914400" y="3355848"/>
            <a:ext cx="384048" cy="384048"/>
          </a:xfrm>
          <a:prstGeom prst="ellipse">
            <a:avLst/>
          </a:prstGeom>
          <a:solidFill>
            <a:schemeClr val="accent2"/>
          </a:solidFill>
          <a:ln w="12700">
            <a:solidFill>
              <a:schemeClr val="accent2"/>
            </a:solidFill>
            <a:prstDash val="solid"/>
          </a:ln>
        </p:spPr>
      </p:sp>
      <p:sp>
        <p:nvSpPr>
          <p:cNvPr id="12" name="Text 9"/>
          <p:cNvSpPr txBox="1"/>
          <p:nvPr/>
        </p:nvSpPr>
        <p:spPr>
          <a:xfrm>
            <a:off x="1481328" y="3291840"/>
            <a:ext cx="4370832" cy="347472"/>
          </a:xfrm>
          <a:prstGeom prst="rect">
            <a:avLst/>
          </a:prstGeom>
          <a:noFill/>
          <a:ln/>
        </p:spPr>
        <p:txBody>
          <a:bodyPr wrap="square" lIns="0" tIns="0" rIns="0" bIns="0" rtlCol="0" anchor="ctr"/>
          <a:lstStyle/>
          <a:p>
            <a:pPr indent="0" marL="0">
              <a:buNone/>
            </a:pPr>
            <a:r>
              <a:rPr lang="en-US" sz="1700" b="1" dirty="0">
                <a:solidFill>
                  <a:schemeClr val="accent1"/>
                </a:solidFill>
              </a:rPr>
              <a:t>Efecto fundador</a:t>
            </a:r>
            <a:endParaRPr lang="en-US" sz="1700" dirty="0"/>
          </a:p>
        </p:txBody>
      </p:sp>
      <p:sp>
        <p:nvSpPr>
          <p:cNvPr id="13" name="Text 10"/>
          <p:cNvSpPr txBox="1"/>
          <p:nvPr/>
        </p:nvSpPr>
        <p:spPr>
          <a:xfrm>
            <a:off x="1481328" y="3675888"/>
            <a:ext cx="4370832" cy="777240"/>
          </a:xfrm>
          <a:prstGeom prst="rect">
            <a:avLst/>
          </a:prstGeom>
          <a:noFill/>
          <a:ln/>
        </p:spPr>
        <p:txBody>
          <a:bodyPr wrap="square" lIns="0" tIns="0" rIns="0" bIns="0" rtlCol="0" anchor="t"/>
          <a:lstStyle/>
          <a:p>
            <a:pPr indent="0" marL="0">
              <a:buNone/>
            </a:pPr>
            <a:r>
              <a:rPr lang="en-US" sz="1400" dirty="0">
                <a:solidFill>
                  <a:schemeClr val="tx1"/>
                </a:solidFill>
              </a:rPr>
              <a:t>Un grupo pequeño que funda una población nueva lleva solo una parte de la variación original.</a:t>
            </a:r>
            <a:endParaRPr lang="en-US" sz="1400" dirty="0"/>
          </a:p>
        </p:txBody>
      </p:sp>
      <p:sp>
        <p:nvSpPr>
          <p:cNvPr id="14" name="causa-3"/>
          <p:cNvSpPr/>
          <p:nvPr/>
        </p:nvSpPr>
        <p:spPr>
          <a:xfrm>
            <a:off x="6309360" y="3355848"/>
            <a:ext cx="384048" cy="384048"/>
          </a:xfrm>
          <a:prstGeom prst="ellipse">
            <a:avLst/>
          </a:prstGeom>
          <a:solidFill>
            <a:schemeClr val="accent6"/>
          </a:solidFill>
          <a:ln w="12700">
            <a:solidFill>
              <a:schemeClr val="accent6"/>
            </a:solidFill>
            <a:prstDash val="solid"/>
          </a:ln>
        </p:spPr>
      </p:sp>
      <p:sp>
        <p:nvSpPr>
          <p:cNvPr id="15" name="Text 12"/>
          <p:cNvSpPr txBox="1"/>
          <p:nvPr/>
        </p:nvSpPr>
        <p:spPr>
          <a:xfrm>
            <a:off x="6876288" y="3291840"/>
            <a:ext cx="4370832" cy="347472"/>
          </a:xfrm>
          <a:prstGeom prst="rect">
            <a:avLst/>
          </a:prstGeom>
          <a:noFill/>
          <a:ln/>
        </p:spPr>
        <p:txBody>
          <a:bodyPr wrap="square" lIns="0" tIns="0" rIns="0" bIns="0" rtlCol="0" anchor="ctr"/>
          <a:lstStyle/>
          <a:p>
            <a:pPr indent="0" marL="0">
              <a:buNone/>
            </a:pPr>
            <a:r>
              <a:rPr lang="en-US" sz="1700" b="1" dirty="0">
                <a:solidFill>
                  <a:schemeClr val="accent1"/>
                </a:solidFill>
              </a:rPr>
              <a:t>Selección natural</a:t>
            </a:r>
            <a:endParaRPr lang="en-US" sz="1700" dirty="0"/>
          </a:p>
        </p:txBody>
      </p:sp>
      <p:sp>
        <p:nvSpPr>
          <p:cNvPr id="16" name="Text 13"/>
          <p:cNvSpPr txBox="1"/>
          <p:nvPr/>
        </p:nvSpPr>
        <p:spPr>
          <a:xfrm>
            <a:off x="6876288" y="3675888"/>
            <a:ext cx="4370832" cy="777240"/>
          </a:xfrm>
          <a:prstGeom prst="rect">
            <a:avLst/>
          </a:prstGeom>
          <a:noFill/>
          <a:ln/>
        </p:spPr>
        <p:txBody>
          <a:bodyPr wrap="square" lIns="0" tIns="0" rIns="0" bIns="0" rtlCol="0" anchor="t"/>
          <a:lstStyle/>
          <a:p>
            <a:pPr indent="0" marL="0">
              <a:buNone/>
            </a:pPr>
            <a:r>
              <a:rPr lang="en-US" sz="1400" dirty="0">
                <a:solidFill>
                  <a:schemeClr val="tx1"/>
                </a:solidFill>
              </a:rPr>
              <a:t>Explica diferencias en unas pocas regiones del genoma, no el patrón general.</a:t>
            </a:r>
            <a:endParaRPr lang="en-US" sz="1400" dirty="0"/>
          </a:p>
        </p:txBody>
      </p:sp>
      <p:sp>
        <p:nvSpPr>
          <p:cNvPr id="17" name="caja-lewontin"/>
          <p:cNvSpPr/>
          <p:nvPr/>
        </p:nvSpPr>
        <p:spPr>
          <a:xfrm>
            <a:off x="914400" y="4937760"/>
            <a:ext cx="10424160" cy="1005840"/>
          </a:xfrm>
          <a:prstGeom prst="roundRect">
            <a:avLst>
              <a:gd name="adj" fmla="val 9091"/>
            </a:avLst>
          </a:prstGeom>
          <a:solidFill>
            <a:schemeClr val="bg2"/>
          </a:solidFill>
          <a:ln w="9525">
            <a:solidFill>
              <a:srgbClr val="F2E3C8"/>
            </a:solidFill>
            <a:prstDash val="solid"/>
          </a:ln>
        </p:spPr>
      </p:sp>
      <p:sp>
        <p:nvSpPr>
          <p:cNvPr id="18" name="Text 15"/>
          <p:cNvSpPr txBox="1"/>
          <p:nvPr/>
        </p:nvSpPr>
        <p:spPr>
          <a:xfrm>
            <a:off x="1143000" y="4937760"/>
            <a:ext cx="9966960" cy="1005840"/>
          </a:xfrm>
          <a:prstGeom prst="rect">
            <a:avLst/>
          </a:prstGeom>
          <a:noFill/>
          <a:ln/>
        </p:spPr>
        <p:txBody>
          <a:bodyPr wrap="square" rtlCol="0" anchor="ctr"/>
          <a:lstStyle/>
          <a:p>
            <a:pPr indent="0" marL="0">
              <a:buNone/>
            </a:pPr>
            <a:r>
              <a:rPr lang="en-US" sz="1500" dirty="0">
                <a:solidFill>
                  <a:schemeClr val="tx1"/>
                </a:solidFill>
              </a:rPr>
              <a:t>Las diferencias dentro de cada población explican del 93 % al 95 % de la variación genética humana. Las diferencias entre grandes grupos continentales, apenas del 3 % al 5 %: son reales y medibles, pero pequeñas.</a:t>
            </a:r>
            <a:endParaRPr lang="en-US" sz="1500" dirty="0"/>
          </a:p>
        </p:txBody>
      </p:sp>
      <p:sp>
        <p:nvSpPr>
          <p:cNvPr id="19" name="Text 16"/>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Fuente: Rosenberg NA, et al. Genetic structure of human populations. Science. 2002;298(5602):2381–2385. doi:10.1126/science.1078311</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Poblaciones mezcladas: el caso latinoamericano</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pic>
        <p:nvPicPr>
          <p:cNvPr id="5" name="figura" descr="/tmp/claude-0/-home-claude/e238050a-ce3c-58bd-bb86-9554df59862c/scratchpad/figs/mezcla_latam.png">    </p:cNvPr>
          <p:cNvPicPr>
            <a:picLocks noChangeAspect="1"/>
          </p:cNvPicPr>
          <p:nvPr/>
        </p:nvPicPr>
        <p:blipFill>
          <a:blip r:embed="rId2"/>
          <a:stretch>
            <a:fillRect/>
          </a:stretch>
        </p:blipFill>
        <p:spPr>
          <a:xfrm>
            <a:off x="7818120" y="1463040"/>
            <a:ext cx="3520440" cy="4306824"/>
          </a:xfrm>
          <a:prstGeom prst="rect">
            <a:avLst/>
          </a:prstGeom>
        </p:spPr>
      </p:pic>
      <p:sp>
        <p:nvSpPr>
          <p:cNvPr id="6" name="Text 2"/>
          <p:cNvSpPr txBox="1"/>
          <p:nvPr/>
        </p:nvSpPr>
        <p:spPr>
          <a:xfrm>
            <a:off x="914400" y="1572768"/>
            <a:ext cx="6583680" cy="3200400"/>
          </a:xfrm>
          <a:prstGeom prst="rect">
            <a:avLst/>
          </a:prstGeom>
          <a:noFill/>
          <a:ln/>
        </p:spPr>
        <p:txBody>
          <a:bodyPr wrap="square" rtlCol="0" anchor="t"/>
          <a:lstStyle/>
          <a:p>
            <a:pPr marL="342900" indent="-342900">
              <a:spcAft>
                <a:spcPts val="1200"/>
              </a:spcAft>
              <a:buSzPct val="100000"/>
              <a:buChar char="•"/>
            </a:pPr>
            <a:r>
              <a:rPr lang="en-US" sz="1500" dirty="0">
                <a:solidFill>
                  <a:schemeClr val="tx1"/>
                </a:solidFill>
              </a:rPr>
              <a:t>Desde el siglo XVI confluyen en América tres grupos que llevaban milenios separados: pueblos nativos americanos, europeos y africanos.</a:t>
            </a:r>
            <a:endParaRPr lang="en-US" sz="1500" dirty="0"/>
          </a:p>
          <a:p>
            <a:pPr marL="342900" indent="-342900">
              <a:spcAft>
                <a:spcPts val="1200"/>
              </a:spcAft>
              <a:buSzPct val="100000"/>
              <a:buChar char="•"/>
            </a:pPr>
            <a:r>
              <a:rPr lang="en-US" sz="1500" dirty="0">
                <a:solidFill>
                  <a:schemeClr val="tx1"/>
                </a:solidFill>
              </a:rPr>
              <a:t>La mezcla fue reciente en términos evolutivos: unas 15 a 20 generaciones. Los bloques de ancestría todavía son largos y fáciles de reconocer.</a:t>
            </a:r>
            <a:endParaRPr lang="en-US" sz="1500" dirty="0"/>
          </a:p>
          <a:p>
            <a:pPr marL="342900" indent="-342900">
              <a:spcAft>
                <a:spcPts val="1200"/>
              </a:spcAft>
              <a:buSzPct val="100000"/>
              <a:buChar char="•"/>
            </a:pPr>
            <a:r>
              <a:rPr lang="en-US" sz="1500" dirty="0">
                <a:solidFill>
                  <a:schemeClr val="tx1"/>
                </a:solidFill>
              </a:rPr>
              <a:t>Fue también una mezcla sesgada por sexo: en Colombia, la ancestría europea entra sobre todo por vía paterna y la nativa americana por vía materna.</a:t>
            </a:r>
            <a:endParaRPr lang="en-US" sz="1500" dirty="0"/>
          </a:p>
          <a:p>
            <a:pPr marL="342900" indent="-342900">
              <a:spcAft>
                <a:spcPts val="1200"/>
              </a:spcAft>
              <a:buSzPct val="100000"/>
              <a:buChar char="•"/>
            </a:pPr>
            <a:r>
              <a:rPr lang="en-US" sz="1500" dirty="0">
                <a:solidFill>
                  <a:schemeClr val="tx1"/>
                </a:solidFill>
              </a:rPr>
              <a:t>En 60 genomas de Medellín, el promedio es 74,6 % de ancestría europea, 18,1 % nativa americana y 7,3 % africana, con mucha variación entre personas.</a:t>
            </a:r>
            <a:endParaRPr lang="en-US" sz="1500" dirty="0"/>
          </a:p>
        </p:txBody>
      </p:sp>
      <p:sp>
        <p:nvSpPr>
          <p:cNvPr id="7" name="caja-clm"/>
          <p:cNvSpPr/>
          <p:nvPr/>
        </p:nvSpPr>
        <p:spPr>
          <a:xfrm>
            <a:off x="914400" y="4892040"/>
            <a:ext cx="6583680" cy="914400"/>
          </a:xfrm>
          <a:prstGeom prst="roundRect">
            <a:avLst>
              <a:gd name="adj" fmla="val 10000"/>
            </a:avLst>
          </a:prstGeom>
          <a:solidFill>
            <a:schemeClr val="bg2"/>
          </a:solidFill>
          <a:ln w="9525">
            <a:solidFill>
              <a:srgbClr val="F2E3C8"/>
            </a:solidFill>
            <a:prstDash val="solid"/>
          </a:ln>
        </p:spPr>
      </p:sp>
      <p:sp>
        <p:nvSpPr>
          <p:cNvPr id="8" name="Text 4"/>
          <p:cNvSpPr txBox="1"/>
          <p:nvPr/>
        </p:nvSpPr>
        <p:spPr>
          <a:xfrm>
            <a:off x="1143000" y="4892040"/>
            <a:ext cx="6126480" cy="914400"/>
          </a:xfrm>
          <a:prstGeom prst="rect">
            <a:avLst/>
          </a:prstGeom>
          <a:noFill/>
          <a:ln/>
        </p:spPr>
        <p:txBody>
          <a:bodyPr wrap="square" rtlCol="0" anchor="ctr"/>
          <a:lstStyle/>
          <a:p>
            <a:pPr indent="0" marL="0">
              <a:buNone/>
            </a:pPr>
            <a:r>
              <a:rPr lang="en-US" sz="1400" b="1" dirty="0">
                <a:solidFill>
                  <a:schemeClr val="accent1"/>
                </a:solidFill>
              </a:rPr>
              <a:t>Esas 60 personas de Medellín son exactamente las que vamos a analizar en las sesiones 3 y 4 del curso.</a:t>
            </a:r>
            <a:endParaRPr lang="en-US" sz="1400" dirty="0"/>
          </a:p>
        </p:txBody>
      </p:sp>
      <p:sp>
        <p:nvSpPr>
          <p:cNvPr id="9" name="Text 5"/>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Fuente: Rishishwar L, et al. Ancestry, admixture and fitness in Colombian genomes. Sci Rep. 2015;5:12376. doi:10.1038/srep12376</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Ancestría genética: qué es y qué no es</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caja-es"/>
          <p:cNvSpPr/>
          <p:nvPr/>
        </p:nvSpPr>
        <p:spPr>
          <a:xfrm>
            <a:off x="914400" y="1691640"/>
            <a:ext cx="4937760" cy="3749040"/>
          </a:xfrm>
          <a:prstGeom prst="roundRect">
            <a:avLst>
              <a:gd name="adj" fmla="val 2439"/>
            </a:avLst>
          </a:prstGeom>
          <a:solidFill>
            <a:schemeClr val="bg2"/>
          </a:solidFill>
          <a:ln w="9525">
            <a:solidFill>
              <a:srgbClr val="F2E3C8"/>
            </a:solidFill>
            <a:prstDash val="solid"/>
          </a:ln>
        </p:spPr>
      </p:sp>
      <p:sp>
        <p:nvSpPr>
          <p:cNvPr id="6" name="Text 3"/>
          <p:cNvSpPr txBox="1"/>
          <p:nvPr/>
        </p:nvSpPr>
        <p:spPr>
          <a:xfrm>
            <a:off x="1188720" y="1920240"/>
            <a:ext cx="4389120" cy="457200"/>
          </a:xfrm>
          <a:prstGeom prst="rect">
            <a:avLst/>
          </a:prstGeom>
          <a:noFill/>
          <a:ln/>
        </p:spPr>
        <p:txBody>
          <a:bodyPr wrap="square" lIns="0" tIns="0" rIns="0" bIns="0" rtlCol="0" anchor="ctr"/>
          <a:lstStyle/>
          <a:p>
            <a:pPr indent="0" marL="0">
              <a:buNone/>
            </a:pPr>
            <a:r>
              <a:rPr lang="en-US" sz="2000" b="1" dirty="0">
                <a:solidFill>
                  <a:schemeClr val="accent3"/>
                </a:solidFill>
              </a:rPr>
              <a:t>Qué sí es</a:t>
            </a:r>
            <a:endParaRPr lang="en-US" sz="2000" dirty="0"/>
          </a:p>
        </p:txBody>
      </p:sp>
      <p:sp>
        <p:nvSpPr>
          <p:cNvPr id="7" name="Text 4"/>
          <p:cNvSpPr txBox="1"/>
          <p:nvPr/>
        </p:nvSpPr>
        <p:spPr>
          <a:xfrm>
            <a:off x="1188720" y="2468880"/>
            <a:ext cx="4389120" cy="283464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Una estimación estadística de qué proporción del genoma de una persona se parece más a unas poblaciones de referencia que a otras.</a:t>
            </a:r>
            <a:endParaRPr lang="en-US" sz="1500" dirty="0"/>
          </a:p>
          <a:p>
            <a:pPr marL="342900" indent="-342900">
              <a:spcAft>
                <a:spcPts val="800"/>
              </a:spcAft>
              <a:buSzPct val="100000"/>
              <a:buChar char="•"/>
            </a:pPr>
            <a:r>
              <a:rPr lang="en-US" sz="1500" dirty="0">
                <a:solidFill>
                  <a:schemeClr val="tx1"/>
                </a:solidFill>
              </a:rPr>
              <a:t>Un número continuo, no una categoría.</a:t>
            </a:r>
            <a:endParaRPr lang="en-US" sz="1500" dirty="0"/>
          </a:p>
          <a:p>
            <a:pPr marL="342900" indent="-342900">
              <a:spcAft>
                <a:spcPts val="800"/>
              </a:spcAft>
              <a:buSzPct val="100000"/>
              <a:buChar char="•"/>
            </a:pPr>
            <a:r>
              <a:rPr lang="en-US" sz="1500" dirty="0">
                <a:solidFill>
                  <a:schemeClr val="tx1"/>
                </a:solidFill>
              </a:rPr>
              <a:t>Algo que depende por completo de qué referencias elegimos.</a:t>
            </a:r>
            <a:endParaRPr lang="en-US" sz="1500" dirty="0"/>
          </a:p>
          <a:p>
            <a:pPr marL="342900" indent="-342900">
              <a:spcAft>
                <a:spcPts val="800"/>
              </a:spcAft>
              <a:buSzPct val="100000"/>
              <a:buChar char="•"/>
            </a:pPr>
            <a:r>
              <a:rPr lang="en-US" sz="1500" dirty="0">
                <a:solidFill>
                  <a:schemeClr val="tx1"/>
                </a:solidFill>
              </a:rPr>
              <a:t>Una variable útil para controlar confusión en estudios genéticos.</a:t>
            </a:r>
            <a:endParaRPr lang="en-US" sz="1500" dirty="0"/>
          </a:p>
        </p:txBody>
      </p:sp>
      <p:sp>
        <p:nvSpPr>
          <p:cNvPr id="8" name="caja-noes"/>
          <p:cNvSpPr/>
          <p:nvPr/>
        </p:nvSpPr>
        <p:spPr>
          <a:xfrm>
            <a:off x="6400800" y="1691640"/>
            <a:ext cx="4937760" cy="3749040"/>
          </a:xfrm>
          <a:prstGeom prst="roundRect">
            <a:avLst>
              <a:gd name="adj" fmla="val 2439"/>
            </a:avLst>
          </a:prstGeom>
          <a:solidFill>
            <a:schemeClr val="bg2"/>
          </a:solidFill>
          <a:ln w="9525">
            <a:solidFill>
              <a:srgbClr val="F2E3C8"/>
            </a:solidFill>
            <a:prstDash val="solid"/>
          </a:ln>
        </p:spPr>
      </p:sp>
      <p:sp>
        <p:nvSpPr>
          <p:cNvPr id="9" name="Text 6"/>
          <p:cNvSpPr txBox="1"/>
          <p:nvPr/>
        </p:nvSpPr>
        <p:spPr>
          <a:xfrm>
            <a:off x="6675120" y="1920240"/>
            <a:ext cx="4389120" cy="457200"/>
          </a:xfrm>
          <a:prstGeom prst="rect">
            <a:avLst/>
          </a:prstGeom>
          <a:noFill/>
          <a:ln/>
        </p:spPr>
        <p:txBody>
          <a:bodyPr wrap="square" lIns="0" tIns="0" rIns="0" bIns="0" rtlCol="0" anchor="ctr"/>
          <a:lstStyle/>
          <a:p>
            <a:pPr indent="0" marL="0">
              <a:buNone/>
            </a:pPr>
            <a:r>
              <a:rPr lang="en-US" sz="2000" b="1" dirty="0">
                <a:solidFill>
                  <a:schemeClr val="accent6"/>
                </a:solidFill>
              </a:rPr>
              <a:t>Qué no es</a:t>
            </a:r>
            <a:endParaRPr lang="en-US" sz="2000" dirty="0"/>
          </a:p>
        </p:txBody>
      </p:sp>
      <p:sp>
        <p:nvSpPr>
          <p:cNvPr id="10" name="Text 7"/>
          <p:cNvSpPr txBox="1"/>
          <p:nvPr/>
        </p:nvSpPr>
        <p:spPr>
          <a:xfrm>
            <a:off x="6675120" y="2468880"/>
            <a:ext cx="4389120" cy="283464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No es raza: las categorías raciales son construcciones sociales y no se corresponden con la variación genética.</a:t>
            </a:r>
            <a:endParaRPr lang="en-US" sz="1500" dirty="0"/>
          </a:p>
          <a:p>
            <a:pPr marL="342900" indent="-342900">
              <a:spcAft>
                <a:spcPts val="800"/>
              </a:spcAft>
              <a:buSzPct val="100000"/>
              <a:buChar char="•"/>
            </a:pPr>
            <a:r>
              <a:rPr lang="en-US" sz="1500" dirty="0">
                <a:solidFill>
                  <a:schemeClr val="tx1"/>
                </a:solidFill>
              </a:rPr>
              <a:t>No es nacionalidad ni identidad: una persona puede sentirse de un lugar y tener otra composición genética.</a:t>
            </a:r>
            <a:endParaRPr lang="en-US" sz="1500" dirty="0"/>
          </a:p>
          <a:p>
            <a:pPr marL="342900" indent="-342900">
              <a:spcAft>
                <a:spcPts val="800"/>
              </a:spcAft>
              <a:buSzPct val="100000"/>
              <a:buChar char="•"/>
            </a:pPr>
            <a:r>
              <a:rPr lang="en-US" sz="1500" dirty="0">
                <a:solidFill>
                  <a:schemeClr val="tx1"/>
                </a:solidFill>
              </a:rPr>
              <a:t>No es un árbol genealógico: no dice de qué personas desciende, sino a qué poblaciones se parece.</a:t>
            </a:r>
            <a:endParaRPr lang="en-US" sz="1500" dirty="0"/>
          </a:p>
        </p:txBody>
      </p:sp>
      <p:sp>
        <p:nvSpPr>
          <p:cNvPr id="11" name="Text 8"/>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Fuente: National Academies of Sciences, Engineering, and Medicine. Using Population Descriptors in Genetics and Genomics Research. Washington, DC: The National Academies Press; 2023. doi:10.17226/26902</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Dos preguntas distintas: global y local</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pic>
        <p:nvPicPr>
          <p:cNvPr id="5" name="figura" descr="/tmp/claude-0/-home-claude/e238050a-ce3c-58bd-bb86-9554df59862c/scratchpad/figs/global_local.png">    </p:cNvPr>
          <p:cNvPicPr>
            <a:picLocks noChangeAspect="1"/>
          </p:cNvPicPr>
          <p:nvPr/>
        </p:nvPicPr>
        <p:blipFill>
          <a:blip r:embed="rId2"/>
          <a:stretch>
            <a:fillRect/>
          </a:stretch>
        </p:blipFill>
        <p:spPr>
          <a:xfrm>
            <a:off x="1325880" y="1417320"/>
            <a:ext cx="9601200" cy="3794760"/>
          </a:xfrm>
          <a:prstGeom prst="rect">
            <a:avLst/>
          </a:prstGeom>
        </p:spPr>
      </p:pic>
      <p:sp>
        <p:nvSpPr>
          <p:cNvPr id="6" name="caja-gl"/>
          <p:cNvSpPr/>
          <p:nvPr/>
        </p:nvSpPr>
        <p:spPr>
          <a:xfrm>
            <a:off x="914400" y="5321808"/>
            <a:ext cx="10424160" cy="777240"/>
          </a:xfrm>
          <a:prstGeom prst="roundRect">
            <a:avLst>
              <a:gd name="adj" fmla="val 11765"/>
            </a:avLst>
          </a:prstGeom>
          <a:solidFill>
            <a:schemeClr val="bg2"/>
          </a:solidFill>
          <a:ln w="9525">
            <a:solidFill>
              <a:srgbClr val="F2E3C8"/>
            </a:solidFill>
            <a:prstDash val="solid"/>
          </a:ln>
        </p:spPr>
      </p:sp>
      <p:sp>
        <p:nvSpPr>
          <p:cNvPr id="7" name="Text 3"/>
          <p:cNvSpPr txBox="1"/>
          <p:nvPr/>
        </p:nvSpPr>
        <p:spPr>
          <a:xfrm>
            <a:off x="1143000" y="5321808"/>
            <a:ext cx="9966960" cy="777240"/>
          </a:xfrm>
          <a:prstGeom prst="rect">
            <a:avLst/>
          </a:prstGeom>
          <a:noFill/>
          <a:ln/>
        </p:spPr>
        <p:txBody>
          <a:bodyPr wrap="square" rtlCol="0" anchor="ctr"/>
          <a:lstStyle/>
          <a:p>
            <a:pPr indent="0" marL="0">
              <a:buNone/>
            </a:pPr>
            <a:r>
              <a:rPr lang="en-US" sz="1500" i="1" dirty="0">
                <a:solidFill>
                  <a:schemeClr val="accent1"/>
                </a:solidFill>
              </a:rPr>
              <a:t>La global es el promedio de la local. Pero el promedio esconde justo lo que importa en clínica: saber que alguien tiene 7 % de ancestría africana no dice si esa ancestría está, o no, en el gen que te interesa.</a:t>
            </a:r>
            <a:endParaRPr lang="en-US" sz="15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¿Para qué sirve cada una?</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caja-usos-global"/>
          <p:cNvSpPr/>
          <p:nvPr/>
        </p:nvSpPr>
        <p:spPr>
          <a:xfrm>
            <a:off x="914400" y="1645920"/>
            <a:ext cx="4937760" cy="3840480"/>
          </a:xfrm>
          <a:prstGeom prst="roundRect">
            <a:avLst>
              <a:gd name="adj" fmla="val 2381"/>
            </a:avLst>
          </a:prstGeom>
          <a:solidFill>
            <a:schemeClr val="bg2"/>
          </a:solidFill>
          <a:ln w="9525">
            <a:solidFill>
              <a:srgbClr val="F2E3C8"/>
            </a:solidFill>
            <a:prstDash val="solid"/>
          </a:ln>
        </p:spPr>
      </p:sp>
      <p:sp>
        <p:nvSpPr>
          <p:cNvPr id="6" name="Text 3"/>
          <p:cNvSpPr txBox="1"/>
          <p:nvPr/>
        </p:nvSpPr>
        <p:spPr>
          <a:xfrm>
            <a:off x="1188720" y="1847088"/>
            <a:ext cx="4389120" cy="411480"/>
          </a:xfrm>
          <a:prstGeom prst="rect">
            <a:avLst/>
          </a:prstGeom>
          <a:noFill/>
          <a:ln/>
        </p:spPr>
        <p:txBody>
          <a:bodyPr wrap="square" lIns="0" tIns="0" rIns="0" bIns="0" rtlCol="0" anchor="ctr"/>
          <a:lstStyle/>
          <a:p>
            <a:pPr indent="0" marL="0">
              <a:buNone/>
            </a:pPr>
            <a:r>
              <a:rPr lang="en-US" sz="1900" b="1" dirty="0">
                <a:solidFill>
                  <a:schemeClr val="accent1"/>
                </a:solidFill>
              </a:rPr>
              <a:t>La global sirve para</a:t>
            </a:r>
            <a:endParaRPr lang="en-US" sz="1900" dirty="0"/>
          </a:p>
        </p:txBody>
      </p:sp>
      <p:sp>
        <p:nvSpPr>
          <p:cNvPr id="7" name="Text 4"/>
          <p:cNvSpPr txBox="1"/>
          <p:nvPr/>
        </p:nvSpPr>
        <p:spPr>
          <a:xfrm>
            <a:off x="1188720" y="2359152"/>
            <a:ext cx="4389120" cy="3017520"/>
          </a:xfrm>
          <a:prstGeom prst="rect">
            <a:avLst/>
          </a:prstGeom>
          <a:noFill/>
          <a:ln/>
        </p:spPr>
        <p:txBody>
          <a:bodyPr wrap="square" rtlCol="0" anchor="t"/>
          <a:lstStyle/>
          <a:p>
            <a:pPr marL="342900" indent="-342900">
              <a:spcAft>
                <a:spcPts val="900"/>
              </a:spcAft>
              <a:buSzPct val="100000"/>
              <a:buChar char="•"/>
            </a:pPr>
            <a:r>
              <a:rPr lang="en-US" sz="1400" dirty="0">
                <a:solidFill>
                  <a:schemeClr val="tx1"/>
                </a:solidFill>
              </a:rPr>
              <a:t>Controlar la estructura poblacional en estudios de asociación: sin eso aparecen asociaciones falsas.</a:t>
            </a:r>
            <a:endParaRPr lang="en-US" sz="1400" dirty="0"/>
          </a:p>
          <a:p>
            <a:pPr marL="342900" indent="-342900">
              <a:spcAft>
                <a:spcPts val="900"/>
              </a:spcAft>
              <a:buSzPct val="100000"/>
              <a:buChar char="•"/>
            </a:pPr>
            <a:r>
              <a:rPr lang="en-US" sz="1400" dirty="0">
                <a:solidFill>
                  <a:schemeClr val="tx1"/>
                </a:solidFill>
              </a:rPr>
              <a:t>Describir una cohorte antes de cualquier análisis.</a:t>
            </a:r>
            <a:endParaRPr lang="en-US" sz="1400" dirty="0"/>
          </a:p>
          <a:p>
            <a:pPr marL="342900" indent="-342900">
              <a:spcAft>
                <a:spcPts val="900"/>
              </a:spcAft>
              <a:buSzPct val="100000"/>
              <a:buChar char="•"/>
            </a:pPr>
            <a:r>
              <a:rPr lang="en-US" sz="1400" dirty="0">
                <a:solidFill>
                  <a:schemeClr val="tx1"/>
                </a:solidFill>
              </a:rPr>
              <a:t>Decidir si un panel de referencia o un puntaje de riesgo son aplicables a esa población.</a:t>
            </a:r>
            <a:endParaRPr lang="en-US" sz="1400" dirty="0"/>
          </a:p>
          <a:p>
            <a:pPr marL="342900" indent="-342900">
              <a:spcAft>
                <a:spcPts val="900"/>
              </a:spcAft>
              <a:buSzPct val="100000"/>
              <a:buChar char="•"/>
            </a:pPr>
            <a:r>
              <a:rPr lang="en-US" sz="1400" dirty="0">
                <a:solidFill>
                  <a:schemeClr val="tx1"/>
                </a:solidFill>
              </a:rPr>
              <a:t>Estudiar la historia demográfica de una población.</a:t>
            </a:r>
            <a:endParaRPr lang="en-US" sz="1400" dirty="0"/>
          </a:p>
        </p:txBody>
      </p:sp>
      <p:sp>
        <p:nvSpPr>
          <p:cNvPr id="8" name="caja-usos-local"/>
          <p:cNvSpPr/>
          <p:nvPr/>
        </p:nvSpPr>
        <p:spPr>
          <a:xfrm>
            <a:off x="6400800" y="1645920"/>
            <a:ext cx="4937760" cy="3840480"/>
          </a:xfrm>
          <a:prstGeom prst="roundRect">
            <a:avLst>
              <a:gd name="adj" fmla="val 2381"/>
            </a:avLst>
          </a:prstGeom>
          <a:solidFill>
            <a:schemeClr val="bg2"/>
          </a:solidFill>
          <a:ln w="9525">
            <a:solidFill>
              <a:srgbClr val="F2E3C8"/>
            </a:solidFill>
            <a:prstDash val="solid"/>
          </a:ln>
        </p:spPr>
      </p:sp>
      <p:sp>
        <p:nvSpPr>
          <p:cNvPr id="9" name="Text 6"/>
          <p:cNvSpPr txBox="1"/>
          <p:nvPr/>
        </p:nvSpPr>
        <p:spPr>
          <a:xfrm>
            <a:off x="6675120" y="1847088"/>
            <a:ext cx="4389120" cy="411480"/>
          </a:xfrm>
          <a:prstGeom prst="rect">
            <a:avLst/>
          </a:prstGeom>
          <a:noFill/>
          <a:ln/>
        </p:spPr>
        <p:txBody>
          <a:bodyPr wrap="square" lIns="0" tIns="0" rIns="0" bIns="0" rtlCol="0" anchor="ctr"/>
          <a:lstStyle/>
          <a:p>
            <a:pPr indent="0" marL="0">
              <a:buNone/>
            </a:pPr>
            <a:r>
              <a:rPr lang="en-US" sz="1900" b="1" dirty="0">
                <a:solidFill>
                  <a:schemeClr val="accent3"/>
                </a:solidFill>
              </a:rPr>
              <a:t>La local sirve para</a:t>
            </a:r>
            <a:endParaRPr lang="en-US" sz="1900" dirty="0"/>
          </a:p>
        </p:txBody>
      </p:sp>
      <p:sp>
        <p:nvSpPr>
          <p:cNvPr id="10" name="Text 7"/>
          <p:cNvSpPr txBox="1"/>
          <p:nvPr/>
        </p:nvSpPr>
        <p:spPr>
          <a:xfrm>
            <a:off x="6675120" y="2359152"/>
            <a:ext cx="4389120" cy="3017520"/>
          </a:xfrm>
          <a:prstGeom prst="rect">
            <a:avLst/>
          </a:prstGeom>
          <a:noFill/>
          <a:ln/>
        </p:spPr>
        <p:txBody>
          <a:bodyPr wrap="square" rtlCol="0" anchor="t"/>
          <a:lstStyle/>
          <a:p>
            <a:pPr marL="342900" indent="-342900">
              <a:spcAft>
                <a:spcPts val="900"/>
              </a:spcAft>
              <a:buSzPct val="100000"/>
              <a:buChar char="•"/>
            </a:pPr>
            <a:r>
              <a:rPr lang="en-US" sz="1400" dirty="0">
                <a:solidFill>
                  <a:schemeClr val="tx1"/>
                </a:solidFill>
              </a:rPr>
              <a:t>Saber la ancestría en un gen concreto, cuando el riesgo depende de ella. El caso típico es APOL1 y la enfermedad renal.</a:t>
            </a:r>
            <a:endParaRPr lang="en-US" sz="1400" dirty="0"/>
          </a:p>
          <a:p>
            <a:pPr marL="342900" indent="-342900">
              <a:spcAft>
                <a:spcPts val="900"/>
              </a:spcAft>
              <a:buSzPct val="100000"/>
              <a:buChar char="•"/>
            </a:pPr>
            <a:r>
              <a:rPr lang="en-US" sz="1400" dirty="0">
                <a:solidFill>
                  <a:schemeClr val="tx1"/>
                </a:solidFill>
              </a:rPr>
              <a:t>Admixture mapping: buscar regiones donde la ancestría se asocia con la enfermedad.</a:t>
            </a:r>
            <a:endParaRPr lang="en-US" sz="1400" dirty="0"/>
          </a:p>
          <a:p>
            <a:pPr marL="342900" indent="-342900">
              <a:spcAft>
                <a:spcPts val="900"/>
              </a:spcAft>
              <a:buSzPct val="100000"/>
              <a:buChar char="•"/>
            </a:pPr>
            <a:r>
              <a:rPr lang="en-US" sz="1400" dirty="0">
                <a:solidFill>
                  <a:schemeClr val="tx1"/>
                </a:solidFill>
              </a:rPr>
              <a:t>Mejorar los puntajes de riesgo poligénico en poblaciones mezcladas.</a:t>
            </a:r>
            <a:endParaRPr lang="en-US" sz="1400" dirty="0"/>
          </a:p>
          <a:p>
            <a:pPr marL="342900" indent="-342900">
              <a:spcAft>
                <a:spcPts val="900"/>
              </a:spcAft>
              <a:buSzPct val="100000"/>
              <a:buChar char="•"/>
            </a:pPr>
            <a:r>
              <a:rPr lang="en-US" sz="1400" dirty="0">
                <a:solidFill>
                  <a:schemeClr val="tx1"/>
                </a:solidFill>
              </a:rPr>
              <a:t>Controlar la calidad de la imputación en poblaciones mezcladas.</a:t>
            </a:r>
            <a:endParaRPr lang="en-US" sz="1400" dirty="0"/>
          </a:p>
        </p:txBody>
      </p:sp>
      <p:sp>
        <p:nvSpPr>
          <p:cNvPr id="11" name="Text 8"/>
          <p:cNvSpPr txBox="1"/>
          <p:nvPr/>
        </p:nvSpPr>
        <p:spPr>
          <a:xfrm>
            <a:off x="914400" y="5577840"/>
            <a:ext cx="10424160" cy="457200"/>
          </a:xfrm>
          <a:prstGeom prst="rect">
            <a:avLst/>
          </a:prstGeom>
          <a:noFill/>
          <a:ln/>
        </p:spPr>
        <p:txBody>
          <a:bodyPr wrap="square" rtlCol="0" anchor="ctr"/>
          <a:lstStyle/>
          <a:p>
            <a:pPr indent="0" marL="0">
              <a:buNone/>
            </a:pPr>
            <a:r>
              <a:rPr lang="en-US" sz="1500" i="1" dirty="0">
                <a:solidFill>
                  <a:schemeClr val="accent1"/>
                </a:solidFill>
              </a:rPr>
              <a:t>Volvemos a esto en el módulo 4 y en la sesión del 5 de diciembre, con los datos de Medellín en la mano.</a:t>
            </a:r>
            <a:endParaRPr lang="en-US" sz="1500" dirty="0"/>
          </a:p>
        </p:txBody>
      </p:sp>
      <p:sp>
        <p:nvSpPr>
          <p:cNvPr id="12" name="Text 9"/>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APOL1: Tzur S, et al. Hum Genet. 2010;128(3):345–350. doi:10.1007/s00439-010-0861-0  ·  Puntajes poligénicos: Martin AR, et al. Nat Genet. 2019;51(4):584–591. doi:10.1038/s41588-019-0379-x</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Para la sesión del sábado 14 de noviembre</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508760"/>
            <a:ext cx="10424160" cy="4572000"/>
          </a:xfrm>
          <a:prstGeom prst="rect">
            <a:avLst/>
          </a:prstGeom>
          <a:noFill/>
          <a:ln/>
        </p:spPr>
        <p:txBody>
          <a:bodyPr wrap="square" rtlCol="0" anchor="t"/>
          <a:lstStyle/>
          <a:p>
            <a:pPr marL="342900" indent="-342900">
              <a:spcAft>
                <a:spcPts val="1000"/>
              </a:spcAft>
              <a:buSzPct val="100000"/>
              <a:buChar char="•"/>
            </a:pPr>
            <a:r>
              <a:rPr lang="en-US" sz="1700" dirty="0">
                <a:solidFill>
                  <a:schemeClr val="tx1"/>
                </a:solidFill>
              </a:rPr>
              <a:t>Vamos a trabajar con 969 personas de 15 poblaciones del Proyecto 1000 Genomas y del HGDP.</a:t>
            </a:r>
            <a:endParaRPr lang="en-US" sz="1700" dirty="0"/>
          </a:p>
          <a:p>
            <a:pPr marL="342900" indent="-342900">
              <a:spcAft>
                <a:spcPts val="1000"/>
              </a:spcAft>
              <a:buSzPct val="100000"/>
              <a:buChar char="•"/>
            </a:pPr>
            <a:r>
              <a:rPr lang="en-US" sz="1700" dirty="0">
                <a:solidFill>
                  <a:schemeClr val="tx1"/>
                </a:solidFill>
              </a:rPr>
              <a:t>Veremos por dentro un archivo VCF y los archivos .bed, .bim y .fam de PLINK.</a:t>
            </a:r>
            <a:endParaRPr lang="en-US" sz="1700" dirty="0"/>
          </a:p>
          <a:p>
            <a:pPr marL="342900" indent="-342900">
              <a:spcAft>
                <a:spcPts val="1000"/>
              </a:spcAft>
              <a:buSzPct val="100000"/>
              <a:buChar char="•"/>
            </a:pPr>
            <a:r>
              <a:rPr lang="en-US" sz="1700" dirty="0">
                <a:solidFill>
                  <a:schemeClr val="tx1"/>
                </a:solidFill>
              </a:rPr>
              <a:t>Aplicaremos los filtros de calidad y la poda por LD de la que hablamos hoy.</a:t>
            </a:r>
            <a:endParaRPr lang="en-US" sz="1700" dirty="0"/>
          </a:p>
          <a:p>
            <a:pPr marL="342900" indent="-342900">
              <a:spcAft>
                <a:spcPts val="1000"/>
              </a:spcAft>
              <a:buSzPct val="100000"/>
              <a:buChar char="•"/>
            </a:pPr>
            <a:r>
              <a:rPr lang="en-US" sz="1700" dirty="0">
                <a:solidFill>
                  <a:schemeClr val="tx1"/>
                </a:solidFill>
              </a:rPr>
              <a:t>Todo corre en el navegador con Google Colab. Solo necesitas una cuenta de Google: no hay que instalar nada.</a:t>
            </a:r>
            <a:endParaRPr lang="en-US" sz="1700" dirty="0"/>
          </a:p>
        </p:txBody>
      </p:sp>
      <p:sp>
        <p:nvSpPr>
          <p:cNvPr id="6" name="caja-preparacion"/>
          <p:cNvSpPr/>
          <p:nvPr/>
        </p:nvSpPr>
        <p:spPr>
          <a:xfrm>
            <a:off x="914400" y="4572000"/>
            <a:ext cx="10424160" cy="1325880"/>
          </a:xfrm>
          <a:prstGeom prst="roundRect">
            <a:avLst>
              <a:gd name="adj" fmla="val 6897"/>
            </a:avLst>
          </a:prstGeom>
          <a:solidFill>
            <a:schemeClr val="bg2"/>
          </a:solidFill>
          <a:ln w="9525">
            <a:solidFill>
              <a:srgbClr val="F2E3C8"/>
            </a:solidFill>
            <a:prstDash val="solid"/>
          </a:ln>
        </p:spPr>
      </p:sp>
      <p:sp>
        <p:nvSpPr>
          <p:cNvPr id="7" name="Text 4"/>
          <p:cNvSpPr txBox="1"/>
          <p:nvPr/>
        </p:nvSpPr>
        <p:spPr>
          <a:xfrm>
            <a:off x="1188720" y="4572000"/>
            <a:ext cx="9875520" cy="1325880"/>
          </a:xfrm>
          <a:prstGeom prst="rect">
            <a:avLst/>
          </a:prstGeom>
          <a:noFill/>
          <a:ln/>
        </p:spPr>
        <p:txBody>
          <a:bodyPr wrap="square" rtlCol="0" anchor="ctr"/>
          <a:lstStyle/>
          <a:p>
            <a:pPr indent="0" marL="0">
              <a:buNone/>
            </a:pPr>
            <a:r>
              <a:rPr lang="en-US" sz="1600" b="1" dirty="0">
                <a:solidFill>
                  <a:schemeClr val="accent1"/>
                </a:solidFill>
              </a:rPr>
              <a:t>Antes del sábado: abre el enlace del cuaderno de la sesión 1 que está en el repositorio del curso y comprueba que te carga. Con eso basta.</a:t>
            </a:r>
            <a:endParaRPr lang="en-US" sz="1600" dirty="0"/>
          </a:p>
        </p:txBody>
      </p:sp>
      <p:sp>
        <p:nvSpPr>
          <p:cNvPr id="9" name="Text 0"/>
          <p:cNvSpPr/>
          <p:nvPr>
            <p:ph idx="101" type="body" hasCustomPrompt="1"/>
          </p:nvPr>
        </p:nvSpPr>
        <p:spPr>
          <a:xfrm>
            <a:off x="914400" y="1508760"/>
            <a:ext cx="10424160" cy="457200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arra-cierre"/>
          <p:cNvSpPr/>
          <p:nvPr/>
        </p:nvSpPr>
        <p:spPr>
          <a:xfrm>
            <a:off x="566928" y="1325880"/>
            <a:ext cx="82296" cy="1005840"/>
          </a:xfrm>
          <a:prstGeom prst="rect">
            <a:avLst/>
          </a:prstGeom>
          <a:solidFill>
            <a:schemeClr val="accent2"/>
          </a:solidFill>
          <a:ln w="12700">
            <a:solidFill>
              <a:schemeClr val="accent2"/>
            </a:solidFill>
            <a:prstDash val="solid"/>
          </a:ln>
        </p:spPr>
      </p:sp>
      <p:sp>
        <p:nvSpPr>
          <p:cNvPr id="3" name="Text 1"/>
          <p:cNvSpPr txBox="1"/>
          <p:nvPr/>
        </p:nvSpPr>
        <p:spPr>
          <a:xfrm>
            <a:off x="914400" y="1325880"/>
            <a:ext cx="9509760" cy="1005840"/>
          </a:xfrm>
          <a:prstGeom prst="rect">
            <a:avLst/>
          </a:prstGeom>
          <a:noFill/>
          <a:ln/>
        </p:spPr>
        <p:txBody>
          <a:bodyPr wrap="square" lIns="0" tIns="0" rIns="0" bIns="0" rtlCol="0" anchor="ctr"/>
          <a:lstStyle/>
          <a:p>
            <a:pPr indent="0" marL="0">
              <a:buNone/>
            </a:pPr>
            <a:r>
              <a:rPr lang="en-US" sz="4000" b="1" dirty="0">
                <a:solidFill>
                  <a:schemeClr val="accent1"/>
                </a:solidFill>
              </a:rPr>
              <a:t>Gracias</a:t>
            </a:r>
            <a:endParaRPr lang="en-US" sz="4000" dirty="0"/>
          </a:p>
        </p:txBody>
      </p:sp>
      <p:sp>
        <p:nvSpPr>
          <p:cNvPr id="4" name="Text 2"/>
          <p:cNvSpPr txBox="1"/>
          <p:nvPr/>
        </p:nvSpPr>
        <p:spPr>
          <a:xfrm>
            <a:off x="914400" y="2395728"/>
            <a:ext cx="9509760" cy="457200"/>
          </a:xfrm>
          <a:prstGeom prst="rect">
            <a:avLst/>
          </a:prstGeom>
          <a:noFill/>
          <a:ln/>
        </p:spPr>
        <p:txBody>
          <a:bodyPr wrap="square" lIns="0" tIns="0" rIns="0" bIns="0" rtlCol="0" anchor="ctr"/>
          <a:lstStyle/>
          <a:p>
            <a:pPr indent="0" marL="0">
              <a:buNone/>
            </a:pPr>
            <a:r>
              <a:rPr lang="en-US" sz="1800" dirty="0">
                <a:solidFill>
                  <a:schemeClr val="tx1"/>
                </a:solidFill>
              </a:rPr>
              <a:t>Nos vemos en la sesión práctica del sábado 14 de noviembre.</a:t>
            </a:r>
            <a:endParaRPr lang="en-US" sz="1800" dirty="0"/>
          </a:p>
        </p:txBody>
      </p:sp>
      <p:sp>
        <p:nvSpPr>
          <p:cNvPr id="5" name="caja-lecturas"/>
          <p:cNvSpPr/>
          <p:nvPr/>
        </p:nvSpPr>
        <p:spPr>
          <a:xfrm>
            <a:off x="914400" y="3154680"/>
            <a:ext cx="10424160" cy="2103120"/>
          </a:xfrm>
          <a:prstGeom prst="roundRect">
            <a:avLst>
              <a:gd name="adj" fmla="val 4348"/>
            </a:avLst>
          </a:prstGeom>
          <a:solidFill>
            <a:schemeClr val="bg2"/>
          </a:solidFill>
          <a:ln w="9525">
            <a:solidFill>
              <a:srgbClr val="F2E3C8"/>
            </a:solidFill>
            <a:prstDash val="solid"/>
          </a:ln>
        </p:spPr>
      </p:sp>
      <p:sp>
        <p:nvSpPr>
          <p:cNvPr id="6" name="Text 4"/>
          <p:cNvSpPr txBox="1"/>
          <p:nvPr/>
        </p:nvSpPr>
        <p:spPr>
          <a:xfrm>
            <a:off x="1188720" y="3319272"/>
            <a:ext cx="9875520" cy="365760"/>
          </a:xfrm>
          <a:prstGeom prst="rect">
            <a:avLst/>
          </a:prstGeom>
          <a:noFill/>
          <a:ln/>
        </p:spPr>
        <p:txBody>
          <a:bodyPr wrap="square" lIns="0" tIns="0" rIns="0" bIns="0" rtlCol="0" anchor="ctr"/>
          <a:lstStyle/>
          <a:p>
            <a:pPr indent="0" marL="0">
              <a:buNone/>
            </a:pPr>
            <a:r>
              <a:rPr lang="en-US" sz="1600" b="1" dirty="0">
                <a:solidFill>
                  <a:schemeClr val="accent1"/>
                </a:solidFill>
              </a:rPr>
              <a:t>Lecturas de este módulo</a:t>
            </a:r>
            <a:endParaRPr lang="en-US" sz="1600" dirty="0"/>
          </a:p>
        </p:txBody>
      </p:sp>
      <p:sp>
        <p:nvSpPr>
          <p:cNvPr id="7" name="Text 5"/>
          <p:cNvSpPr txBox="1"/>
          <p:nvPr/>
        </p:nvSpPr>
        <p:spPr>
          <a:xfrm>
            <a:off x="1188720" y="3703320"/>
            <a:ext cx="9875520" cy="1463040"/>
          </a:xfrm>
          <a:prstGeom prst="rect">
            <a:avLst/>
          </a:prstGeom>
          <a:noFill/>
          <a:ln/>
        </p:spPr>
        <p:txBody>
          <a:bodyPr wrap="square" rtlCol="0" anchor="t"/>
          <a:lstStyle/>
          <a:p>
            <a:pPr marL="342900" indent="-342900">
              <a:spcAft>
                <a:spcPts val="500"/>
              </a:spcAft>
              <a:buSzPct val="100000"/>
              <a:buChar char="•"/>
            </a:pPr>
            <a:r>
              <a:rPr lang="en-US" sz="1300" u="sng" dirty="0">
                <a:solidFill>
                  <a:schemeClr val="accent1"/>
                </a:solidFill>
                <a:hlinkClick r:id="rId1" invalidUrl="" action="" tgtFrame="" tooltip="Rishishwar L, et al. Ancestry, admixture and fitness in Colombian genomes. Sci Rep. 2015;5:12376.  (principal)" history="1" highlightClick="0" endSnd="0">
                  <a:extLst>
                    <a:ext uri="{A12FA001-AC4F-418D-AE19-62706E023703}">
                      <ahyp:hlinkClr xmlns:ahyp="http://schemas.microsoft.com/office/drawing/2018/hyperlinkcolor" val="tx"/>
                    </a:ext>
                  </a:extLst>
                </a:hlinkClick>
              </a:rPr>
              <a:t>Rishishwar L, et al. Ancestry, admixture and fitness in Colombian genomes. Sci Rep. 2015;5:12376.  (principal)</a:t>
            </a:r>
            <a:endParaRPr lang="en-US" sz="1300" dirty="0"/>
          </a:p>
          <a:p>
            <a:pPr marL="342900" indent="-342900">
              <a:spcAft>
                <a:spcPts val="500"/>
              </a:spcAft>
              <a:buSzPct val="100000"/>
              <a:buChar char="•"/>
            </a:pPr>
            <a:r>
              <a:rPr lang="en-US" sz="1300" u="sng" dirty="0">
                <a:solidFill>
                  <a:schemeClr val="accent1"/>
                </a:solidFill>
                <a:hlinkClick r:id="rId2" invalidUrl="" action="" tgtFrame="" tooltip="1000 Genomes Project Consortium. A global reference for human genetic variation. Nature. 2015;526(7571):68–74." history="1" highlightClick="0" endSnd="0">
                  <a:extLst>
                    <a:ext uri="{A12FA001-AC4F-418D-AE19-62706E023703}">
                      <ahyp:hlinkClr xmlns:ahyp="http://schemas.microsoft.com/office/drawing/2018/hyperlinkcolor" val="tx"/>
                    </a:ext>
                  </a:extLst>
                </a:hlinkClick>
              </a:rPr>
              <a:t>1000 Genomes Project Consortium. A global reference for human genetic variation. Nature. 2015;526(7571):68–74.</a:t>
            </a:r>
            <a:endParaRPr lang="en-US" sz="1300" dirty="0"/>
          </a:p>
          <a:p>
            <a:pPr marL="342900" indent="-342900">
              <a:spcAft>
                <a:spcPts val="500"/>
              </a:spcAft>
              <a:buSzPct val="100000"/>
              <a:buChar char="•"/>
            </a:pPr>
            <a:r>
              <a:rPr lang="en-US" sz="1300" u="sng" dirty="0">
                <a:solidFill>
                  <a:schemeClr val="accent1"/>
                </a:solidFill>
                <a:hlinkClick r:id="rId3" invalidUrl="" action="" tgtFrame="" tooltip="National Academies of Sciences, Engineering, and Medicine. Using Population Descriptors in Genetics and Genomics Research. Washington, DC: The National Academies Press; 2023." history="1" highlightClick="0" endSnd="0">
                  <a:extLst>
                    <a:ext uri="{A12FA001-AC4F-418D-AE19-62706E023703}">
                      <ahyp:hlinkClr xmlns:ahyp="http://schemas.microsoft.com/office/drawing/2018/hyperlinkcolor" val="tx"/>
                    </a:ext>
                  </a:extLst>
                </a:hlinkClick>
              </a:rPr>
              <a:t>National Academies of Sciences, Engineering, and Medicine. Using Population Descriptors in Genetics and Genomics Research. Washington, DC: The National Academies Press; 2023.</a:t>
            </a:r>
            <a:endParaRPr lang="en-US" sz="1300" dirty="0"/>
          </a:p>
        </p:txBody>
      </p:sp>
      <p:sp>
        <p:nvSpPr>
          <p:cNvPr id="8" name="Text 6"/>
          <p:cNvSpPr txBox="1"/>
          <p:nvPr/>
        </p:nvSpPr>
        <p:spPr>
          <a:xfrm>
            <a:off x="914400" y="5943600"/>
            <a:ext cx="8503920" cy="457200"/>
          </a:xfrm>
          <a:prstGeom prst="rect">
            <a:avLst/>
          </a:prstGeom>
          <a:noFill/>
          <a:ln/>
        </p:spPr>
        <p:txBody>
          <a:bodyPr wrap="square" lIns="0" tIns="0" rIns="0" bIns="0" rtlCol="0" anchor="ctr"/>
          <a:lstStyle/>
          <a:p>
            <a:pPr indent="0" marL="0">
              <a:buNone/>
            </a:pPr>
            <a:r>
              <a:rPr lang="en-US" sz="1200" dirty="0">
                <a:solidFill>
                  <a:srgbClr val="6E7899"/>
                </a:solidFill>
              </a:rPr>
              <a:t>Curso de ancestría genética · Dra. Yina Tatiana Zambrano · Asociación Colombiana de Genética Humana</a:t>
            </a:r>
            <a:endParaRPr lang="en-US" sz="1200" dirty="0"/>
          </a:p>
        </p:txBody>
      </p:sp>
      <p:pic>
        <p:nvPicPr>
          <p:cNvPr id="9" name="logo-acgh" descr="/tmp/claude-0/-home-claude/e238050a-ce3c-58bd-bb86-9554df59862c/scratchpad/marca/logo_acgh_hd.png">    </p:cNvPr>
          <p:cNvPicPr>
            <a:picLocks noChangeAspect="1"/>
          </p:cNvPicPr>
          <p:nvPr/>
        </p:nvPicPr>
        <p:blipFill>
          <a:blip r:embed="rId4"/>
          <a:stretch>
            <a:fillRect/>
          </a:stretch>
        </p:blipFill>
        <p:spPr>
          <a:xfrm>
            <a:off x="9464040" y="457200"/>
            <a:ext cx="2002536" cy="749808"/>
          </a:xfrm>
          <a:prstGeom prst="rect">
            <a:avLst/>
          </a:prstGeom>
        </p:spPr>
      </p:pic>
      <p:sp>
        <p:nvSpPr>
          <p:cNvPr id="11" name="Text 0"/>
          <p:cNvSpPr/>
          <p:nvPr>
            <p:ph idx="100" type="title" hasCustomPrompt="1"/>
          </p:nvPr>
        </p:nvSpPr>
        <p:spPr>
          <a:xfrm>
            <a:off x="914400" y="2286000"/>
            <a:ext cx="9509760" cy="1828800"/>
          </a:xfrm>
          <a:prstGeom prst="rect">
            <a:avLst/>
          </a:prstGeom>
          <a:noFill/>
          <a:ln/>
        </p:spPr>
        <p:txBody>
          <a:bodyPr wrap="square" rtlCol="0" anchor="b"/>
          <a:lstStyle/>
          <a:p>
            <a:pPr algn="l" indent="0" marL="0">
              <a:buNone/>
            </a:pPr>
            <a:endParaRPr lang="en-US" sz="3800" dirty="0"/>
          </a:p>
        </p:txBody>
      </p:sp>
      <p:sp>
        <p:nvSpPr>
          <p:cNvPr id="12" name="Text 0"/>
          <p:cNvSpPr/>
          <p:nvPr>
            <p:ph idx="101" type="body" hasCustomPrompt="1"/>
          </p:nvPr>
        </p:nvSpPr>
        <p:spPr>
          <a:xfrm>
            <a:off x="914400" y="4251960"/>
            <a:ext cx="9509760" cy="1371600"/>
          </a:xfrm>
          <a:prstGeom prst="rect">
            <a:avLst/>
          </a:prstGeom>
          <a:noFill/>
          <a:ln/>
        </p:spPr>
        <p:txBody>
          <a:bodyPr wrap="square" rtlCol="0" anchor="t"/>
          <a:lstStyle/>
          <a:p>
            <a:pPr algn="l" indent="0" marL="0">
              <a:buNone/>
            </a:pPr>
            <a:endParaRPr lang="en-US" sz="1700" dirty="0"/>
          </a:p>
        </p:txBody>
      </p:sp>
    </p:spTree>
  </p:cSld>
  <p:clrMapOvr>
    <a:masterClrMapping/>
  </p:clrMapOvr>
</p:sld>
</file>

<file path=ppt/theme/theme1.xml><?xml version="1.0" encoding="utf-8"?>
<a:theme xmlns:a="http://schemas.openxmlformats.org/drawingml/2006/main" name="ACGH Ancestria">
  <a:themeElements>
    <a:clrScheme name="ACGH Ancestria">
      <a:dk1>
        <a:srgbClr val="1F2A5A"/>
      </a:dk1>
      <a:lt1>
        <a:srgbClr val="FFFFFF"/>
      </a:lt1>
      <a:dk2>
        <a:srgbClr val="354AC0"/>
      </a:dk2>
      <a:lt2>
        <a:srgbClr val="FFF4E2"/>
      </a:lt2>
      <a:accent1>
        <a:srgbClr val="354AC0"/>
      </a:accent1>
      <a:accent2>
        <a:srgbClr val="F09700"/>
      </a:accent2>
      <a:accent3>
        <a:srgbClr val="1BAF7A"/>
      </a:accent3>
      <a:accent4>
        <a:srgbClr val="6B6B6B"/>
      </a:accent4>
      <a:accent5>
        <a:srgbClr val="FFCC83"/>
      </a:accent5>
      <a:accent6>
        <a:srgbClr val="EB6834"/>
      </a:accent6>
      <a:hlink>
        <a:srgbClr val="354AC0"/>
      </a:hlink>
      <a:folHlink>
        <a:srgbClr val="6250D6"/>
      </a:folHlink>
    </a:clrScheme>
    <a:fontScheme name="ACGH Ancestri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Modulo 1. Fundamentos de genetica poblacional y ancestria</dc:title>
  <dc:subject>Curso de ancestria genetica - ACGH</dc:subject>
  <dc:creator>Dra. Yina Tatiana Zambrano</dc:creator>
  <cp:lastModifiedBy>Dra. Yina Tatiana Zambrano</cp:lastModifiedBy>
  <cp:revision>1</cp:revision>
  <dcterms:created xsi:type="dcterms:W3CDTF">2026-10-28T16:07:33Z</dcterms:created>
  <dcterms:modified xsi:type="dcterms:W3CDTF">2026-10-28T16:07:33Z</dcterms:modified>
</cp:coreProperties>
</file>