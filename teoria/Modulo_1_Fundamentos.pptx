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o 1" id="{a4a05247-ad10-181e-7fc9-3a9ca8fea94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modulo prepara la sesion practica 1, en la que vamos a manipular datos genomicos reales. Son 5 capsulas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clave: aunque entre dos personas compartimos la enorme mayoria del genoma, en terminos absolutos hay millones de diferencias. Ese es el material del que extraemos la ancestria.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aparente contradiccion confunde a mucha gente. Hay muchisimas variantes raras en el mundo, pero cada persona individual carga sobre todo variantes comunes, porque son justamente las que estan en mucha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no nos interesa la variante en si, ni si causa algo. Nos interesa que su frecuencia sea distinta entre poblaciones. Una variante util para ancestria puede no tener ningun efecto biologico.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conviene ir despacio. El concepto de haplotipo es el puente entre el modulo 1 y el modulo 3. Si no queda claro que la herencia es por bloques, la ancestria local no tiene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poda por LD es uno de los pasos que vamos a correr y conviene que lleguen sabiendo por que existe, no solo copiando el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ultimo parrafo decirlo tal cual. Es el contexto que evita que el curso se lea como una justificacion de categorias raciales.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la muestra CLM de 1000 Genomas es de Medellin, y que el articulo de Rishishwar es colombiano y de acceso abierto. Es la lectura principal de este modulo.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vale la pena decirla despacio y es la que mas preguntas genera. Conviene dar el ejemplo de los tests comerciales de ancestria y por que sus resultados cambian segun la empresa: usan referencias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sembrada la idea para el modulo 4: APOL1 es exactamente este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el modulo recordando que la lectura principal es corta y es colombiana.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286000"/>
            <a:ext cx="9509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251960"/>
            <a:ext cx="9509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CC8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CC83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TITUL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-portada"/>
          <p:cNvSpPr/>
          <p:nvPr/>
        </p:nvSpPr>
        <p:spPr>
          <a:xfrm>
            <a:off x="566928" y="2331720"/>
            <a:ext cx="82296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2286000"/>
            <a:ext cx="950976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Módulo 1. Fundamentos de genética poblacional y ancestría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425196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CC83"/>
                </a:solidFill>
              </a:rPr>
              <a:t>Antes de la sesión del sábado 14 de noviembre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CC83"/>
                </a:solidFill>
              </a:rPr>
              <a:t>Variación humana, SNPs, haplotipos, desequilibrio de ligamiento y estructura poblacional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F0"/>
                </a:solidFill>
              </a:rPr>
              <a:t>Curso de ancestría genética · Dra. Yina Tatiana Zambrano</a:t>
            </a:r>
            <a:endParaRPr lang="en-US" sz="1300" dirty="0"/>
          </a:p>
        </p:txBody>
      </p:sp>
      <p:sp>
        <p:nvSpPr>
          <p:cNvPr id="6" name="placa-logo"/>
          <p:cNvSpPr/>
          <p:nvPr/>
        </p:nvSpPr>
        <p:spPr>
          <a:xfrm>
            <a:off x="9601200" y="5806440"/>
            <a:ext cx="1965960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925312"/>
            <a:ext cx="1600200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¿Cuánta variación genética hay entre personas?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tat-personas"/>
          <p:cNvSpPr/>
          <p:nvPr/>
        </p:nvSpPr>
        <p:spPr>
          <a:xfrm>
            <a:off x="914400" y="1737360"/>
            <a:ext cx="320040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9385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2.504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personas secuenciadas en el Proyecto 1000 Genomas</a:t>
            </a:r>
            <a:endParaRPr lang="en-US" sz="1300" dirty="0"/>
          </a:p>
        </p:txBody>
      </p:sp>
      <p:sp>
        <p:nvSpPr>
          <p:cNvPr id="8" name="stat-poblaciones"/>
          <p:cNvSpPr/>
          <p:nvPr/>
        </p:nvSpPr>
        <p:spPr>
          <a:xfrm>
            <a:off x="4526280" y="1737360"/>
            <a:ext cx="320040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19385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26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poblaciones de todo el mundo</a:t>
            </a:r>
            <a:endParaRPr lang="en-US" sz="1300" dirty="0"/>
          </a:p>
        </p:txBody>
      </p:sp>
      <p:sp>
        <p:nvSpPr>
          <p:cNvPr id="11" name="stat-variantes"/>
          <p:cNvSpPr/>
          <p:nvPr/>
        </p:nvSpPr>
        <p:spPr>
          <a:xfrm>
            <a:off x="8138160" y="1737360"/>
            <a:ext cx="320040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9385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88 M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variantes encontradas entre todas ellas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114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Pero el número que importa para entender ancestría es otro: el genoma de una persona difiere del genoma de referencia en 4,1 a 5,0 millones de sitios. Esa es la materia prima con la que trabajamos.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61447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899"/>
                </a:solidFill>
              </a:rPr>
              <a:t>Fuente: 1000 Genomes Project Consortium, Nature 2015. doi:10.1038/nature15393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La mayoría de tus variantes son comunes, no raras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el conjunto de todas las personas, la mayoría de las variantes son raras: 64 millones tienen frecuencia menor al 0,5 %, 12 millones entre 0,5 % y 5 %, y solo 8 millones superan el 5 %.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16459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Pero dentro de un solo genoma pasa lo contrario: de los 4 a 5 millones de variantes que tiene una persona, solo entre 40.000 y 200.000 (1 % a 4 %) son raras. El resto son comunes.</a:t>
            </a:r>
            <a:endParaRPr lang="en-US" sz="1600" dirty="0"/>
          </a:p>
        </p:txBody>
      </p:sp>
      <p:sp>
        <p:nvSpPr>
          <p:cNvPr id="7" name="caja-consecuencia"/>
          <p:cNvSpPr/>
          <p:nvPr/>
        </p:nvSpPr>
        <p:spPr>
          <a:xfrm>
            <a:off x="914400" y="3931920"/>
            <a:ext cx="104241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4114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eso los análisis de ancestría se hacen con variantes comunes: están presentes en muchas personas y sus frecuencias difieren de forma estable entre poblaciones. En la práctica del sábado las filtraremos con --maf 0.01.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61447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899"/>
                </a:solidFill>
              </a:rPr>
              <a:t>Fuente: 1000 Genomes Project Consortium, Nature 2015. doi:10.1038/nature15393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SNP: la unidad con la que trabajamos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00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SNP (single nucleotide polymorphism) es una posición del genoma donde las personas difieren en una sola letra.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99"/>
                </a:solidFill>
              </a:rPr>
              <a:t>Persona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 G T </a:t>
            </a:r>
            <a:endParaRPr lang="en-US" sz="1900" dirty="0"/>
          </a:p>
        </p:txBody>
      </p:sp>
      <p:sp>
        <p:nvSpPr>
          <p:cNvPr id="8" name="snp-0"/>
          <p:cNvSpPr/>
          <p:nvPr/>
        </p:nvSpPr>
        <p:spPr>
          <a:xfrm>
            <a:off x="4160520" y="2404872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60520" y="24048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A G G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035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99"/>
                </a:solidFill>
              </a:rPr>
              <a:t>Persona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377440" y="3035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 G T </a:t>
            </a:r>
            <a:endParaRPr lang="en-US" sz="1900" dirty="0"/>
          </a:p>
        </p:txBody>
      </p:sp>
      <p:sp>
        <p:nvSpPr>
          <p:cNvPr id="13" name="snp-1"/>
          <p:cNvSpPr/>
          <p:nvPr/>
        </p:nvSpPr>
        <p:spPr>
          <a:xfrm>
            <a:off x="4160520" y="3063240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0520" y="30632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035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A G G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94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99"/>
                </a:solidFill>
              </a:rPr>
              <a:t>Persona 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3694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 G T </a:t>
            </a:r>
            <a:endParaRPr lang="en-US" sz="1900" dirty="0"/>
          </a:p>
        </p:txBody>
      </p:sp>
      <p:sp>
        <p:nvSpPr>
          <p:cNvPr id="18" name="snp-2"/>
          <p:cNvSpPr/>
          <p:nvPr/>
        </p:nvSpPr>
        <p:spPr>
          <a:xfrm>
            <a:off x="4160520" y="3721608"/>
            <a:ext cx="457200" cy="402336"/>
          </a:xfrm>
          <a:prstGeom prst="roundRect">
            <a:avLst>
              <a:gd name="adj" fmla="val 13636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60520" y="3721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3694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A G G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26517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Alelo C: 2 de 3 personas → frecuencia 0,67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Alelo T: 1 de 3 personas → frecuencia 0,33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7548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La frecuencia alélica es lo único que necesitamos: toda la inferencia de ancestría se basa en que estas frecuencias difieren entre poblaciones.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Las variantes no se heredan sueltas: viajan en bloques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Cada cromosoma que recibes de tu madre no es una copia de uno de los suyos: es un mosaico de sus dos cromosomas, pegado por la recombinación.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 cada meiosis hay apenas una o dos recombinaciones por cromosoma. Entre un punto de corte y el siguiente, un tramo entero pasa íntegro.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Ese tramo que se hereda junto es un haplotipo: una combinación concreta de alelos en variantes vecinas.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Generación tras generación los haplotipos se van cortando, así que los bloques compartidos entre personas emparentadas se acortan con el tiempo.</a:t>
            </a:r>
            <a:endParaRPr lang="en-US" sz="1700" dirty="0"/>
          </a:p>
        </p:txBody>
      </p:sp>
      <p:sp>
        <p:nvSpPr>
          <p:cNvPr id="6" name="caja-haplo"/>
          <p:cNvSpPr/>
          <p:nvPr/>
        </p:nvSpPr>
        <p:spPr>
          <a:xfrm>
            <a:off x="914400" y="4572000"/>
            <a:ext cx="104241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4754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Esta es la idea que hace posible la ancestría local: si una persona mezclada heredó un tramo entero de un ancestro africano, ese tramo sigue siendo reconociblemente africano hoy.</a:t>
            </a:r>
            <a:endParaRPr lang="en-US" sz="16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Desequilibrio de ligamiento (LD)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 dos variantes vecinas se heredan casi siempre juntas, conocer el alelo de una predice el de la otra. Eso es desequilibrio de ligamiento.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 mide con r²: va de 0 (independientes) a 1 (una predice perfectamente a la otra).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 LD decae con la distancia física, pero no de forma uniforme: hay zonas del genoma con mucha recombinación y zonas con muy poca.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Consecuencia práctica: muchas variantes vecinas son información repetida.</a:t>
            </a:r>
            <a:endParaRPr lang="en-US" sz="1700" dirty="0"/>
          </a:p>
        </p:txBody>
      </p:sp>
      <p:sp>
        <p:nvSpPr>
          <p:cNvPr id="6" name="caja-ld"/>
          <p:cNvSpPr/>
          <p:nvPr/>
        </p:nvSpPr>
        <p:spPr>
          <a:xfrm>
            <a:off x="914400" y="4480560"/>
            <a:ext cx="104241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46634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PCA y ADMIXTURE suponen que las variantes son independientes. Por eso, antes de correrlos, se hace una poda por LD: se descartan las variantes que repiten información, para que ninguna región del genoma pese de más. Lo haremos el sábado con --indep-pairwise.</a:t>
            </a:r>
            <a:endParaRPr lang="en-US" sz="16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¿Por qué difieren las frecuencias entre poblaciones?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ausa-0"/>
          <p:cNvSpPr/>
          <p:nvPr/>
        </p:nvSpPr>
        <p:spPr>
          <a:xfrm>
            <a:off x="9144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81328" y="169164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Deriva genética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207568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cada generación las frecuencias cambian un poco por azar. En poblaciones pequeñas, mucho.</a:t>
            </a:r>
            <a:endParaRPr lang="en-US" sz="1400" dirty="0"/>
          </a:p>
        </p:txBody>
      </p:sp>
      <p:sp>
        <p:nvSpPr>
          <p:cNvPr id="8" name="causa-1"/>
          <p:cNvSpPr/>
          <p:nvPr/>
        </p:nvSpPr>
        <p:spPr>
          <a:xfrm>
            <a:off x="6309360" y="17556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76288" y="169164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Aislamiento y migración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76288" y="207568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Poblaciones separadas acumulan diferencias; el flujo de personas las vuelve a acercar.</a:t>
            </a:r>
            <a:endParaRPr lang="en-US" sz="1400" dirty="0"/>
          </a:p>
        </p:txBody>
      </p:sp>
      <p:sp>
        <p:nvSpPr>
          <p:cNvPr id="11" name="causa-2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81328" y="329184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Efecto fundador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367588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grupo pequeño que funda una población nueva lleva solo una parte de la variación original.</a:t>
            </a:r>
            <a:endParaRPr lang="en-US" sz="1400" dirty="0"/>
          </a:p>
        </p:txBody>
      </p:sp>
      <p:sp>
        <p:nvSpPr>
          <p:cNvPr id="14" name="causa-3"/>
          <p:cNvSpPr/>
          <p:nvPr/>
        </p:nvSpPr>
        <p:spPr>
          <a:xfrm>
            <a:off x="6309360" y="335584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76288" y="329184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Selección natural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876288" y="367588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 diferencias en unas pocas regiones del genoma, no el patrón general.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5074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Casi toda la variación genética humana está dentro de las poblaciones, no entre ellas. Las diferencias entre continentes son reales y medibles, pero pequeñas comparadas con la variación entre dos personas de la misma población.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Poblaciones mezcladas: el caso latinoamericano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Desde el siglo XVI confluyen en América tres grupos que llevaban milenios separados: pueblos nativos americanos, europeos y africanos.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 mezcla fue reciente en términos evolutivos: unas 15 a 20 generaciones. Los bloques de ancestría todavía son largos y fáciles de reconocer.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Fue también una mezcla sesgada por sexo: en Colombia, la ancestría europea entra sobre todo por vía paterna y la nativa americana por vía materna.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 60 genomas de Medellín, el promedio es 74,6 % de ancestría europea, 18,1 % nativa americana y 7,3 % africana, con mucha variación entre personas.</a:t>
            </a:r>
            <a:endParaRPr lang="en-US" sz="1700" dirty="0"/>
          </a:p>
        </p:txBody>
      </p:sp>
      <p:sp>
        <p:nvSpPr>
          <p:cNvPr id="6" name="caja-clm"/>
          <p:cNvSpPr/>
          <p:nvPr/>
        </p:nvSpPr>
        <p:spPr>
          <a:xfrm>
            <a:off x="914400" y="4663440"/>
            <a:ext cx="104241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4846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Esas 60 personas de Medellín son exactamente las que vamos a analizar en las sesiones 3 y 4 del curso.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61447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899"/>
                </a:solidFill>
              </a:rPr>
              <a:t>Fuente: Rishishwar et al., Scientific Reports 2015;5:12376. doi:10.1038/srep12376</a:t>
            </a:r>
            <a:endParaRPr lang="en-US" sz="11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Ancestría genética: qué es y qué no es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aja-es"/>
          <p:cNvSpPr/>
          <p:nvPr/>
        </p:nvSpPr>
        <p:spPr>
          <a:xfrm>
            <a:off x="914400" y="1691640"/>
            <a:ext cx="493776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Qué sí 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46888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estimación estadística de qué proporción del genoma de una persona se parece más a unas poblaciones de referencia que a otras.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número continuo, no una categoría.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Algo que depende por completo de qué referencias elegimos.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variable útil para controlar confusión en estudios genéticos.</a:t>
            </a:r>
            <a:endParaRPr lang="en-US" sz="1500" dirty="0"/>
          </a:p>
        </p:txBody>
      </p:sp>
      <p:sp>
        <p:nvSpPr>
          <p:cNvPr id="8" name="caja-noes"/>
          <p:cNvSpPr/>
          <p:nvPr/>
        </p:nvSpPr>
        <p:spPr>
          <a:xfrm>
            <a:off x="6400800" y="1691640"/>
            <a:ext cx="493776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Qué no 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46888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es raza: las categorías raciales son construcciones sociales y no se corresponden con la variación genética.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es nacionalidad ni identidad: una persona puede sentirse de un lugar y tener otra composición genética.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es un árbol genealógico: no dice de qué personas desciende, sino a qué poblaciones se parece.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Dos preguntas distintas: global y local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aja-global"/>
          <p:cNvSpPr/>
          <p:nvPr/>
        </p:nvSpPr>
        <p:spPr>
          <a:xfrm>
            <a:off x="914400" y="173736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Ancestría global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5146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¿Qué proporción del genoma de esta persona viene de cada población ancestral?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número por persona y por componente. Lo veremos con PCA y ADMIXTURE en el módulo 2 y la sesión 2.</a:t>
            </a:r>
            <a:endParaRPr lang="en-US" sz="1500" dirty="0"/>
          </a:p>
        </p:txBody>
      </p:sp>
      <p:sp>
        <p:nvSpPr>
          <p:cNvPr id="8" name="caja-local"/>
          <p:cNvSpPr/>
          <p:nvPr/>
        </p:nvSpPr>
        <p:spPr>
          <a:xfrm>
            <a:off x="6400800" y="173736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Ancestría local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5146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¿De qué población viene cada tramo de cada cromosoma de esta persona?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mosaico por cada uno de sus dos juegos de cromosomas. Lo veremos con RFMix en el módulo 3 y la sesión 3.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2120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La global es el promedio de la local. Pero el promedio esconde justo lo que importa en clínica: saber que alguien tiene 7 % de ancestría africana no dice si esa ancestría está, o no, en el gen que te interesa.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Para la sesión del sábado 14 de noviembre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Vamos a trabajar con 969 personas de 15 poblaciones del Proyecto 1000 Genomas y del HGDP.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Veremos por dentro un archivo VCF y los archivos .bed, .bim y .fam de PLINK.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Aplicaremos los filtros de calidad y la poda por LD de la que hablamos hoy.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Todo corre en el navegador con Google Colab. Solo necesitas una cuenta de Google.</a:t>
            </a:r>
            <a:endParaRPr lang="en-US" sz="1700" dirty="0"/>
          </a:p>
        </p:txBody>
      </p:sp>
      <p:sp>
        <p:nvSpPr>
          <p:cNvPr id="6" name="caja-lecturas"/>
          <p:cNvSpPr/>
          <p:nvPr/>
        </p:nvSpPr>
        <p:spPr>
          <a:xfrm>
            <a:off x="914400" y="4206240"/>
            <a:ext cx="1042416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4370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Lecturas de este módulo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4754880"/>
            <a:ext cx="9875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Rishishwar et al. Ancestry, admixture and fitness in Colombian genomes. Sci Rep 2015;5:12376 (principal)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1000 Genomes Project Consortium. A global reference for human genetic variation. Nature 2015;526:68–74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Bergström et al. Insights into human genetic variation... Science 2020;367:eaay5012</a:t>
            </a:r>
            <a:endParaRPr lang="en-US" sz="13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GH Ancestria">
  <a:themeElements>
    <a:clrScheme name="ACGH Ancestria">
      <a:dk1>
        <a:srgbClr val="1F2A5A"/>
      </a:dk1>
      <a:lt1>
        <a:srgbClr val="FFFAF0"/>
      </a:lt1>
      <a:dk2>
        <a:srgbClr val="354AC0"/>
      </a:dk2>
      <a:lt2>
        <a:srgbClr val="FFF2DC"/>
      </a:lt2>
      <a:accent1>
        <a:srgbClr val="354AC0"/>
      </a:accent1>
      <a:accent2>
        <a:srgbClr val="F09700"/>
      </a:accent2>
      <a:accent3>
        <a:srgbClr val="1BAF7A"/>
      </a:accent3>
      <a:accent4>
        <a:srgbClr val="6B6B6B"/>
      </a:accent4>
      <a:accent5>
        <a:srgbClr val="FFCC83"/>
      </a:accent5>
      <a:accent6>
        <a:srgbClr val="EB6834"/>
      </a:accent6>
      <a:hlink>
        <a:srgbClr val="354AC0"/>
      </a:hlink>
      <a:folHlink>
        <a:srgbClr val="6250D6"/>
      </a:folHlink>
    </a:clrScheme>
    <a:fontScheme name="ACGH Ancestr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1. Fundamentos de genetica poblacional y ancestria</dc:title>
  <dc:subject>Curso de ancestria genetica - ACGH</dc:subject>
  <dc:creator>Dra. Yina Tatiana Zambrano</dc:creator>
  <cp:lastModifiedBy>Dra. Yina Tatiana Zambrano</cp:lastModifiedBy>
  <cp:revision>1</cp:revision>
  <dcterms:created xsi:type="dcterms:W3CDTF">2026-10-28T14:43:32Z</dcterms:created>
  <dcterms:modified xsi:type="dcterms:W3CDTF">2026-10-28T14:43:32Z</dcterms:modified>
</cp:coreProperties>
</file>