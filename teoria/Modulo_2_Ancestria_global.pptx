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o 2" id="{e74586ba-dcd3-8bf5-6e42-2969f39364ec}">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Modulo 2. Prepara la sesion practica donde corremos PCA y ADMIXTURE.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del curso es deliberado: primero PCA, que no impone modelo, y despues ADMIXTURE. Si uno corre ADMIXTURE primero, tiende a creerse el resultado sin cuestionar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grafico real que ellos van a producir el sabado. Senalar que ACB y ASW caen entre Africa y Europa, PUR cerca de Europa, y MXL entre Europa y los nativos americanos.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pregunta por que no usar mas PCs: en estudios de asociacion se suelen incluir 10 o 20 como covariables justamente para capturar estructura fina.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archivos de salida van a aparecer tal cual en la practica, asi que conviene que lleguen sabiendo que es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grafico que van a producir el sabado. Detenerse en que el orden de los componentes cambia entre corridas, por eso el cuaderno los nombra de forma automatica.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corazon del modulo 2. El articulo de Lawson muestra con simulaciones que graficos identicos pueden venir de historias demograficas opuestas. Si solo leen un articulo del curso, que sea 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286000"/>
            <a:ext cx="9509760" cy="18288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 </a:t>
            </a:r>
            <a:endParaRPr lang="en-US" sz="3800" dirty="0"/>
          </a:p>
        </p:txBody>
      </p:sp>
      <p:sp>
        <p:nvSpPr>
          <p:cNvPr id="3" name="Text 0"/>
          <p:cNvSpPr/>
          <p:nvPr>
            <p:ph idx="101" type="body" hasCustomPrompt="1"/>
          </p:nvPr>
        </p:nvSpPr>
        <p:spPr>
          <a:xfrm>
            <a:off x="914400" y="4251960"/>
            <a:ext cx="9509760" cy="1371600"/>
          </a:xfrm>
          <a:prstGeom prst="rect">
            <a:avLst/>
          </a:prstGeom>
          <a:noFill/>
          <a:ln/>
        </p:spPr>
        <p:txBody>
          <a:bodyPr wrap="square" rtlCol="0"/>
          <a:lstStyle>
            <a:lvl1pPr algn="l" indent="0" marL="0">
              <a:buNone/>
              <a:defRPr lang="en-US" sz="1700" dirty="0">
                <a:solidFill>
                  <a:srgbClr val="FFCC83"/>
                </a:solidFill>
              </a:defRPr>
            </a:lvl1pPr>
          </a:lstStyle>
          <a:p>
            <a:pPr algn="l" indent="0" marL="0">
              <a:buNone/>
            </a:pPr>
            <a:r>
              <a:rPr lang="en-US" sz="1700" dirty="0">
                <a:solidFill>
                  <a:srgbClr val="FFCC83"/>
                </a:solidFill>
              </a:rPr>
              <a:t> </a:t>
            </a: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457200"/>
            <a:ext cx="10424160" cy="86868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r>
              <a:rPr lang="en-US" sz="3000" b="1" dirty="0">
                <a:solidFill>
                  <a:schemeClr val="accent1"/>
                </a:solidFill>
              </a:rPr>
              <a:t> </a:t>
            </a:r>
            <a:endParaRPr lang="en-US" sz="3000" dirty="0"/>
          </a:p>
        </p:txBody>
      </p:sp>
      <p:sp>
        <p:nvSpPr>
          <p:cNvPr id="3" name="Text 0"/>
          <p:cNvSpPr/>
          <p:nvPr>
            <p:ph idx="101" type="body" hasCustomPrompt="1"/>
          </p:nvPr>
        </p:nvSpPr>
        <p:spPr>
          <a:xfrm>
            <a:off x="914400" y="1508760"/>
            <a:ext cx="10424160" cy="4572000"/>
          </a:xfrm>
          <a:prstGeom prst="rect">
            <a:avLst/>
          </a:prstGeom>
          <a:noFill/>
          <a:ln/>
        </p:spPr>
        <p:txBody>
          <a:bodyPr wrap="square" rtlCol="0"/>
          <a:lstStyle>
            <a:lvl1pPr algn="l" indent="0" marL="0">
              <a:buNone/>
              <a:defRPr lang="en-US" sz="1700" dirty="0">
                <a:solidFill>
                  <a:schemeClr val="tx1"/>
                </a:solidFill>
              </a:defRPr>
            </a:lvl1pPr>
          </a:lstStyle>
          <a:p>
            <a:pPr algn="l" indent="0" marL="0">
              <a:buNone/>
            </a:pP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LOTITUL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457200"/>
            <a:ext cx="10424160" cy="86868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r>
              <a:rPr lang="en-US" sz="3000" b="1" dirty="0">
                <a:solidFill>
                  <a:schemeClr val="accent1"/>
                </a:solidFill>
              </a:rPr>
              <a:t> </a:t>
            </a:r>
            <a:endParaRPr lang="en-US" sz="30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arra-portada"/>
          <p:cNvSpPr/>
          <p:nvPr/>
        </p:nvSpPr>
        <p:spPr>
          <a:xfrm>
            <a:off x="566928" y="2331720"/>
            <a:ext cx="82296" cy="1737360"/>
          </a:xfrm>
          <a:prstGeom prst="rect">
            <a:avLst/>
          </a:prstGeom>
          <a:solidFill>
            <a:schemeClr val="accent2"/>
          </a:solidFill>
          <a:ln w="12700">
            <a:solidFill>
              <a:schemeClr val="accent2"/>
            </a:solidFill>
            <a:prstDash val="solid"/>
          </a:ln>
        </p:spPr>
      </p:sp>
      <p:sp>
        <p:nvSpPr>
          <p:cNvPr id="3" name="Text 0"/>
          <p:cNvSpPr/>
          <p:nvPr>
            <p:ph idx="100" type="title" hasCustomPrompt="1"/>
          </p:nvPr>
        </p:nvSpPr>
        <p:spPr>
          <a:xfrm>
            <a:off x="914400" y="2286000"/>
            <a:ext cx="9509760" cy="1828800"/>
          </a:xfrm>
          <a:prstGeom prst="rect">
            <a:avLst/>
          </a:prstGeom>
          <a:noFill/>
          <a:ln/>
        </p:spPr>
        <p:txBody>
          <a:bodyPr wrap="square" rtlCol="0" anchor="b"/>
          <a:lstStyle/>
          <a:p>
            <a:pPr algn="l" indent="0" marL="0">
              <a:buNone/>
            </a:pPr>
            <a:r>
              <a:rPr lang="en-US" sz="3800" b="1" dirty="0">
                <a:solidFill>
                  <a:schemeClr val="bg1"/>
                </a:solidFill>
              </a:rPr>
              <a:t>Módulo 2. Ancestría global</a:t>
            </a:r>
            <a:endParaRPr lang="en-US" sz="3800" dirty="0"/>
          </a:p>
        </p:txBody>
      </p:sp>
      <p:sp>
        <p:nvSpPr>
          <p:cNvPr id="4" name="Text 0"/>
          <p:cNvSpPr/>
          <p:nvPr>
            <p:ph idx="101" type="body" hasCustomPrompt="1"/>
          </p:nvPr>
        </p:nvSpPr>
        <p:spPr>
          <a:xfrm>
            <a:off x="914400" y="4251960"/>
            <a:ext cx="9509760" cy="1371600"/>
          </a:xfrm>
          <a:prstGeom prst="rect">
            <a:avLst/>
          </a:prstGeom>
          <a:noFill/>
          <a:ln/>
        </p:spPr>
        <p:txBody>
          <a:bodyPr wrap="square" rtlCol="0" anchor="t"/>
          <a:lstStyle/>
          <a:p>
            <a:pPr algn="l" indent="0" marL="0">
              <a:buNone/>
            </a:pPr>
            <a:r>
              <a:rPr lang="en-US" sz="1700" dirty="0">
                <a:solidFill>
                  <a:srgbClr val="FFCC83"/>
                </a:solidFill>
              </a:rPr>
              <a:t>Antes de la sesión del sábado 21 de noviembre</a:t>
            </a:r>
            <a:endParaRPr lang="en-US" sz="1700" dirty="0"/>
          </a:p>
          <a:p>
            <a:pPr algn="l" indent="0" marL="0">
              <a:buNone/>
            </a:pPr>
            <a:r>
              <a:rPr lang="en-US" sz="1700" dirty="0">
                <a:solidFill>
                  <a:srgbClr val="FFCC83"/>
                </a:solidFill>
              </a:rPr>
              <a:t>PCA, métodos de clustering, ADMIXTURE e interpretación de los componentes</a:t>
            </a:r>
            <a:endParaRPr lang="en-US" sz="1700" dirty="0"/>
          </a:p>
        </p:txBody>
      </p:sp>
      <p:sp>
        <p:nvSpPr>
          <p:cNvPr id="5" name="Text 3"/>
          <p:cNvSpPr txBox="1"/>
          <p:nvPr/>
        </p:nvSpPr>
        <p:spPr>
          <a:xfrm>
            <a:off x="914400" y="5943600"/>
            <a:ext cx="7315200" cy="457200"/>
          </a:xfrm>
          <a:prstGeom prst="rect">
            <a:avLst/>
          </a:prstGeom>
          <a:noFill/>
          <a:ln/>
        </p:spPr>
        <p:txBody>
          <a:bodyPr wrap="square" lIns="0" tIns="0" rIns="0" bIns="0" rtlCol="0" anchor="ctr"/>
          <a:lstStyle/>
          <a:p>
            <a:pPr indent="0" marL="0">
              <a:buNone/>
            </a:pPr>
            <a:r>
              <a:rPr lang="en-US" sz="1300" dirty="0">
                <a:solidFill>
                  <a:srgbClr val="C9D0F0"/>
                </a:solidFill>
              </a:rPr>
              <a:t>Curso de ancestría genética · Dra. Yina Tatiana Zambrano</a:t>
            </a:r>
            <a:endParaRPr lang="en-US" sz="1300" dirty="0"/>
          </a:p>
        </p:txBody>
      </p:sp>
      <p:sp>
        <p:nvSpPr>
          <p:cNvPr id="6" name="placa-logo"/>
          <p:cNvSpPr/>
          <p:nvPr/>
        </p:nvSpPr>
        <p:spPr>
          <a:xfrm>
            <a:off x="9601200" y="5806440"/>
            <a:ext cx="1965960" cy="841248"/>
          </a:xfrm>
          <a:prstGeom prst="roundRect">
            <a:avLst>
              <a:gd name="adj" fmla="val 8696"/>
            </a:avLst>
          </a:prstGeom>
          <a:solidFill>
            <a:schemeClr val="bg1"/>
          </a:solidFill>
          <a:ln w="12700">
            <a:solidFill>
              <a:schemeClr val="bg1"/>
            </a:solidFill>
            <a:prstDash val="solid"/>
          </a:ln>
        </p:spPr>
      </p:sp>
      <p:pic>
        <p:nvPicPr>
          <p:cNvPr id="7" name="logo-acgh" descr="/tmp/claude-0/-home-claude/e238050a-ce3c-58bd-bb86-9554df59862c/scratchpad/marca/logo_acgh_hd.png">    </p:cNvPr>
          <p:cNvPicPr>
            <a:picLocks noChangeAspect="1"/>
          </p:cNvPicPr>
          <p:nvPr/>
        </p:nvPicPr>
        <p:blipFill>
          <a:blip r:embed="rId1"/>
          <a:stretch>
            <a:fillRect/>
          </a:stretch>
        </p:blipFill>
        <p:spPr>
          <a:xfrm>
            <a:off x="9784080" y="5925312"/>
            <a:ext cx="1600200" cy="6035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El problema: decenas de miles de variantes por persona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508760"/>
            <a:ext cx="1042416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Después del control de calidad nos quedan casi 60.000 variantes en cada una de las 969 personas.</a:t>
            </a:r>
            <a:endParaRPr lang="en-US" sz="1700" dirty="0"/>
          </a:p>
          <a:p>
            <a:pPr marL="342900" indent="-342900">
              <a:spcAft>
                <a:spcPts val="1000"/>
              </a:spcAft>
              <a:buSzPct val="100000"/>
              <a:buChar char="•"/>
            </a:pPr>
            <a:r>
              <a:rPr lang="en-US" sz="1700" dirty="0">
                <a:solidFill>
                  <a:schemeClr val="tx1"/>
                </a:solidFill>
              </a:rPr>
              <a:t>Nadie puede mirar esa tabla y ver estructura poblacional. Hace falta resumirla.</a:t>
            </a:r>
            <a:endParaRPr lang="en-US" sz="1700" dirty="0"/>
          </a:p>
          <a:p>
            <a:pPr marL="342900" indent="-342900">
              <a:spcAft>
                <a:spcPts val="1000"/>
              </a:spcAft>
              <a:buSzPct val="100000"/>
              <a:buChar char="•"/>
            </a:pPr>
            <a:r>
              <a:rPr lang="en-US" sz="1700" dirty="0">
                <a:solidFill>
                  <a:schemeClr val="tx1"/>
                </a:solidFill>
              </a:rPr>
              <a:t>Hay dos familias de métodos, y conviene usar las dos porque responden cosas distintas.</a:t>
            </a:r>
            <a:endParaRPr lang="en-US" sz="1700" dirty="0"/>
          </a:p>
        </p:txBody>
      </p:sp>
      <p:sp>
        <p:nvSpPr>
          <p:cNvPr id="6" name="caja-pca"/>
          <p:cNvSpPr/>
          <p:nvPr/>
        </p:nvSpPr>
        <p:spPr>
          <a:xfrm>
            <a:off x="914400" y="3657600"/>
            <a:ext cx="4937760" cy="2103120"/>
          </a:xfrm>
          <a:prstGeom prst="roundRect">
            <a:avLst>
              <a:gd name="adj" fmla="val 4348"/>
            </a:avLst>
          </a:prstGeom>
          <a:solidFill>
            <a:schemeClr val="bg2"/>
          </a:solidFill>
          <a:ln w="9525">
            <a:solidFill>
              <a:srgbClr val="F2E3C8"/>
            </a:solidFill>
            <a:prstDash val="solid"/>
          </a:ln>
        </p:spPr>
      </p:sp>
      <p:sp>
        <p:nvSpPr>
          <p:cNvPr id="7" name="Text 4"/>
          <p:cNvSpPr txBox="1"/>
          <p:nvPr/>
        </p:nvSpPr>
        <p:spPr>
          <a:xfrm>
            <a:off x="1188720" y="3840480"/>
            <a:ext cx="4389120" cy="411480"/>
          </a:xfrm>
          <a:prstGeom prst="rect">
            <a:avLst/>
          </a:prstGeom>
          <a:noFill/>
          <a:ln/>
        </p:spPr>
        <p:txBody>
          <a:bodyPr wrap="square" lIns="0" tIns="0" rIns="0" bIns="0" rtlCol="0" anchor="ctr"/>
          <a:lstStyle/>
          <a:p>
            <a:pPr indent="0" marL="0">
              <a:buNone/>
            </a:pPr>
            <a:r>
              <a:rPr lang="en-US" sz="1900" b="1" dirty="0">
                <a:solidFill>
                  <a:schemeClr val="accent1"/>
                </a:solidFill>
              </a:rPr>
              <a:t>PCA</a:t>
            </a:r>
            <a:endParaRPr lang="en-US" sz="1900" dirty="0"/>
          </a:p>
        </p:txBody>
      </p:sp>
      <p:sp>
        <p:nvSpPr>
          <p:cNvPr id="8" name="Text 5"/>
          <p:cNvSpPr txBox="1"/>
          <p:nvPr/>
        </p:nvSpPr>
        <p:spPr>
          <a:xfrm>
            <a:off x="1188720" y="4297680"/>
            <a:ext cx="4389120" cy="1280160"/>
          </a:xfrm>
          <a:prstGeom prst="rect">
            <a:avLst/>
          </a:prstGeom>
          <a:noFill/>
          <a:ln/>
        </p:spPr>
        <p:txBody>
          <a:bodyPr wrap="square" rtlCol="0" anchor="t"/>
          <a:lstStyle/>
          <a:p>
            <a:pPr indent="0" marL="0">
              <a:buNone/>
            </a:pPr>
            <a:r>
              <a:rPr lang="en-US" sz="1500" dirty="0">
                <a:solidFill>
                  <a:schemeClr val="tx1"/>
                </a:solidFill>
              </a:rPr>
              <a:t>Resume sin suponer nada. No hay que decirle cuántas poblaciones ancestrales hay. Muestra la estructura tal como está en los datos.</a:t>
            </a:r>
            <a:endParaRPr lang="en-US" sz="1500" dirty="0"/>
          </a:p>
        </p:txBody>
      </p:sp>
      <p:sp>
        <p:nvSpPr>
          <p:cNvPr id="9" name="caja-adm"/>
          <p:cNvSpPr/>
          <p:nvPr/>
        </p:nvSpPr>
        <p:spPr>
          <a:xfrm>
            <a:off x="6400800" y="3657600"/>
            <a:ext cx="4937760" cy="2103120"/>
          </a:xfrm>
          <a:prstGeom prst="roundRect">
            <a:avLst>
              <a:gd name="adj" fmla="val 4348"/>
            </a:avLst>
          </a:prstGeom>
          <a:solidFill>
            <a:schemeClr val="bg2"/>
          </a:solidFill>
          <a:ln w="9525">
            <a:solidFill>
              <a:srgbClr val="F2E3C8"/>
            </a:solidFill>
            <a:prstDash val="solid"/>
          </a:ln>
        </p:spPr>
      </p:sp>
      <p:sp>
        <p:nvSpPr>
          <p:cNvPr id="10" name="Text 7"/>
          <p:cNvSpPr txBox="1"/>
          <p:nvPr/>
        </p:nvSpPr>
        <p:spPr>
          <a:xfrm>
            <a:off x="6675120" y="3840480"/>
            <a:ext cx="4389120" cy="411480"/>
          </a:xfrm>
          <a:prstGeom prst="rect">
            <a:avLst/>
          </a:prstGeom>
          <a:noFill/>
          <a:ln/>
        </p:spPr>
        <p:txBody>
          <a:bodyPr wrap="square" lIns="0" tIns="0" rIns="0" bIns="0" rtlCol="0" anchor="ctr"/>
          <a:lstStyle/>
          <a:p>
            <a:pPr indent="0" marL="0">
              <a:buNone/>
            </a:pPr>
            <a:r>
              <a:rPr lang="en-US" sz="1900" b="1" dirty="0">
                <a:solidFill>
                  <a:schemeClr val="accent3"/>
                </a:solidFill>
              </a:rPr>
              <a:t>ADMIXTURE</a:t>
            </a:r>
            <a:endParaRPr lang="en-US" sz="1900" dirty="0"/>
          </a:p>
        </p:txBody>
      </p:sp>
      <p:sp>
        <p:nvSpPr>
          <p:cNvPr id="11" name="Text 8"/>
          <p:cNvSpPr txBox="1"/>
          <p:nvPr/>
        </p:nvSpPr>
        <p:spPr>
          <a:xfrm>
            <a:off x="6675120" y="4297680"/>
            <a:ext cx="4389120" cy="1280160"/>
          </a:xfrm>
          <a:prstGeom prst="rect">
            <a:avLst/>
          </a:prstGeom>
          <a:noFill/>
          <a:ln/>
        </p:spPr>
        <p:txBody>
          <a:bodyPr wrap="square" rtlCol="0" anchor="t"/>
          <a:lstStyle/>
          <a:p>
            <a:pPr indent="0" marL="0">
              <a:buNone/>
            </a:pPr>
            <a:r>
              <a:rPr lang="en-US" sz="1500" dirty="0">
                <a:solidFill>
                  <a:schemeClr val="tx1"/>
                </a:solidFill>
              </a:rPr>
              <a:t>Supone un modelo: K poblaciones ancestrales. A cambio, da un número interpretable: el porcentaje de cada ancestría.</a:t>
            </a:r>
            <a:endParaRPr lang="en-US" sz="1500" dirty="0"/>
          </a:p>
        </p:txBody>
      </p:sp>
      <p:sp>
        <p:nvSpPr>
          <p:cNvPr id="13" name="Text 0"/>
          <p:cNvSpPr/>
          <p:nvPr>
            <p:ph idx="101" type="body" hasCustomPrompt="1"/>
          </p:nvPr>
        </p:nvSpPr>
        <p:spPr>
          <a:xfrm>
            <a:off x="914400" y="1508760"/>
            <a:ext cx="10424160" cy="4572000"/>
          </a:xfrm>
          <a:prstGeom prst="rect">
            <a:avLst/>
          </a:prstGeom>
          <a:noFill/>
          <a:ln/>
        </p:spPr>
        <p:txBody>
          <a:bodyPr wrap="square" rtlCol="0" anchor="t"/>
          <a:lstStyle/>
          <a:p>
            <a:pPr algn="l" indent="0" marL="0">
              <a:buNone/>
            </a:pP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PCA: buscar los ejes donde la gente más se separa</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645920"/>
            <a:ext cx="5303520" cy="2926080"/>
          </a:xfrm>
          <a:prstGeom prst="rect">
            <a:avLst/>
          </a:prstGeom>
          <a:noFill/>
          <a:ln/>
        </p:spPr>
        <p:txBody>
          <a:bodyPr wrap="square" rtlCol="0" anchor="t"/>
          <a:lstStyle/>
          <a:p>
            <a:pPr indent="0" marL="0">
              <a:buNone/>
            </a:pPr>
            <a:r>
              <a:rPr lang="en-US" sz="1600" dirty="0">
                <a:solidFill>
                  <a:schemeClr val="tx1"/>
                </a:solidFill>
              </a:rPr>
              <a:t>La idea en una frase: entre todas las formas posibles de proyectar a las personas sobre un eje, el PCA busca aquella en la que quedan lo más separadas posible. Ese es el primer componente (PC1). El segundo hace lo mismo con lo que queda.</a:t>
            </a:r>
            <a:endParaRPr lang="en-US" sz="1600" dirty="0"/>
          </a:p>
          <a:p>
            <a:pPr indent="0" marL="0">
              <a:buNone/>
            </a:pPr>
            <a:endParaRPr lang="en-US" sz="1600" dirty="0"/>
          </a:p>
          <a:p>
            <a:pPr indent="0" marL="0">
              <a:buNone/>
            </a:pPr>
            <a:r>
              <a:rPr lang="en-US" sz="1600" dirty="0">
                <a:solidFill>
                  <a:schemeClr val="tx1"/>
                </a:solidFill>
              </a:rPr>
              <a:t>No usa las etiquetas de población: no sabe de dónde es nadie. Si las personas se agrupan por continente en el gráfico, es porque esa estructura está en los genomas.</a:t>
            </a:r>
            <a:endParaRPr lang="en-US" sz="1600" dirty="0"/>
          </a:p>
        </p:txBody>
      </p:sp>
      <p:pic>
        <p:nvPicPr>
          <p:cNvPr id="6" name="figura-pca" descr="/tmp/claude-0/-home-claude/e238050a-ce3c-58bd-bb86-9554df59862c/scratchpad/figs/pca.png">    </p:cNvPr>
          <p:cNvPicPr>
            <a:picLocks noChangeAspect="1"/>
          </p:cNvPicPr>
          <p:nvPr/>
        </p:nvPicPr>
        <p:blipFill>
          <a:blip r:embed="rId2"/>
          <a:stretch>
            <a:fillRect/>
          </a:stretch>
        </p:blipFill>
        <p:spPr>
          <a:xfrm>
            <a:off x="6583680" y="1554480"/>
            <a:ext cx="4754880" cy="4279392"/>
          </a:xfrm>
          <a:prstGeom prst="rect">
            <a:avLst/>
          </a:prstGeom>
        </p:spPr>
      </p:pic>
      <p:sp>
        <p:nvSpPr>
          <p:cNvPr id="7" name="Text 3"/>
          <p:cNvSpPr txBox="1"/>
          <p:nvPr/>
        </p:nvSpPr>
        <p:spPr>
          <a:xfrm>
            <a:off x="914400" y="4754880"/>
            <a:ext cx="5303520" cy="1188720"/>
          </a:xfrm>
          <a:prstGeom prst="rect">
            <a:avLst/>
          </a:prstGeom>
          <a:noFill/>
          <a:ln/>
        </p:spPr>
        <p:txBody>
          <a:bodyPr wrap="square" rtlCol="0" anchor="t"/>
          <a:lstStyle/>
          <a:p>
            <a:pPr indent="0" marL="0">
              <a:buNone/>
            </a:pPr>
            <a:r>
              <a:rPr lang="en-US" sz="1400" i="1" dirty="0">
                <a:solidFill>
                  <a:srgbClr val="6E7899"/>
                </a:solidFill>
              </a:rPr>
              <a:t>Resultado real del curso: las referencias forman tres grupos y cada población mezclada (en negro) cae entre los grupos de los que proviene.</a:t>
            </a:r>
            <a:endParaRPr lang="en-US" sz="14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¿Cuántos componentes principales importan?</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pic>
        <p:nvPicPr>
          <p:cNvPr id="5" name="figura-eigen" descr="/tmp/claude-0/-home-claude/e238050a-ce3c-58bd-bb86-9554df59862c/scratchpad/figs/eigen.png">    </p:cNvPr>
          <p:cNvPicPr>
            <a:picLocks noChangeAspect="1"/>
          </p:cNvPicPr>
          <p:nvPr/>
        </p:nvPicPr>
        <p:blipFill>
          <a:blip r:embed="rId2"/>
          <a:stretch>
            <a:fillRect/>
          </a:stretch>
        </p:blipFill>
        <p:spPr>
          <a:xfrm>
            <a:off x="914400" y="1737360"/>
            <a:ext cx="5486400" cy="2743200"/>
          </a:xfrm>
          <a:prstGeom prst="rect">
            <a:avLst/>
          </a:prstGeom>
        </p:spPr>
      </p:pic>
      <p:sp>
        <p:nvSpPr>
          <p:cNvPr id="6" name="Text 2"/>
          <p:cNvSpPr txBox="1"/>
          <p:nvPr/>
        </p:nvSpPr>
        <p:spPr>
          <a:xfrm>
            <a:off x="6766560" y="1783080"/>
            <a:ext cx="4572000" cy="2926080"/>
          </a:xfrm>
          <a:prstGeom prst="rect">
            <a:avLst/>
          </a:prstGeom>
          <a:noFill/>
          <a:ln/>
        </p:spPr>
        <p:txBody>
          <a:bodyPr wrap="square" rtlCol="0" anchor="t"/>
          <a:lstStyle/>
          <a:p>
            <a:pPr indent="0" marL="0">
              <a:buNone/>
            </a:pPr>
            <a:r>
              <a:rPr lang="en-US" sz="1600" dirty="0">
                <a:solidFill>
                  <a:schemeClr val="tx1"/>
                </a:solidFill>
              </a:rPr>
              <a:t>Con K grupos bien separados, basta con K − 1 ejes para distinguirlos: con 3 grupos continentales, 2 componentes.</a:t>
            </a:r>
            <a:endParaRPr lang="en-US" sz="1600" dirty="0"/>
          </a:p>
          <a:p>
            <a:pPr indent="0" marL="0">
              <a:buNone/>
            </a:pPr>
            <a:endParaRPr lang="en-US" sz="1600" dirty="0"/>
          </a:p>
          <a:p>
            <a:pPr indent="0" marL="0">
              <a:buNone/>
            </a:pPr>
            <a:r>
              <a:rPr lang="en-US" sz="1600" dirty="0">
                <a:solidFill>
                  <a:schemeClr val="tx1"/>
                </a:solidFill>
              </a:rPr>
              <a:t>En nuestros datos los dos primeros eigenvalores son 67,8 y 18,7; el tercero cae a 3,9 y de ahí en adelante se aplana. Es exactamente lo que predice la teoría.</a:t>
            </a:r>
            <a:endParaRPr lang="en-US" sz="1600" dirty="0"/>
          </a:p>
        </p:txBody>
      </p:sp>
      <p:sp>
        <p:nvSpPr>
          <p:cNvPr id="7" name="Text 3"/>
          <p:cNvSpPr txBox="1"/>
          <p:nvPr/>
        </p:nvSpPr>
        <p:spPr>
          <a:xfrm>
            <a:off x="914400" y="4937760"/>
            <a:ext cx="10424160" cy="914400"/>
          </a:xfrm>
          <a:prstGeom prst="rect">
            <a:avLst/>
          </a:prstGeom>
          <a:noFill/>
          <a:ln/>
        </p:spPr>
        <p:txBody>
          <a:bodyPr wrap="square" rtlCol="0" anchor="t"/>
          <a:lstStyle/>
          <a:p>
            <a:pPr indent="0" marL="0">
              <a:buNone/>
            </a:pPr>
            <a:r>
              <a:rPr lang="en-US" sz="1500" i="1" dirty="0">
                <a:solidFill>
                  <a:schemeClr val="accent1"/>
                </a:solidFill>
              </a:rPr>
              <a:t>Los componentes que siguen no son ruido puro: suelen recoger estructura más fina, parentesco entre individuos o artefactos técnicos del genotipado.</a:t>
            </a:r>
            <a:endParaRPr lang="en-US" sz="1500" dirty="0"/>
          </a:p>
        </p:txBody>
      </p:sp>
      <p:sp>
        <p:nvSpPr>
          <p:cNvPr id="8" name="Text 4"/>
          <p:cNvSpPr txBox="1"/>
          <p:nvPr/>
        </p:nvSpPr>
        <p:spPr>
          <a:xfrm>
            <a:off x="914400" y="6144768"/>
            <a:ext cx="8595360" cy="365760"/>
          </a:xfrm>
          <a:prstGeom prst="rect">
            <a:avLst/>
          </a:prstGeom>
          <a:noFill/>
          <a:ln/>
        </p:spPr>
        <p:txBody>
          <a:bodyPr wrap="square" lIns="0" tIns="0" rIns="0" bIns="0" rtlCol="0" anchor="ctr"/>
          <a:lstStyle/>
          <a:p>
            <a:pPr indent="0" marL="0">
              <a:buNone/>
            </a:pPr>
            <a:r>
              <a:rPr lang="en-US" sz="1100" i="1" dirty="0">
                <a:solidFill>
                  <a:srgbClr val="6E7899"/>
                </a:solidFill>
              </a:rPr>
              <a:t>Base teórica: Patterson, Price y Reich, PLoS Genetics 2006. doi:10.1371/journal.pgen.0020190</a:t>
            </a:r>
            <a:endParaRPr lang="en-US" sz="11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ADMIXTURE: el modelo de K poblaciones ancestrales</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508760"/>
            <a:ext cx="1042416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Supone que existieron K poblaciones ancestrales, cada una con sus propias frecuencias alélicas.</a:t>
            </a:r>
            <a:endParaRPr lang="en-US" sz="1700" dirty="0"/>
          </a:p>
          <a:p>
            <a:pPr marL="342900" indent="-342900">
              <a:spcAft>
                <a:spcPts val="1000"/>
              </a:spcAft>
              <a:buSzPct val="100000"/>
              <a:buChar char="•"/>
            </a:pPr>
            <a:r>
              <a:rPr lang="en-US" sz="1700" dirty="0">
                <a:solidFill>
                  <a:schemeClr val="tx1"/>
                </a:solidFill>
              </a:rPr>
              <a:t>Supone que cada persona actual es una mezcla de esas K poblaciones, en proporciones que hay que estimar.</a:t>
            </a:r>
            <a:endParaRPr lang="en-US" sz="1700" dirty="0"/>
          </a:p>
          <a:p>
            <a:pPr marL="342900" indent="-342900">
              <a:spcAft>
                <a:spcPts val="1000"/>
              </a:spcAft>
              <a:buSzPct val="100000"/>
              <a:buChar char="•"/>
            </a:pPr>
            <a:r>
              <a:rPr lang="en-US" sz="1700" dirty="0">
                <a:solidFill>
                  <a:schemeClr val="tx1"/>
                </a:solidFill>
              </a:rPr>
              <a:t>Con esos supuestos, busca los valores que hacen más probables los genotipos observados.</a:t>
            </a:r>
            <a:endParaRPr lang="en-US" sz="1700" dirty="0"/>
          </a:p>
          <a:p>
            <a:pPr marL="342900" indent="-342900">
              <a:spcAft>
                <a:spcPts val="1000"/>
              </a:spcAft>
              <a:buSzPct val="100000"/>
              <a:buChar char="•"/>
            </a:pPr>
            <a:r>
              <a:rPr lang="en-US" sz="1700" dirty="0">
                <a:solidFill>
                  <a:schemeClr val="tx1"/>
                </a:solidFill>
              </a:rPr>
              <a:t>Nosotros elegimos K. El programa no lo descubre: lo recibe como dato de entrada.</a:t>
            </a:r>
            <a:endParaRPr lang="en-US" sz="1700" dirty="0"/>
          </a:p>
        </p:txBody>
      </p:sp>
      <p:sp>
        <p:nvSpPr>
          <p:cNvPr id="6" name="caja-q"/>
          <p:cNvSpPr/>
          <p:nvPr/>
        </p:nvSpPr>
        <p:spPr>
          <a:xfrm>
            <a:off x="914400" y="4206240"/>
            <a:ext cx="4937760" cy="1645920"/>
          </a:xfrm>
          <a:prstGeom prst="roundRect">
            <a:avLst>
              <a:gd name="adj" fmla="val 5556"/>
            </a:avLst>
          </a:prstGeom>
          <a:solidFill>
            <a:schemeClr val="bg2"/>
          </a:solidFill>
          <a:ln w="9525">
            <a:solidFill>
              <a:srgbClr val="F2E3C8"/>
            </a:solidFill>
            <a:prstDash val="solid"/>
          </a:ln>
        </p:spPr>
      </p:sp>
      <p:sp>
        <p:nvSpPr>
          <p:cNvPr id="7" name="Text 4"/>
          <p:cNvSpPr txBox="1"/>
          <p:nvPr/>
        </p:nvSpPr>
        <p:spPr>
          <a:xfrm>
            <a:off x="1188720" y="4370832"/>
            <a:ext cx="4389120" cy="365760"/>
          </a:xfrm>
          <a:prstGeom prst="rect">
            <a:avLst/>
          </a:prstGeom>
          <a:noFill/>
          <a:ln/>
        </p:spPr>
        <p:txBody>
          <a:bodyPr wrap="square" lIns="0" tIns="0" rIns="0" bIns="0" rtlCol="0" anchor="ctr"/>
          <a:lstStyle/>
          <a:p>
            <a:pPr indent="0" marL="0">
              <a:buNone/>
            </a:pPr>
            <a:r>
              <a:rPr lang="en-US" sz="1700" b="1" dirty="0">
                <a:solidFill>
                  <a:schemeClr val="accent1"/>
                </a:solidFill>
              </a:rPr>
              <a:t>Archivo .Q</a:t>
            </a:r>
            <a:endParaRPr lang="en-US" sz="1700" dirty="0"/>
          </a:p>
        </p:txBody>
      </p:sp>
      <p:sp>
        <p:nvSpPr>
          <p:cNvPr id="8" name="Text 5"/>
          <p:cNvSpPr txBox="1"/>
          <p:nvPr/>
        </p:nvSpPr>
        <p:spPr>
          <a:xfrm>
            <a:off x="1188720" y="4754880"/>
            <a:ext cx="4389120" cy="914400"/>
          </a:xfrm>
          <a:prstGeom prst="rect">
            <a:avLst/>
          </a:prstGeom>
          <a:noFill/>
          <a:ln/>
        </p:spPr>
        <p:txBody>
          <a:bodyPr wrap="square" rtlCol="0" anchor="t"/>
          <a:lstStyle/>
          <a:p>
            <a:pPr indent="0" marL="0">
              <a:buNone/>
            </a:pPr>
            <a:r>
              <a:rPr lang="en-US" sz="1400" dirty="0">
                <a:solidFill>
                  <a:schemeClr val="tx1"/>
                </a:solidFill>
              </a:rPr>
              <a:t>Una fila por persona, una columna por componente. Cada fila suma 1. Es lo que graficamos.</a:t>
            </a:r>
            <a:endParaRPr lang="en-US" sz="1400" dirty="0"/>
          </a:p>
        </p:txBody>
      </p:sp>
      <p:sp>
        <p:nvSpPr>
          <p:cNvPr id="9" name="caja-p"/>
          <p:cNvSpPr/>
          <p:nvPr/>
        </p:nvSpPr>
        <p:spPr>
          <a:xfrm>
            <a:off x="6400800" y="4206240"/>
            <a:ext cx="4937760" cy="1645920"/>
          </a:xfrm>
          <a:prstGeom prst="roundRect">
            <a:avLst>
              <a:gd name="adj" fmla="val 5556"/>
            </a:avLst>
          </a:prstGeom>
          <a:solidFill>
            <a:schemeClr val="bg2"/>
          </a:solidFill>
          <a:ln w="9525">
            <a:solidFill>
              <a:srgbClr val="F2E3C8"/>
            </a:solidFill>
            <a:prstDash val="solid"/>
          </a:ln>
        </p:spPr>
      </p:sp>
      <p:sp>
        <p:nvSpPr>
          <p:cNvPr id="10" name="Text 7"/>
          <p:cNvSpPr txBox="1"/>
          <p:nvPr/>
        </p:nvSpPr>
        <p:spPr>
          <a:xfrm>
            <a:off x="6675120" y="4370832"/>
            <a:ext cx="4389120" cy="365760"/>
          </a:xfrm>
          <a:prstGeom prst="rect">
            <a:avLst/>
          </a:prstGeom>
          <a:noFill/>
          <a:ln/>
        </p:spPr>
        <p:txBody>
          <a:bodyPr wrap="square" lIns="0" tIns="0" rIns="0" bIns="0" rtlCol="0" anchor="ctr"/>
          <a:lstStyle/>
          <a:p>
            <a:pPr indent="0" marL="0">
              <a:buNone/>
            </a:pPr>
            <a:r>
              <a:rPr lang="en-US" sz="1700" b="1" dirty="0">
                <a:solidFill>
                  <a:schemeClr val="accent3"/>
                </a:solidFill>
              </a:rPr>
              <a:t>Archivo .P</a:t>
            </a:r>
            <a:endParaRPr lang="en-US" sz="1700" dirty="0"/>
          </a:p>
        </p:txBody>
      </p:sp>
      <p:sp>
        <p:nvSpPr>
          <p:cNvPr id="11" name="Text 8"/>
          <p:cNvSpPr txBox="1"/>
          <p:nvPr/>
        </p:nvSpPr>
        <p:spPr>
          <a:xfrm>
            <a:off x="6675120" y="4754880"/>
            <a:ext cx="4389120" cy="914400"/>
          </a:xfrm>
          <a:prstGeom prst="rect">
            <a:avLst/>
          </a:prstGeom>
          <a:noFill/>
          <a:ln/>
        </p:spPr>
        <p:txBody>
          <a:bodyPr wrap="square" rtlCol="0" anchor="t"/>
          <a:lstStyle/>
          <a:p>
            <a:pPr indent="0" marL="0">
              <a:buNone/>
            </a:pPr>
            <a:r>
              <a:rPr lang="en-US" sz="1400" dirty="0">
                <a:solidFill>
                  <a:schemeClr val="tx1"/>
                </a:solidFill>
              </a:rPr>
              <a:t>Una fila por variante: la frecuencia estimada de esa variante en cada componente ancestral.</a:t>
            </a:r>
            <a:endParaRPr lang="en-US" sz="1400" dirty="0"/>
          </a:p>
        </p:txBody>
      </p:sp>
      <p:sp>
        <p:nvSpPr>
          <p:cNvPr id="12" name="Text 9"/>
          <p:cNvSpPr txBox="1"/>
          <p:nvPr/>
        </p:nvSpPr>
        <p:spPr>
          <a:xfrm>
            <a:off x="914400" y="6144768"/>
            <a:ext cx="8595360" cy="365760"/>
          </a:xfrm>
          <a:prstGeom prst="rect">
            <a:avLst/>
          </a:prstGeom>
          <a:noFill/>
          <a:ln/>
        </p:spPr>
        <p:txBody>
          <a:bodyPr wrap="square" lIns="0" tIns="0" rIns="0" bIns="0" rtlCol="0" anchor="ctr"/>
          <a:lstStyle/>
          <a:p>
            <a:pPr indent="0" marL="0">
              <a:buNone/>
            </a:pPr>
            <a:r>
              <a:rPr lang="en-US" sz="1100" i="1" dirty="0">
                <a:solidFill>
                  <a:srgbClr val="6E7899"/>
                </a:solidFill>
              </a:rPr>
              <a:t>Alexander, Novembre y Lange, Genome Research 2009. doi:10.1101/gr.094052.109</a:t>
            </a:r>
            <a:endParaRPr lang="en-US" sz="1100" dirty="0"/>
          </a:p>
        </p:txBody>
      </p:sp>
      <p:sp>
        <p:nvSpPr>
          <p:cNvPr id="14" name="Text 0"/>
          <p:cNvSpPr/>
          <p:nvPr>
            <p:ph idx="101" type="body" hasCustomPrompt="1"/>
          </p:nvPr>
        </p:nvSpPr>
        <p:spPr>
          <a:xfrm>
            <a:off x="914400" y="1508760"/>
            <a:ext cx="10424160" cy="4572000"/>
          </a:xfrm>
          <a:prstGeom prst="rect">
            <a:avLst/>
          </a:prstGeom>
          <a:noFill/>
          <a:ln/>
        </p:spPr>
        <p:txBody>
          <a:bodyPr wrap="square" rtlCol="0" anchor="t"/>
          <a:lstStyle/>
          <a:p>
            <a:pPr algn="l" indent="0" marL="0">
              <a:buNone/>
            </a:pP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Cómo leer el gráfico de barras</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pic>
        <p:nvPicPr>
          <p:cNvPr id="5" name="figura-admixture" descr="/tmp/claude-0/-home-claude/e238050a-ce3c-58bd-bb86-9554df59862c/scratchpad/figs/admixture.png">    </p:cNvPr>
          <p:cNvPicPr>
            <a:picLocks noChangeAspect="1"/>
          </p:cNvPicPr>
          <p:nvPr/>
        </p:nvPicPr>
        <p:blipFill>
          <a:blip r:embed="rId2"/>
          <a:stretch>
            <a:fillRect/>
          </a:stretch>
        </p:blipFill>
        <p:spPr>
          <a:xfrm>
            <a:off x="914400" y="1600200"/>
            <a:ext cx="10424160" cy="2606040"/>
          </a:xfrm>
          <a:prstGeom prst="rect">
            <a:avLst/>
          </a:prstGeom>
        </p:spPr>
      </p:pic>
      <p:sp>
        <p:nvSpPr>
          <p:cNvPr id="6" name="Text 2"/>
          <p:cNvSpPr txBox="1"/>
          <p:nvPr/>
        </p:nvSpPr>
        <p:spPr>
          <a:xfrm>
            <a:off x="914400" y="4434840"/>
            <a:ext cx="10424160" cy="822960"/>
          </a:xfrm>
          <a:prstGeom prst="rect">
            <a:avLst/>
          </a:prstGeom>
          <a:noFill/>
          <a:ln/>
        </p:spPr>
        <p:txBody>
          <a:bodyPr wrap="square" rtlCol="0" anchor="t"/>
          <a:lstStyle/>
          <a:p>
            <a:pPr indent="0" marL="0">
              <a:buNone/>
            </a:pPr>
            <a:r>
              <a:rPr lang="en-US" sz="1600" b="1" dirty="0">
                <a:solidFill>
                  <a:schemeClr val="tx1"/>
                </a:solidFill>
              </a:rPr>
              <a:t>Cada barra vertical es una persona. </a:t>
            </a:r>
            <a:pPr indent="0" marL="0">
              <a:buNone/>
            </a:pPr>
            <a:r>
              <a:rPr lang="en-US" sz="1600" dirty="0">
                <a:solidFill>
                  <a:schemeClr val="tx1"/>
                </a:solidFill>
              </a:rPr>
              <a:t>La altura de cada color es la proporción de su genoma asignada a ese componente. Las poblaciones de referencia (izquierda) salen casi de un solo color; las mezcladas (derecha) combinan varios.</a:t>
            </a:r>
            <a:endParaRPr lang="en-US" sz="1600" dirty="0"/>
          </a:p>
        </p:txBody>
      </p:sp>
      <p:sp>
        <p:nvSpPr>
          <p:cNvPr id="7" name="Text 3"/>
          <p:cNvSpPr txBox="1"/>
          <p:nvPr/>
        </p:nvSpPr>
        <p:spPr>
          <a:xfrm>
            <a:off x="914400" y="5257800"/>
            <a:ext cx="10424160" cy="822960"/>
          </a:xfrm>
          <a:prstGeom prst="rect">
            <a:avLst/>
          </a:prstGeom>
          <a:noFill/>
          <a:ln/>
        </p:spPr>
        <p:txBody>
          <a:bodyPr wrap="square" rtlCol="0" anchor="t"/>
          <a:lstStyle/>
          <a:p>
            <a:pPr indent="0" marL="0">
              <a:buNone/>
            </a:pPr>
            <a:r>
              <a:rPr lang="en-US" sz="1500" i="1" dirty="0">
                <a:solidFill>
                  <a:schemeClr val="accent1"/>
                </a:solidFill>
              </a:rPr>
              <a:t>ADMIXTURE no sabe que un componente es "africano": solo los numera. Los nombres se los ponemos nosotros mirando en qué población de referencia es más alto cada uno.</a:t>
            </a:r>
            <a:endParaRPr lang="en-US" sz="15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Tres formas de equivocarse al interpretar</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rampa-0"/>
          <p:cNvSpPr/>
          <p:nvPr/>
        </p:nvSpPr>
        <p:spPr>
          <a:xfrm>
            <a:off x="914400" y="1801368"/>
            <a:ext cx="384048" cy="384048"/>
          </a:xfrm>
          <a:prstGeom prst="ellipse">
            <a:avLst/>
          </a:prstGeom>
          <a:solidFill>
            <a:schemeClr val="accent6"/>
          </a:solidFill>
          <a:ln w="12700">
            <a:solidFill>
              <a:schemeClr val="accent6"/>
            </a:solidFill>
            <a:prstDash val="solid"/>
          </a:ln>
        </p:spPr>
      </p:sp>
      <p:sp>
        <p:nvSpPr>
          <p:cNvPr id="6" name="Text 3"/>
          <p:cNvSpPr txBox="1"/>
          <p:nvPr/>
        </p:nvSpPr>
        <p:spPr>
          <a:xfrm>
            <a:off x="1481328" y="173736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Creer que los componentes son poblaciones reales</a:t>
            </a:r>
            <a:endParaRPr lang="en-US" sz="1700" dirty="0"/>
          </a:p>
        </p:txBody>
      </p:sp>
      <p:sp>
        <p:nvSpPr>
          <p:cNvPr id="7" name="Text 4"/>
          <p:cNvSpPr txBox="1"/>
          <p:nvPr/>
        </p:nvSpPr>
        <p:spPr>
          <a:xfrm>
            <a:off x="1481328" y="2121408"/>
            <a:ext cx="9765792" cy="777240"/>
          </a:xfrm>
          <a:prstGeom prst="rect">
            <a:avLst/>
          </a:prstGeom>
          <a:noFill/>
          <a:ln/>
        </p:spPr>
        <p:txBody>
          <a:bodyPr wrap="square" lIns="0" tIns="0" rIns="0" bIns="0" rtlCol="0" anchor="t"/>
          <a:lstStyle/>
          <a:p>
            <a:pPr indent="0" marL="0">
              <a:buNone/>
            </a:pPr>
            <a:r>
              <a:rPr lang="en-US" sz="1400" dirty="0">
                <a:solidFill>
                  <a:schemeClr val="tx1"/>
                </a:solidFill>
              </a:rPr>
              <a:t>Son grupos estadísticos. Historias demográficas muy distintas pueden producir el mismo gráfico de barras.</a:t>
            </a:r>
            <a:endParaRPr lang="en-US" sz="1400" dirty="0"/>
          </a:p>
        </p:txBody>
      </p:sp>
      <p:sp>
        <p:nvSpPr>
          <p:cNvPr id="8" name="trampa-1"/>
          <p:cNvSpPr/>
          <p:nvPr/>
        </p:nvSpPr>
        <p:spPr>
          <a:xfrm>
            <a:off x="914400" y="3264408"/>
            <a:ext cx="384048" cy="384048"/>
          </a:xfrm>
          <a:prstGeom prst="ellipse">
            <a:avLst/>
          </a:prstGeom>
          <a:solidFill>
            <a:schemeClr val="accent2"/>
          </a:solidFill>
          <a:ln w="12700">
            <a:solidFill>
              <a:schemeClr val="accent2"/>
            </a:solidFill>
            <a:prstDash val="solid"/>
          </a:ln>
        </p:spPr>
      </p:sp>
      <p:sp>
        <p:nvSpPr>
          <p:cNvPr id="9" name="Text 6"/>
          <p:cNvSpPr txBox="1"/>
          <p:nvPr/>
        </p:nvSpPr>
        <p:spPr>
          <a:xfrm>
            <a:off x="1481328" y="320040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Creer que el mejor K es el verdadero</a:t>
            </a:r>
            <a:endParaRPr lang="en-US" sz="1700" dirty="0"/>
          </a:p>
        </p:txBody>
      </p:sp>
      <p:sp>
        <p:nvSpPr>
          <p:cNvPr id="10" name="Text 7"/>
          <p:cNvSpPr txBox="1"/>
          <p:nvPr/>
        </p:nvSpPr>
        <p:spPr>
          <a:xfrm>
            <a:off x="1481328" y="3584448"/>
            <a:ext cx="9765792" cy="777240"/>
          </a:xfrm>
          <a:prstGeom prst="rect">
            <a:avLst/>
          </a:prstGeom>
          <a:noFill/>
          <a:ln/>
        </p:spPr>
        <p:txBody>
          <a:bodyPr wrap="square" lIns="0" tIns="0" rIns="0" bIns="0" rtlCol="0" anchor="t"/>
          <a:lstStyle/>
          <a:p>
            <a:pPr indent="0" marL="0">
              <a:buNone/>
            </a:pPr>
            <a:r>
              <a:rPr lang="en-US" sz="1400" dirty="0">
                <a:solidFill>
                  <a:schemeClr val="tx1"/>
                </a:solidFill>
              </a:rPr>
              <a:t>La validación cruzada dice qué K ajusta mejor los datos, no cuántas poblaciones ancestrales hubo. A menudo el K más interpretable no es el mejor estadísticamente.</a:t>
            </a:r>
            <a:endParaRPr lang="en-US" sz="1400" dirty="0"/>
          </a:p>
        </p:txBody>
      </p:sp>
      <p:sp>
        <p:nvSpPr>
          <p:cNvPr id="11" name="trampa-2"/>
          <p:cNvSpPr/>
          <p:nvPr/>
        </p:nvSpPr>
        <p:spPr>
          <a:xfrm>
            <a:off x="914400" y="4727448"/>
            <a:ext cx="384048" cy="384048"/>
          </a:xfrm>
          <a:prstGeom prst="ellipse">
            <a:avLst/>
          </a:prstGeom>
          <a:solidFill>
            <a:schemeClr val="accent1"/>
          </a:solidFill>
          <a:ln w="12700">
            <a:solidFill>
              <a:schemeClr val="accent1"/>
            </a:solidFill>
            <a:prstDash val="solid"/>
          </a:ln>
        </p:spPr>
      </p:sp>
      <p:sp>
        <p:nvSpPr>
          <p:cNvPr id="12" name="Text 9"/>
          <p:cNvSpPr txBox="1"/>
          <p:nvPr/>
        </p:nvSpPr>
        <p:spPr>
          <a:xfrm>
            <a:off x="1481328" y="4663440"/>
            <a:ext cx="9765792" cy="347472"/>
          </a:xfrm>
          <a:prstGeom prst="rect">
            <a:avLst/>
          </a:prstGeom>
          <a:noFill/>
          <a:ln/>
        </p:spPr>
        <p:txBody>
          <a:bodyPr wrap="square" lIns="0" tIns="0" rIns="0" bIns="0" rtlCol="0" anchor="ctr"/>
          <a:lstStyle/>
          <a:p>
            <a:pPr indent="0" marL="0">
              <a:buNone/>
            </a:pPr>
            <a:r>
              <a:rPr lang="en-US" sz="1700" b="1" dirty="0">
                <a:solidFill>
                  <a:schemeClr val="accent1"/>
                </a:solidFill>
              </a:rPr>
              <a:t>Olvidar que el resultado depende de a quién incluimos</a:t>
            </a:r>
            <a:endParaRPr lang="en-US" sz="1700" dirty="0"/>
          </a:p>
        </p:txBody>
      </p:sp>
      <p:sp>
        <p:nvSpPr>
          <p:cNvPr id="13" name="Text 10"/>
          <p:cNvSpPr txBox="1"/>
          <p:nvPr/>
        </p:nvSpPr>
        <p:spPr>
          <a:xfrm>
            <a:off x="1481328" y="5047488"/>
            <a:ext cx="9765792" cy="777240"/>
          </a:xfrm>
          <a:prstGeom prst="rect">
            <a:avLst/>
          </a:prstGeom>
          <a:noFill/>
          <a:ln/>
        </p:spPr>
        <p:txBody>
          <a:bodyPr wrap="square" lIns="0" tIns="0" rIns="0" bIns="0" rtlCol="0" anchor="t"/>
          <a:lstStyle/>
          <a:p>
            <a:pPr indent="0" marL="0">
              <a:buNone/>
            </a:pPr>
            <a:r>
              <a:rPr lang="en-US" sz="1400" dirty="0">
                <a:solidFill>
                  <a:schemeClr val="tx1"/>
                </a:solidFill>
              </a:rPr>
              <a:t>Si agregamos o quitamos poblaciones de referencia, las proporciones de todos cambian. El resultado es relativo al panel, siempre.</a:t>
            </a:r>
            <a:endParaRPr lang="en-US" sz="1400" dirty="0"/>
          </a:p>
        </p:txBody>
      </p:sp>
      <p:sp>
        <p:nvSpPr>
          <p:cNvPr id="14" name="Text 11"/>
          <p:cNvSpPr txBox="1"/>
          <p:nvPr/>
        </p:nvSpPr>
        <p:spPr>
          <a:xfrm>
            <a:off x="914400" y="6144768"/>
            <a:ext cx="8595360" cy="365760"/>
          </a:xfrm>
          <a:prstGeom prst="rect">
            <a:avLst/>
          </a:prstGeom>
          <a:noFill/>
          <a:ln/>
        </p:spPr>
        <p:txBody>
          <a:bodyPr wrap="square" lIns="0" tIns="0" rIns="0" bIns="0" rtlCol="0" anchor="ctr"/>
          <a:lstStyle/>
          <a:p>
            <a:pPr indent="0" marL="0">
              <a:buNone/>
            </a:pPr>
            <a:r>
              <a:rPr lang="en-US" sz="1100" i="1" dirty="0">
                <a:solidFill>
                  <a:srgbClr val="6E7899"/>
                </a:solidFill>
              </a:rPr>
              <a:t>Lectura principal del módulo: Lawson, van Dorp y Falush, Nature Communications 2018;9:3258. doi:10.1038/s41467-018-05257-7</a:t>
            </a:r>
            <a:endParaRPr lang="en-US" sz="11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logo-acgh" descr="/tmp/claude-0/-home-claude/e238050a-ce3c-58bd-bb86-9554df59862c/scratchpad/marca/logo_acgh_hd.png">    </p:cNvPr>
          <p:cNvPicPr>
            <a:picLocks noChangeAspect="1"/>
          </p:cNvPicPr>
          <p:nvPr/>
        </p:nvPicPr>
        <p:blipFill>
          <a:blip r:embed="rId1"/>
          <a:stretch>
            <a:fillRect/>
          </a:stretch>
        </p:blipFill>
        <p:spPr>
          <a:xfrm>
            <a:off x="9829800" y="5943600"/>
            <a:ext cx="1600200" cy="603504"/>
          </a:xfrm>
          <a:prstGeom prst="rect">
            <a:avLst/>
          </a:prstGeom>
        </p:spPr>
      </p:pic>
      <p:sp>
        <p:nvSpPr>
          <p:cNvPr id="3" name="Text 0"/>
          <p:cNvSpPr/>
          <p:nvPr>
            <p:ph idx="100" type="title" hasCustomPrompt="1"/>
          </p:nvPr>
        </p:nvSpPr>
        <p:spPr>
          <a:xfrm>
            <a:off x="914400" y="457200"/>
            <a:ext cx="10424160" cy="868680"/>
          </a:xfrm>
          <a:prstGeom prst="rect">
            <a:avLst/>
          </a:prstGeom>
          <a:noFill/>
          <a:ln/>
        </p:spPr>
        <p:txBody>
          <a:bodyPr wrap="square" rtlCol="0" anchor="ctr"/>
          <a:lstStyle/>
          <a:p>
            <a:pPr algn="l" indent="0" marL="0">
              <a:buNone/>
            </a:pPr>
            <a:r>
              <a:rPr lang="en-US" sz="3000" b="1" dirty="0">
                <a:solidFill>
                  <a:schemeClr val="accent1"/>
                </a:solidFill>
              </a:rPr>
              <a:t>Para la sesión del sábado 21 de noviembre</a:t>
            </a:r>
            <a:endParaRPr lang="en-US" sz="3000" dirty="0"/>
          </a:p>
        </p:txBody>
      </p:sp>
      <p:sp>
        <p:nvSpPr>
          <p:cNvPr id="4" name="barra-marca"/>
          <p:cNvSpPr/>
          <p:nvPr/>
        </p:nvSpPr>
        <p:spPr>
          <a:xfrm>
            <a:off x="566928" y="502920"/>
            <a:ext cx="68580" cy="777240"/>
          </a:xfrm>
          <a:prstGeom prst="rect">
            <a:avLst/>
          </a:prstGeom>
          <a:solidFill>
            <a:schemeClr val="accent2"/>
          </a:solidFill>
          <a:ln w="12700">
            <a:solidFill>
              <a:schemeClr val="accent2"/>
            </a:solidFill>
            <a:prstDash val="solid"/>
          </a:ln>
        </p:spPr>
      </p:sp>
      <p:sp>
        <p:nvSpPr>
          <p:cNvPr id="5" name="Text 2"/>
          <p:cNvSpPr txBox="1"/>
          <p:nvPr/>
        </p:nvSpPr>
        <p:spPr>
          <a:xfrm>
            <a:off x="914400" y="1508760"/>
            <a:ext cx="10424160" cy="4572000"/>
          </a:xfrm>
          <a:prstGeom prst="rect">
            <a:avLst/>
          </a:prstGeom>
          <a:noFill/>
          <a:ln/>
        </p:spPr>
        <p:txBody>
          <a:bodyPr wrap="square" rtlCol="0" anchor="t"/>
          <a:lstStyle/>
          <a:p>
            <a:pPr marL="342900" indent="-342900">
              <a:spcAft>
                <a:spcPts val="1000"/>
              </a:spcAft>
              <a:buSzPct val="100000"/>
              <a:buChar char="•"/>
            </a:pPr>
            <a:r>
              <a:rPr lang="en-US" sz="1700" dirty="0">
                <a:solidFill>
                  <a:schemeClr val="tx1"/>
                </a:solidFill>
              </a:rPr>
              <a:t>Rehacemos en una celda los datos de la sesión 1 y corremos el PCA.</a:t>
            </a:r>
            <a:endParaRPr lang="en-US" sz="1700" dirty="0"/>
          </a:p>
          <a:p>
            <a:pPr marL="342900" indent="-342900">
              <a:spcAft>
                <a:spcPts val="1000"/>
              </a:spcAft>
              <a:buSzPct val="100000"/>
              <a:buChar char="•"/>
            </a:pPr>
            <a:r>
              <a:rPr lang="en-US" sz="1700" dirty="0">
                <a:solidFill>
                  <a:schemeClr val="tx1"/>
                </a:solidFill>
              </a:rPr>
              <a:t>Graficamos los eigenvalores y PC1 contra PC2.</a:t>
            </a:r>
            <a:endParaRPr lang="en-US" sz="1700" dirty="0"/>
          </a:p>
          <a:p>
            <a:pPr marL="342900" indent="-342900">
              <a:spcAft>
                <a:spcPts val="1000"/>
              </a:spcAft>
              <a:buSzPct val="100000"/>
              <a:buChar char="•"/>
            </a:pPr>
            <a:r>
              <a:rPr lang="en-US" sz="1700" dirty="0">
                <a:solidFill>
                  <a:schemeClr val="tx1"/>
                </a:solidFill>
              </a:rPr>
              <a:t>Corremos ADMIXTURE con K = 3 y nombramos los componentes de forma automática.</a:t>
            </a:r>
            <a:endParaRPr lang="en-US" sz="1700" dirty="0"/>
          </a:p>
          <a:p>
            <a:pPr marL="342900" indent="-342900">
              <a:spcAft>
                <a:spcPts val="1000"/>
              </a:spcAft>
              <a:buSzPct val="100000"/>
              <a:buChar char="•"/>
            </a:pPr>
            <a:r>
              <a:rPr lang="en-US" sz="1700" dirty="0">
                <a:solidFill>
                  <a:schemeClr val="tx1"/>
                </a:solidFill>
              </a:rPr>
              <a:t>Construimos el gráfico de barras y discutimos qué se puede y qué no se puede concluir de él.</a:t>
            </a:r>
            <a:endParaRPr lang="en-US" sz="1700" dirty="0"/>
          </a:p>
        </p:txBody>
      </p:sp>
      <p:sp>
        <p:nvSpPr>
          <p:cNvPr id="6" name="caja-lecturas"/>
          <p:cNvSpPr/>
          <p:nvPr/>
        </p:nvSpPr>
        <p:spPr>
          <a:xfrm>
            <a:off x="914400" y="4206240"/>
            <a:ext cx="10424160" cy="1783080"/>
          </a:xfrm>
          <a:prstGeom prst="roundRect">
            <a:avLst>
              <a:gd name="adj" fmla="val 5128"/>
            </a:avLst>
          </a:prstGeom>
          <a:solidFill>
            <a:schemeClr val="bg2"/>
          </a:solidFill>
          <a:ln w="9525">
            <a:solidFill>
              <a:srgbClr val="F2E3C8"/>
            </a:solidFill>
            <a:prstDash val="solid"/>
          </a:ln>
        </p:spPr>
      </p:sp>
      <p:sp>
        <p:nvSpPr>
          <p:cNvPr id="7" name="Text 4"/>
          <p:cNvSpPr txBox="1"/>
          <p:nvPr/>
        </p:nvSpPr>
        <p:spPr>
          <a:xfrm>
            <a:off x="1188720" y="4370832"/>
            <a:ext cx="9875520" cy="365760"/>
          </a:xfrm>
          <a:prstGeom prst="rect">
            <a:avLst/>
          </a:prstGeom>
          <a:noFill/>
          <a:ln/>
        </p:spPr>
        <p:txBody>
          <a:bodyPr wrap="square" lIns="0" tIns="0" rIns="0" bIns="0" rtlCol="0" anchor="ctr"/>
          <a:lstStyle/>
          <a:p>
            <a:pPr indent="0" marL="0">
              <a:buNone/>
            </a:pPr>
            <a:r>
              <a:rPr lang="en-US" sz="1600" b="1" dirty="0">
                <a:solidFill>
                  <a:schemeClr val="accent1"/>
                </a:solidFill>
              </a:rPr>
              <a:t>Lecturas de este módulo</a:t>
            </a:r>
            <a:endParaRPr lang="en-US" sz="1600" dirty="0"/>
          </a:p>
        </p:txBody>
      </p:sp>
      <p:sp>
        <p:nvSpPr>
          <p:cNvPr id="8" name="Text 5"/>
          <p:cNvSpPr txBox="1"/>
          <p:nvPr/>
        </p:nvSpPr>
        <p:spPr>
          <a:xfrm>
            <a:off x="1188720" y="4754880"/>
            <a:ext cx="9875520" cy="1143000"/>
          </a:xfrm>
          <a:prstGeom prst="rect">
            <a:avLst/>
          </a:prstGeom>
          <a:noFill/>
          <a:ln/>
        </p:spPr>
        <p:txBody>
          <a:bodyPr wrap="square" rtlCol="0" anchor="t"/>
          <a:lstStyle/>
          <a:p>
            <a:pPr marL="342900" indent="-342900">
              <a:spcAft>
                <a:spcPts val="400"/>
              </a:spcAft>
              <a:buSzPct val="100000"/>
              <a:buChar char="•"/>
            </a:pPr>
            <a:r>
              <a:rPr lang="en-US" sz="1300" dirty="0">
                <a:solidFill>
                  <a:schemeClr val="tx1"/>
                </a:solidFill>
              </a:rPr>
              <a:t>Lawson, van Dorp y Falush. A tutorial on how not to over-interpret STRUCTURE and ADMIXTURE bar plots. Nat Commun 2018;9:3258 (principal)</a:t>
            </a:r>
            <a:endParaRPr lang="en-US" sz="1300" dirty="0"/>
          </a:p>
          <a:p>
            <a:pPr marL="342900" indent="-342900">
              <a:spcAft>
                <a:spcPts val="400"/>
              </a:spcAft>
              <a:buSzPct val="100000"/>
              <a:buChar char="•"/>
            </a:pPr>
            <a:r>
              <a:rPr lang="en-US" sz="1300" dirty="0">
                <a:solidFill>
                  <a:schemeClr val="tx1"/>
                </a:solidFill>
              </a:rPr>
              <a:t>Patterson, Price y Reich. Population structure and eigenanalysis. PLoS Genet 2006;2(12):e190</a:t>
            </a:r>
            <a:endParaRPr lang="en-US" sz="1300" dirty="0"/>
          </a:p>
          <a:p>
            <a:pPr marL="342900" indent="-342900">
              <a:spcAft>
                <a:spcPts val="400"/>
              </a:spcAft>
              <a:buSzPct val="100000"/>
              <a:buChar char="•"/>
            </a:pPr>
            <a:r>
              <a:rPr lang="en-US" sz="1300" dirty="0">
                <a:solidFill>
                  <a:schemeClr val="tx1"/>
                </a:solidFill>
              </a:rPr>
              <a:t>McVean. A genealogical interpretation of principal components analysis. PLoS Genet 2009;5(10):e1000686</a:t>
            </a:r>
            <a:endParaRPr lang="en-US" sz="1300" dirty="0"/>
          </a:p>
        </p:txBody>
      </p:sp>
      <p:sp>
        <p:nvSpPr>
          <p:cNvPr id="10" name="Text 0"/>
          <p:cNvSpPr/>
          <p:nvPr>
            <p:ph idx="101" type="body" hasCustomPrompt="1"/>
          </p:nvPr>
        </p:nvSpPr>
        <p:spPr>
          <a:xfrm>
            <a:off x="914400" y="1508760"/>
            <a:ext cx="10424160" cy="4572000"/>
          </a:xfrm>
          <a:prstGeom prst="rect">
            <a:avLst/>
          </a:prstGeom>
          <a:noFill/>
          <a:ln/>
        </p:spPr>
        <p:txBody>
          <a:bodyPr wrap="square" rtlCol="0" anchor="t"/>
          <a:lstStyle/>
          <a:p>
            <a:pPr algn="l" indent="0" marL="0">
              <a:buNone/>
            </a:pPr>
            <a:endParaRPr lang="en-US" sz="1700" dirty="0"/>
          </a:p>
        </p:txBody>
      </p:sp>
      <p:sp>
        <p:nvSpPr>
          <p:cNvPr id="25" name="Slide Number Placeholder 0"/>
          <p:cNvSpPr>
            <a:spLocks noGrp="1"/>
          </p:cNvSpPr>
          <p:nvPr>
            <p:ph type="sldNum" sz="quarter" idx="4294967295"/>
          </p:nvPr>
        </p:nvSpPr>
        <p:spPr>
          <a:xfrm>
            <a:off x="11475720" y="256032"/>
            <a:ext cx="800000" cy="300000"/>
          </a:xfrm>
          <a:prstGeom prst="rect">
            <a:avLst/>
          </a:prstGeom>
          <a:extLst>
            <a:ext uri="{C572A759-6A51-4108-AA02-DFA0A04FC94B}">
              <ma14:wrappingTextBoxFlag xmlns:ma14="http://schemas.microsoft.com/office/mac/drawingml/2011/main" val="0"/>
            </a:ext>
          </a:extLst>
        </p:spPr>
        <p:txBody>
          <a:bodyPr/>
          <a:lstStyle>
            <a:lvl1pPr>
              <a:defRPr sz="1100">
                <a:solidFill>
                  <a:srgbClr val="B9C0D8"/>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ACGH Ancestria">
  <a:themeElements>
    <a:clrScheme name="ACGH Ancestria">
      <a:dk1>
        <a:srgbClr val="1F2A5A"/>
      </a:dk1>
      <a:lt1>
        <a:srgbClr val="FFFAF0"/>
      </a:lt1>
      <a:dk2>
        <a:srgbClr val="354AC0"/>
      </a:dk2>
      <a:lt2>
        <a:srgbClr val="FFF2DC"/>
      </a:lt2>
      <a:accent1>
        <a:srgbClr val="354AC0"/>
      </a:accent1>
      <a:accent2>
        <a:srgbClr val="F09700"/>
      </a:accent2>
      <a:accent3>
        <a:srgbClr val="1BAF7A"/>
      </a:accent3>
      <a:accent4>
        <a:srgbClr val="6B6B6B"/>
      </a:accent4>
      <a:accent5>
        <a:srgbClr val="FFCC83"/>
      </a:accent5>
      <a:accent6>
        <a:srgbClr val="EB6834"/>
      </a:accent6>
      <a:hlink>
        <a:srgbClr val="354AC0"/>
      </a:hlink>
      <a:folHlink>
        <a:srgbClr val="6250D6"/>
      </a:folHlink>
    </a:clrScheme>
    <a:fontScheme name="ACGH Ancestri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Modulo 2. Ancestria global</dc:title>
  <dc:subject>Curso de ancestria genetica - ACGH</dc:subject>
  <dc:creator>Dra. Yina Tatiana Zambrano</dc:creator>
  <cp:lastModifiedBy>Dra. Yina Tatiana Zambrano</cp:lastModifiedBy>
  <cp:revision>1</cp:revision>
  <dcterms:created xsi:type="dcterms:W3CDTF">2026-10-28T14:43:33Z</dcterms:created>
  <dcterms:modified xsi:type="dcterms:W3CDTF">2026-10-28T14:43:33Z</dcterms:modified>
</cp:coreProperties>
</file>