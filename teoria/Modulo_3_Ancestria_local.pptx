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ulo 3" id="{f26614ea-09c9-d58e-ecc0-e9bf79eac34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Modulo 3. El mas tecnico de los cuatro. Prepara la sesion de RFMix.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el modulo con el resultado, no con el metodo. Que vean a donde vamos a llegar y luego expliquemos como.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simbolo, la barra vertical, es lo primero que van a mirar en el archivo el sabado. RFMix exige datos faseados: si se los das sin fasear, igual corre pero el resultado no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alguien pregunta de donde sale el mapa genetico: se estima a partir de datos de familias y de patrones de LD en poblaciones. Nosotros usamos el que distribuye Eagle, derivado de HapMap.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hace falta que entiendan las matematicas del campo aleatorio condicional. La intuicion que importa es la del paso 3: el metodo penaliza los cambios de ancestria porque sabe que la recombinacion es rara.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caso real: al preparar los datos del curso tuvimos que descartar a los Maya del HGDP como referencia nativa americana, porque varios tienen ancestria europea. Al quitarlos, el acierto de la referencia nativa subio de 97,3 % a 99,5 %.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Nosotros no vamos a fechar la mezcla en el curso, pero vale la pena que sepan que se puede y que es una aplicacion directa de lo que calculamos.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286000"/>
            <a:ext cx="95097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4251960"/>
            <a:ext cx="9509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CC83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CC83"/>
                </a:solidFill>
              </a:rPr>
              <a:t> 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457200"/>
            <a:ext cx="10424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 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1508760"/>
            <a:ext cx="1042416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TITUL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457200"/>
            <a:ext cx="10424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 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ra-portada"/>
          <p:cNvSpPr/>
          <p:nvPr/>
        </p:nvSpPr>
        <p:spPr>
          <a:xfrm>
            <a:off x="566928" y="2331720"/>
            <a:ext cx="82296" cy="1737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2286000"/>
            <a:ext cx="950976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Módulo 3. Ancestría local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914400" y="4251960"/>
            <a:ext cx="9509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CC83"/>
                </a:solidFill>
              </a:rPr>
              <a:t>Antes de la sesión del sábado 28 de noviembre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CC83"/>
                </a:solidFill>
              </a:rPr>
              <a:t>Phasing, haplotipos, modelos ocultos de Markov y RFMix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0F0"/>
                </a:solidFill>
              </a:rPr>
              <a:t>Curso de ancestría genética · Dra. Yina Tatiana Zambrano</a:t>
            </a:r>
            <a:endParaRPr lang="en-US" sz="1300" dirty="0"/>
          </a:p>
        </p:txBody>
      </p:sp>
      <p:sp>
        <p:nvSpPr>
          <p:cNvPr id="6" name="placa-logo"/>
          <p:cNvSpPr/>
          <p:nvPr/>
        </p:nvSpPr>
        <p:spPr>
          <a:xfrm>
            <a:off x="9601200" y="5806440"/>
            <a:ext cx="1965960" cy="841248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" name="logo-acgh" descr="/tmp/claude-0/-home-claude/e238050a-ce3c-58bd-bb86-9554df59862c/scratchpad/marca/logo_acgh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5925312"/>
            <a:ext cx="16002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acgh" descr="/tmp/claude-0/-home-claude/e238050a-ce3c-58bd-bb86-9554df59862c/scratchpad/marca/logo_acgh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5943600"/>
            <a:ext cx="1600200" cy="6035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457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El genoma de una persona mezclada es un mosaico</a:t>
            </a:r>
            <a:endParaRPr lang="en-US" sz="3000" dirty="0"/>
          </a:p>
        </p:txBody>
      </p:sp>
      <p:sp>
        <p:nvSpPr>
          <p:cNvPr id="4" name="barra-marca"/>
          <p:cNvSpPr/>
          <p:nvPr/>
        </p:nvSpPr>
        <p:spPr>
          <a:xfrm>
            <a:off x="566928" y="502920"/>
            <a:ext cx="68580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figura-karyo" descr="/tmp/claude-0/-home-claude/e238050a-ce3c-58bd-bb86-9554df59862c/scratchpad/figs/karyogram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08760"/>
            <a:ext cx="7589520" cy="45902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89720" y="1737360"/>
            <a:ext cx="21945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Cada par de barras es una persona: sus dos copias del cromosoma 22.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Los colores son la ancestría de cada tramo. Esto es lo que vamos a calcular el sábado, con personas reales de Medellín.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 zona gris de arriba es el brazo corto: secuencia repetitiva, sin SNPs utilizables.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acgh" descr="/tmp/claude-0/-home-claude/e238050a-ce3c-58bd-bb86-9554df59862c/scratchpad/marca/logo_acgh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5943600"/>
            <a:ext cx="1600200" cy="6035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457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Phasing: separar las dos copias de cada cromosoma</a:t>
            </a:r>
            <a:endParaRPr lang="en-US" sz="3000" dirty="0"/>
          </a:p>
        </p:txBody>
      </p:sp>
      <p:sp>
        <p:nvSpPr>
          <p:cNvPr id="4" name="barra-marca"/>
          <p:cNvSpPr/>
          <p:nvPr/>
        </p:nvSpPr>
        <p:spPr>
          <a:xfrm>
            <a:off x="566928" y="502920"/>
            <a:ext cx="68580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50876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El genotipado nos dice que en una posición una persona tiene A y G, pero no en cuál de sus dos cromosomas está cada uno.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Con una sola posición eso da igual. Con muchas posiciones seguidas, importa mucho: determina cuáles son sus dos haplotipos.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Resolver esa ambigüedad a lo largo del cromosoma es el phasing.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 resuelve estadísticamente: los haplotipos frecuentes en la población son más probables que las combinaciones raras. Lo hacen programas como SHAPEIT o Beagle.</a:t>
            </a:r>
            <a:endParaRPr lang="en-US" sz="1700" dirty="0"/>
          </a:p>
        </p:txBody>
      </p:sp>
      <p:sp>
        <p:nvSpPr>
          <p:cNvPr id="6" name="caja-sinfase"/>
          <p:cNvSpPr/>
          <p:nvPr/>
        </p:nvSpPr>
        <p:spPr>
          <a:xfrm>
            <a:off x="914400" y="4480560"/>
            <a:ext cx="493776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F2E3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4617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7899"/>
                </a:solidFill>
              </a:rPr>
              <a:t>Sin fasear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49834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0/1   — la barra inclinada dice "no sé en qué copia va cada alelo"</a:t>
            </a:r>
            <a:endParaRPr lang="en-US" sz="1400" dirty="0"/>
          </a:p>
        </p:txBody>
      </p:sp>
      <p:sp>
        <p:nvSpPr>
          <p:cNvPr id="9" name="caja-faseado"/>
          <p:cNvSpPr/>
          <p:nvPr/>
        </p:nvSpPr>
        <p:spPr>
          <a:xfrm>
            <a:off x="6400800" y="4480560"/>
            <a:ext cx="493776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F2E3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75120" y="4617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Faseado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49834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0|1   — la barra vertical dice "el 0 va en una copia y el 1 en la otra"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914400" y="150876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acgh" descr="/tmp/claude-0/-home-claude/e238050a-ce3c-58bd-bb86-9554df59862c/scratchpad/marca/logo_acgh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5943600"/>
            <a:ext cx="1600200" cy="6035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457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El mapa genético: medir en centimorgans, no en bases</a:t>
            </a:r>
            <a:endParaRPr lang="en-US" sz="3000" dirty="0"/>
          </a:p>
        </p:txBody>
      </p:sp>
      <p:sp>
        <p:nvSpPr>
          <p:cNvPr id="4" name="barra-marca"/>
          <p:cNvSpPr/>
          <p:nvPr/>
        </p:nvSpPr>
        <p:spPr>
          <a:xfrm>
            <a:off x="566928" y="502920"/>
            <a:ext cx="68580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50876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Los segmentos de ancestría terminan donde hubo recombinación, y la recombinación no ocurre de forma uniforme a lo largo del cromosoma.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Hay regiones con mucha recombinación y otras con muy poca, así que dos tramos del mismo tamaño en pares de bases no son equivalentes.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Por eso se usa el centimorgan (cM): 1 cM equivale a un 1 % de probabilidad de recombinación por generación.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El mapa genético traduce posiciones en pares de bases a posiciones en cM. Es uno de los cuatro archivos que RFMix exige.</a:t>
            </a:r>
            <a:endParaRPr lang="en-US" sz="1700" dirty="0"/>
          </a:p>
        </p:txBody>
      </p:sp>
      <p:sp>
        <p:nvSpPr>
          <p:cNvPr id="6" name="caja-cm"/>
          <p:cNvSpPr/>
          <p:nvPr/>
        </p:nvSpPr>
        <p:spPr>
          <a:xfrm>
            <a:off x="914400" y="4572000"/>
            <a:ext cx="1042416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9525">
            <a:solidFill>
              <a:srgbClr val="F2E3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475488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cromosoma 22 mide unos 50,8 millones de pares de bases y unos 74 cM. En la práctica veremos ese mapa graficado: la curva no es una recta.</a:t>
            </a:r>
            <a:endParaRPr lang="en-US" sz="1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914400" y="150876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acgh" descr="/tmp/claude-0/-home-claude/e238050a-ce3c-58bd-bb86-9554df59862c/scratchpad/marca/logo_acgh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5943600"/>
            <a:ext cx="1600200" cy="6035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457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Cómo decide RFMix la ancestría de cada tramo</a:t>
            </a:r>
            <a:endParaRPr lang="en-US" sz="3000" dirty="0"/>
          </a:p>
        </p:txBody>
      </p:sp>
      <p:sp>
        <p:nvSpPr>
          <p:cNvPr id="4" name="barra-marca"/>
          <p:cNvSpPr/>
          <p:nvPr/>
        </p:nvSpPr>
        <p:spPr>
          <a:xfrm>
            <a:off x="566928" y="502920"/>
            <a:ext cx="68580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paso-0"/>
          <p:cNvSpPr/>
          <p:nvPr/>
        </p:nvSpPr>
        <p:spPr>
          <a:xfrm>
            <a:off x="914400" y="16642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481328" y="1600200"/>
            <a:ext cx="9765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1. Ventanas a lo largo del cromosoma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481328" y="1984248"/>
            <a:ext cx="9765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Divide el cromosoma en ventanas y, en cada una, compara el haplotipo de la persona con los haplotipos de referencia.</a:t>
            </a:r>
            <a:endParaRPr lang="en-US" sz="1400" dirty="0"/>
          </a:p>
        </p:txBody>
      </p:sp>
      <p:sp>
        <p:nvSpPr>
          <p:cNvPr id="8" name="paso-1"/>
          <p:cNvSpPr/>
          <p:nvPr/>
        </p:nvSpPr>
        <p:spPr>
          <a:xfrm>
            <a:off x="914400" y="285292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81328" y="2788920"/>
            <a:ext cx="9765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2. Bosque aleatorio en cada ventana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172968"/>
            <a:ext cx="9765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Entrena un clasificador con las referencias y le pregunta a qué ancestría se parece más esa ventana. Esa es la parte "RF" del nombre.</a:t>
            </a:r>
            <a:endParaRPr lang="en-US" sz="1400" dirty="0"/>
          </a:p>
        </p:txBody>
      </p:sp>
      <p:sp>
        <p:nvSpPr>
          <p:cNvPr id="11" name="paso-2"/>
          <p:cNvSpPr/>
          <p:nvPr/>
        </p:nvSpPr>
        <p:spPr>
          <a:xfrm>
            <a:off x="914400" y="40416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481328" y="3977640"/>
            <a:ext cx="9765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3. Un modelo del cromosoma entero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81328" y="4361688"/>
            <a:ext cx="9765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ventana aislada se puede equivocar. Un campo aleatorio condicional usa el contexto: cambiar de ancestría tiene un costo, porque la recombinación es poco frecuente.</a:t>
            </a:r>
            <a:endParaRPr lang="en-US" sz="1400" dirty="0"/>
          </a:p>
        </p:txBody>
      </p:sp>
      <p:sp>
        <p:nvSpPr>
          <p:cNvPr id="14" name="paso-3"/>
          <p:cNvSpPr/>
          <p:nvPr/>
        </p:nvSpPr>
        <p:spPr>
          <a:xfrm>
            <a:off x="914400" y="5230368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481328" y="5166360"/>
            <a:ext cx="9765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4. Resultado: segmentos, no ventanas sueltas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481328" y="5550408"/>
            <a:ext cx="9765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 son tramos continuos con una ancestría asignada a cada uno, para cada uno de los dos haplotipos de la persona.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61447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899"/>
                </a:solidFill>
              </a:rPr>
              <a:t>Maples, Gravel, Kenny y Bustamante, Am J Hum Genet 2013;93:278–288. doi:10.1016/j.ajhg.2013.06.020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acgh" descr="/tmp/claude-0/-home-claude/e238050a-ce3c-58bd-bb86-9554df59862c/scratchpad/marca/logo_acgh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5943600"/>
            <a:ext cx="1600200" cy="6035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457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Lo que RFMix necesita: cuatro archivos</a:t>
            </a:r>
            <a:endParaRPr lang="en-US" sz="3000" dirty="0"/>
          </a:p>
        </p:txBody>
      </p:sp>
      <p:sp>
        <p:nvSpPr>
          <p:cNvPr id="4" name="barra-marca"/>
          <p:cNvSpPr/>
          <p:nvPr/>
        </p:nvSpPr>
        <p:spPr>
          <a:xfrm>
            <a:off x="566928" y="502920"/>
            <a:ext cx="68580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insumo-0"/>
          <p:cNvSpPr/>
          <p:nvPr/>
        </p:nvSpPr>
        <p:spPr>
          <a:xfrm>
            <a:off x="914400" y="1801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481328" y="1737360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Haplotipos de consulta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481328" y="2121408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VCF faseado de las personas que queremos analizar.</a:t>
            </a:r>
            <a:endParaRPr lang="en-US" sz="1400" dirty="0"/>
          </a:p>
        </p:txBody>
      </p:sp>
      <p:sp>
        <p:nvSpPr>
          <p:cNvPr id="8" name="insumo-1"/>
          <p:cNvSpPr/>
          <p:nvPr/>
        </p:nvSpPr>
        <p:spPr>
          <a:xfrm>
            <a:off x="6309360" y="180136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76288" y="1737360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Haplotipos de referencia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876288" y="2121408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VCF faseado de personas de ancestría conocida y no mezcladas.</a:t>
            </a:r>
            <a:endParaRPr lang="en-US" sz="1400" dirty="0"/>
          </a:p>
        </p:txBody>
      </p:sp>
      <p:sp>
        <p:nvSpPr>
          <p:cNvPr id="11" name="insumo-2"/>
          <p:cNvSpPr/>
          <p:nvPr/>
        </p:nvSpPr>
        <p:spPr>
          <a:xfrm>
            <a:off x="914400" y="34015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481328" y="3337560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Sample map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81328" y="3721608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tabla que dice qué ancestría representa cada persona de referencia.</a:t>
            </a:r>
            <a:endParaRPr lang="en-US" sz="1400" dirty="0"/>
          </a:p>
        </p:txBody>
      </p:sp>
      <p:sp>
        <p:nvSpPr>
          <p:cNvPr id="14" name="insumo-3"/>
          <p:cNvSpPr/>
          <p:nvPr/>
        </p:nvSpPr>
        <p:spPr>
          <a:xfrm>
            <a:off x="6309360" y="3401568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76288" y="3337560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Mapa genético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876288" y="3721608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posición en centimorgans de cada punto del cromosoma.</a:t>
            </a:r>
            <a:endParaRPr lang="en-US" sz="1400" dirty="0"/>
          </a:p>
        </p:txBody>
      </p:sp>
      <p:sp>
        <p:nvSpPr>
          <p:cNvPr id="17" name="caja-refs"/>
          <p:cNvSpPr/>
          <p:nvPr/>
        </p:nvSpPr>
        <p:spPr>
          <a:xfrm>
            <a:off x="914400" y="4937760"/>
            <a:ext cx="104241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9525">
            <a:solidFill>
              <a:srgbClr val="F2E3C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88720" y="507492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calidad del resultado depende sobre todo de las referencias: si una población de referencia está ella misma mezclada, RFMix confundirá ancestrías. Lo comprobaremos el sábado con un caso real.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acgh" descr="/tmp/claude-0/-home-claude/e238050a-ce3c-58bd-bb86-9554df59862c/scratchpad/marca/logo_acgh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5943600"/>
            <a:ext cx="1600200" cy="6035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457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El largo de los segmentos cuenta el tiempo</a:t>
            </a:r>
            <a:endParaRPr lang="en-US" sz="3000" dirty="0"/>
          </a:p>
        </p:txBody>
      </p:sp>
      <p:sp>
        <p:nvSpPr>
          <p:cNvPr id="4" name="barra-marca"/>
          <p:cNvSpPr/>
          <p:nvPr/>
        </p:nvSpPr>
        <p:spPr>
          <a:xfrm>
            <a:off x="566928" y="502920"/>
            <a:ext cx="68580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645920"/>
            <a:ext cx="5303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generación desde la mezcla, la recombinación corta los segmentos de ancestría. Segmentos largos significan mezcla reciente; segmentos cortos, mezcla antigua.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ahí se puede estimar hace cuántas generaciones ocurrió la mezcla. En las poblaciones latinoamericanas el orden de magnitud son 15 a 20 generaciones, es decir unos 400 a 500 años, que coincide con lo que sabemos por historia.</a:t>
            </a:r>
            <a:endParaRPr lang="en-US" sz="1600" dirty="0"/>
          </a:p>
        </p:txBody>
      </p:sp>
      <p:pic>
        <p:nvPicPr>
          <p:cNvPr id="6" name="figura-lineas" descr="/tmp/claude-0/-home-claude/e238050a-ce3c-58bd-bb86-9554df59862c/scratchpad/figs/line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4754880" cy="427939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" y="4754880"/>
            <a:ext cx="53035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E7899"/>
                </a:solidFill>
              </a:rPr>
              <a:t>A la derecha, la otra cara: la ancestría promedio a lo largo del cromosoma 22 en cuatro poblaciones. Las líneas son casi planas, como corresponde a una mezcla sin selección fuerte.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61447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899"/>
                </a:solidFill>
              </a:rPr>
              <a:t>Gravel, Genetics 2012;191:607–619. doi:10.1534/genetics.112.139808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acgh" descr="/tmp/claude-0/-home-claude/e238050a-ce3c-58bd-bb86-9554df59862c/scratchpad/marca/logo_acgh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5943600"/>
            <a:ext cx="1600200" cy="6035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457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Para la sesión del sábado 28 de noviembre</a:t>
            </a:r>
            <a:endParaRPr lang="en-US" sz="3000" dirty="0"/>
          </a:p>
        </p:txBody>
      </p:sp>
      <p:sp>
        <p:nvSpPr>
          <p:cNvPr id="4" name="barra-marca"/>
          <p:cNvSpPr/>
          <p:nvPr/>
        </p:nvSpPr>
        <p:spPr>
          <a:xfrm>
            <a:off x="566928" y="502920"/>
            <a:ext cx="68580" cy="7772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50876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Usaremos el cromosoma 22 ya faseado de personas de Medellín, México, Puerto Rico y Lima.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Revisaremos los cuatro insumos y armaremos el sample map como ejercicio.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Compilaremos y correremos RFMix: unos 4 minutos con 10 personas.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Pintaremos los cromosomas de dos formas y compararemos las cuatro poblaciones.</a:t>
            </a:r>
            <a:endParaRPr lang="en-US" sz="1700" dirty="0"/>
          </a:p>
        </p:txBody>
      </p:sp>
      <p:sp>
        <p:nvSpPr>
          <p:cNvPr id="6" name="caja-lecturas"/>
          <p:cNvSpPr/>
          <p:nvPr/>
        </p:nvSpPr>
        <p:spPr>
          <a:xfrm>
            <a:off x="914400" y="4206240"/>
            <a:ext cx="10424160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9525">
            <a:solidFill>
              <a:srgbClr val="F2E3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43708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Lecturas de este módulo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4754880"/>
            <a:ext cx="98755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Maples et al. RFMix: a discriminative modeling approach for rapid and robust local-ancestry inference. Am J Hum Genet 2013;93:278–288 (principal)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Gravel. Population genetics models of local ancestry. Genetics 2012;191:607–619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Koenig et al. A harmonized public resource of deeply sequenced diverse human genomes. Genome Res 2024;34(5):796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914400" y="150876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0D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GH Ancestria">
  <a:themeElements>
    <a:clrScheme name="ACGH Ancestria">
      <a:dk1>
        <a:srgbClr val="1F2A5A"/>
      </a:dk1>
      <a:lt1>
        <a:srgbClr val="FFFAF0"/>
      </a:lt1>
      <a:dk2>
        <a:srgbClr val="354AC0"/>
      </a:dk2>
      <a:lt2>
        <a:srgbClr val="FFF2DC"/>
      </a:lt2>
      <a:accent1>
        <a:srgbClr val="354AC0"/>
      </a:accent1>
      <a:accent2>
        <a:srgbClr val="F09700"/>
      </a:accent2>
      <a:accent3>
        <a:srgbClr val="1BAF7A"/>
      </a:accent3>
      <a:accent4>
        <a:srgbClr val="6B6B6B"/>
      </a:accent4>
      <a:accent5>
        <a:srgbClr val="FFCC83"/>
      </a:accent5>
      <a:accent6>
        <a:srgbClr val="EB6834"/>
      </a:accent6>
      <a:hlink>
        <a:srgbClr val="354AC0"/>
      </a:hlink>
      <a:folHlink>
        <a:srgbClr val="6250D6"/>
      </a:folHlink>
    </a:clrScheme>
    <a:fontScheme name="ACGH Ancestri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Modulo 3. Ancestria local</dc:title>
  <dc:subject>Curso de ancestria genetica - ACGH</dc:subject>
  <dc:creator>Dra. Yina Tatiana Zambrano</dc:creator>
  <cp:lastModifiedBy>Dra. Yina Tatiana Zambrano</cp:lastModifiedBy>
  <cp:revision>1</cp:revision>
  <dcterms:created xsi:type="dcterms:W3CDTF">2026-10-28T14:43:33Z</dcterms:created>
  <dcterms:modified xsi:type="dcterms:W3CDTF">2026-10-28T14:43:33Z</dcterms:modified>
</cp:coreProperties>
</file>