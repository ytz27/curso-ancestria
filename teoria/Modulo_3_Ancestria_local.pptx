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ulo 3" id="{99d5c6a9-1d55-985d-83b8-7559390e415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Modulo 3. El mas tecnico de los cuatro. Prepara la sesion de RFMix.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el modulo con el resultado, no con el metodo. Que vean a donde vamos a llegar y luego expliquemos como.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simbolo, la barra vertical, es lo primero que van a mirar en el archivo el sabado. RFMix exige datos faseados: si se los das sin fasear, igual corre pero el resultado no sirve.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alguien pregunta de donde sale el mapa genetico: se estima a partir de datos de familias y de patrones de LD en poblaciones. Nosotros usamos el que distribuye Eagle, derivado de HapMap.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hace falta que entiendan las matematicas del campo aleatorio condicional. La intuicion que importa es la del paso 3: el metodo penaliza los cambios de ancestria porque sabe que la recombinacion es rara.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caso real: al preparar los datos del curso tuvimos que descartar a los Maya del HGDP como referencia nativa americana, porque varios tienen ancestria europea. Al quitarlos, el acierto de la referencia nativa subio de 97,3 % a 99,5 %.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Nosotros no vamos a fechar la mezcla en el curso, pero vale la pena que sepan que se puede y que es una aplicacion directa de lo que calculamos.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agradeciendo y recordando la fecha de la sesión práctica.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286000"/>
            <a:ext cx="95097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 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4251960"/>
            <a:ext cx="95097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8A6A1E"/>
                </a:solidFill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8A6A1E"/>
                </a:solidFill>
              </a:rPr>
              <a:t> </a:t>
            </a:r>
            <a:endParaRPr lang="en-US" sz="17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457200"/>
            <a:ext cx="104241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 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1508760"/>
            <a:ext cx="10424160" cy="457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256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9C0D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TITUL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457200"/>
            <a:ext cx="104241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 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256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9C0D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256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9C0D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16/j.ajhg.2013.06.020" TargetMode="External"/><Relationship Id="rId2" Type="http://schemas.openxmlformats.org/officeDocument/2006/relationships/hyperlink" Target="https://doi.org/10.1534/genetics.112.139808" TargetMode="External"/><Relationship Id="rId3" Type="http://schemas.openxmlformats.org/officeDocument/2006/relationships/hyperlink" Target="https://doi.org/10.1101/gr.278378.123" TargetMode="External"/><Relationship Id="rId4" Type="http://schemas.openxmlformats.org/officeDocument/2006/relationships/image" Target="../media/image-9-1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-portada"/>
          <p:cNvSpPr/>
          <p:nvPr/>
        </p:nvSpPr>
        <p:spPr>
          <a:xfrm>
            <a:off x="566928" y="2331720"/>
            <a:ext cx="82296" cy="17373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2286000"/>
            <a:ext cx="9509760" cy="1828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Módulo 3. Ancestría local</a:t>
            </a:r>
            <a:endParaRPr lang="en-US" sz="3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914400" y="4251960"/>
            <a:ext cx="9509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8A6A1E"/>
                </a:solidFill>
              </a:rPr>
              <a:t>Antes de la sesión del sábado 28 de noviembre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8A6A1E"/>
                </a:solidFill>
              </a:rPr>
              <a:t>Phasing, haplotipos, modelos ocultos de Markov y RFMix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899"/>
                </a:solidFill>
              </a:rPr>
              <a:t>Curso de ancestría genética · Dra. Yina Tatiana Zambrano</a:t>
            </a:r>
            <a:endParaRPr lang="en-US" sz="1300" dirty="0"/>
          </a:p>
        </p:txBody>
      </p:sp>
      <p:pic>
        <p:nvPicPr>
          <p:cNvPr id="6" name="logo-acgh" descr="/tmp/claude-0/-home-claude/e238050a-ce3c-58bd-bb86-9554df59862c/scratchpad/marca/logo_acgh_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457200"/>
            <a:ext cx="2002536" cy="7498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-acgh" descr="/tmp/claude-0/-home-claude/e238050a-ce3c-58bd-bb86-9554df59862c/scratchpad/marca/logo_acgh_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943600"/>
            <a:ext cx="1600200" cy="60350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45720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El genoma de una persona mezclada es un mosaico</a:t>
            </a:r>
            <a:endParaRPr lang="en-US" sz="3000" dirty="0"/>
          </a:p>
        </p:txBody>
      </p:sp>
      <p:sp>
        <p:nvSpPr>
          <p:cNvPr id="4" name="barra-marca"/>
          <p:cNvSpPr/>
          <p:nvPr/>
        </p:nvSpPr>
        <p:spPr>
          <a:xfrm>
            <a:off x="566928" y="502920"/>
            <a:ext cx="68580" cy="7772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figura-karyo" descr="/tmp/claude-0/-home-claude/e238050a-ce3c-58bd-bb86-9554df59862c/scratchpad/figs/karyogram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508760"/>
            <a:ext cx="7589520" cy="459028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9189720" y="1737360"/>
            <a:ext cx="21945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Cada par de barras es una persona: sus dos copias del cromosoma 22.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Los colores son la ancestría de cada tramo. Esto es lo que vamos a calcular el sábado, con personas reales de Medellín.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 zona gris de arriba es el brazo corto: secuencia repetitiva, sin SNPs utilizables.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256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9C0D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-acgh" descr="/tmp/claude-0/-home-claude/e238050a-ce3c-58bd-bb86-9554df59862c/scratchpad/marca/logo_acgh_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943600"/>
            <a:ext cx="1600200" cy="60350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45720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Phasing: separar las dos copias de cada cromosoma</a:t>
            </a:r>
            <a:endParaRPr lang="en-US" sz="3000" dirty="0"/>
          </a:p>
        </p:txBody>
      </p:sp>
      <p:sp>
        <p:nvSpPr>
          <p:cNvPr id="4" name="barra-marca"/>
          <p:cNvSpPr/>
          <p:nvPr/>
        </p:nvSpPr>
        <p:spPr>
          <a:xfrm>
            <a:off x="566928" y="502920"/>
            <a:ext cx="68580" cy="7772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508760"/>
            <a:ext cx="104241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El genotipado nos dice que en una posición una persona tiene A y G, pero no en cuál de sus dos cromosomas está cada uno.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Con una sola posición eso da igual. Con muchas posiciones seguidas, importa mucho: determina cuáles son sus dos haplotipos.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Resolver esa ambigüedad a lo largo del cromosoma es el phasing.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Se resuelve estadísticamente: los haplotipos frecuentes en la población son más probables que las combinaciones raras. Lo hacen programas como SHAPEIT o Beagle.</a:t>
            </a:r>
            <a:endParaRPr lang="en-US" sz="1700" dirty="0"/>
          </a:p>
        </p:txBody>
      </p:sp>
      <p:sp>
        <p:nvSpPr>
          <p:cNvPr id="6" name="caja-sinfase"/>
          <p:cNvSpPr/>
          <p:nvPr/>
        </p:nvSpPr>
        <p:spPr>
          <a:xfrm>
            <a:off x="914400" y="4480560"/>
            <a:ext cx="49377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rgbClr val="F2E3C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88720" y="4617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7899"/>
                </a:solidFill>
              </a:rPr>
              <a:t>Sin fasear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49834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0/1   — la barra inclinada dice "no sé en qué copia va cada alelo"</a:t>
            </a:r>
            <a:endParaRPr lang="en-US" sz="1400" dirty="0"/>
          </a:p>
        </p:txBody>
      </p:sp>
      <p:sp>
        <p:nvSpPr>
          <p:cNvPr id="9" name="caja-faseado"/>
          <p:cNvSpPr/>
          <p:nvPr/>
        </p:nvSpPr>
        <p:spPr>
          <a:xfrm>
            <a:off x="6400800" y="4480560"/>
            <a:ext cx="49377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rgbClr val="F2E3C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675120" y="4617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Faseado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49834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0|1   — la barra vertical dice "el 0 va en una copia y el 1 en la otra"</a:t>
            </a:r>
            <a:endParaRPr lang="en-US" sz="1400" dirty="0"/>
          </a:p>
        </p:txBody>
      </p:sp>
      <p:sp>
        <p:nvSpPr>
          <p:cNvPr id="13" name="Text 0"/>
          <p:cNvSpPr/>
          <p:nvPr>
            <p:ph idx="101" type="body" hasCustomPrompt="1"/>
          </p:nvPr>
        </p:nvSpPr>
        <p:spPr>
          <a:xfrm>
            <a:off x="914400" y="1508760"/>
            <a:ext cx="104241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256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9C0D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-acgh" descr="/tmp/claude-0/-home-claude/e238050a-ce3c-58bd-bb86-9554df59862c/scratchpad/marca/logo_acgh_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943600"/>
            <a:ext cx="1600200" cy="60350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45720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El mapa genético: medir en centimorgans, no en bases</a:t>
            </a:r>
            <a:endParaRPr lang="en-US" sz="3000" dirty="0"/>
          </a:p>
        </p:txBody>
      </p:sp>
      <p:sp>
        <p:nvSpPr>
          <p:cNvPr id="4" name="barra-marca"/>
          <p:cNvSpPr/>
          <p:nvPr/>
        </p:nvSpPr>
        <p:spPr>
          <a:xfrm>
            <a:off x="566928" y="502920"/>
            <a:ext cx="68580" cy="7772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508760"/>
            <a:ext cx="104241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Los segmentos de ancestría terminan donde hubo recombinación, y la recombinación no ocurre de forma uniforme a lo largo del cromosoma.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Hay regiones con mucha recombinación y otras con muy poca, así que dos tramos del mismo tamaño en pares de bases no son equivalentes.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Por eso se usa el centimorgan (cM): 1 cM equivale a un 1 % de probabilidad de recombinación por generación.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El mapa genético traduce posiciones en pares de bases a posiciones en cM. Es uno de los cuatro archivos que RFMix exige.</a:t>
            </a:r>
            <a:endParaRPr lang="en-US" sz="1700" dirty="0"/>
          </a:p>
        </p:txBody>
      </p:sp>
      <p:sp>
        <p:nvSpPr>
          <p:cNvPr id="6" name="caja-cm"/>
          <p:cNvSpPr/>
          <p:nvPr/>
        </p:nvSpPr>
        <p:spPr>
          <a:xfrm>
            <a:off x="914400" y="4572000"/>
            <a:ext cx="1042416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9525">
            <a:solidFill>
              <a:srgbClr val="F2E3C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88720" y="475488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El cromosoma 22 mide unos 50,8 millones de pares de bases y unos 74 cM. En la práctica veremos ese mapa graficado: la curva no es una recta.</a:t>
            </a:r>
            <a:endParaRPr lang="en-US" sz="1600" dirty="0"/>
          </a:p>
        </p:txBody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914400" y="1508760"/>
            <a:ext cx="104241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256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9C0D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-acgh" descr="/tmp/claude-0/-home-claude/e238050a-ce3c-58bd-bb86-9554df59862c/scratchpad/marca/logo_acgh_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943600"/>
            <a:ext cx="1600200" cy="60350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45720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Cómo decide RFMix la ancestría de cada tramo</a:t>
            </a:r>
            <a:endParaRPr lang="en-US" sz="3000" dirty="0"/>
          </a:p>
        </p:txBody>
      </p:sp>
      <p:sp>
        <p:nvSpPr>
          <p:cNvPr id="4" name="barra-marca"/>
          <p:cNvSpPr/>
          <p:nvPr/>
        </p:nvSpPr>
        <p:spPr>
          <a:xfrm>
            <a:off x="566928" y="502920"/>
            <a:ext cx="68580" cy="7772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paso-0"/>
          <p:cNvSpPr/>
          <p:nvPr/>
        </p:nvSpPr>
        <p:spPr>
          <a:xfrm>
            <a:off x="914400" y="16642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481328" y="1600200"/>
            <a:ext cx="9765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1. Ventanas a lo largo del cromosoma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481328" y="1984248"/>
            <a:ext cx="9765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Divide el cromosoma en ventanas y, en cada una, compara el haplotipo de la persona con los haplotipos de referencia.</a:t>
            </a:r>
            <a:endParaRPr lang="en-US" sz="1400" dirty="0"/>
          </a:p>
        </p:txBody>
      </p:sp>
      <p:sp>
        <p:nvSpPr>
          <p:cNvPr id="8" name="paso-1"/>
          <p:cNvSpPr/>
          <p:nvPr/>
        </p:nvSpPr>
        <p:spPr>
          <a:xfrm>
            <a:off x="914400" y="2852928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481328" y="2788920"/>
            <a:ext cx="9765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2. Bosque aleatorio en cada ventana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481328" y="3172968"/>
            <a:ext cx="9765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Entrena un clasificador con las referencias y le pregunta a qué ancestría se parece más esa ventana. Esa es la parte "RF" del nombre.</a:t>
            </a:r>
            <a:endParaRPr lang="en-US" sz="1400" dirty="0"/>
          </a:p>
        </p:txBody>
      </p:sp>
      <p:sp>
        <p:nvSpPr>
          <p:cNvPr id="11" name="paso-2"/>
          <p:cNvSpPr/>
          <p:nvPr/>
        </p:nvSpPr>
        <p:spPr>
          <a:xfrm>
            <a:off x="914400" y="404164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481328" y="3977640"/>
            <a:ext cx="9765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3. Un modelo del cromosoma entero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481328" y="4361688"/>
            <a:ext cx="9765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Una ventana aislada se puede equivocar. Un campo aleatorio condicional usa el contexto: cambiar de ancestría tiene un costo, porque la recombinación es poco frecuente.</a:t>
            </a:r>
            <a:endParaRPr lang="en-US" sz="1400" dirty="0"/>
          </a:p>
        </p:txBody>
      </p:sp>
      <p:sp>
        <p:nvSpPr>
          <p:cNvPr id="14" name="paso-3"/>
          <p:cNvSpPr/>
          <p:nvPr/>
        </p:nvSpPr>
        <p:spPr>
          <a:xfrm>
            <a:off x="914400" y="5230368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481328" y="5166360"/>
            <a:ext cx="9765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4. Resultado: segmentos, no ventanas sueltas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1481328" y="5550408"/>
            <a:ext cx="9765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salida son tramos continuos con una ancestría asignada a cada uno, para cada uno de los dos haplotipos de la persona.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614476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899"/>
                </a:solidFill>
              </a:rPr>
              <a:t>Maples, Gravel, Kenny y Bustamante, Am J Hum Genet 2013;93:278–288. doi:10.1016/j.ajhg.2013.06.020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256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9C0D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-acgh" descr="/tmp/claude-0/-home-claude/e238050a-ce3c-58bd-bb86-9554df59862c/scratchpad/marca/logo_acgh_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943600"/>
            <a:ext cx="1600200" cy="60350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45720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Lo que RFMix necesita: cuatro archivos</a:t>
            </a:r>
            <a:endParaRPr lang="en-US" sz="3000" dirty="0"/>
          </a:p>
        </p:txBody>
      </p:sp>
      <p:sp>
        <p:nvSpPr>
          <p:cNvPr id="4" name="barra-marca"/>
          <p:cNvSpPr/>
          <p:nvPr/>
        </p:nvSpPr>
        <p:spPr>
          <a:xfrm>
            <a:off x="566928" y="502920"/>
            <a:ext cx="68580" cy="7772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insumo-0"/>
          <p:cNvSpPr/>
          <p:nvPr/>
        </p:nvSpPr>
        <p:spPr>
          <a:xfrm>
            <a:off x="914400" y="18013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481328" y="1737360"/>
            <a:ext cx="4370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Haplotipos de consulta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481328" y="2121408"/>
            <a:ext cx="4370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VCF faseado de las personas que queremos analizar.</a:t>
            </a:r>
            <a:endParaRPr lang="en-US" sz="1400" dirty="0"/>
          </a:p>
        </p:txBody>
      </p:sp>
      <p:sp>
        <p:nvSpPr>
          <p:cNvPr id="8" name="insumo-1"/>
          <p:cNvSpPr/>
          <p:nvPr/>
        </p:nvSpPr>
        <p:spPr>
          <a:xfrm>
            <a:off x="6309360" y="1801368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76288" y="1737360"/>
            <a:ext cx="4370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Haplotipos de referencia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876288" y="2121408"/>
            <a:ext cx="4370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VCF faseado de personas de ancestría conocida y no mezcladas.</a:t>
            </a:r>
            <a:endParaRPr lang="en-US" sz="1400" dirty="0"/>
          </a:p>
        </p:txBody>
      </p:sp>
      <p:sp>
        <p:nvSpPr>
          <p:cNvPr id="11" name="insumo-2"/>
          <p:cNvSpPr/>
          <p:nvPr/>
        </p:nvSpPr>
        <p:spPr>
          <a:xfrm>
            <a:off x="914400" y="340156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481328" y="3337560"/>
            <a:ext cx="4370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Sample map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481328" y="3721608"/>
            <a:ext cx="4370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Una tabla que dice qué ancestría representa cada persona de referencia.</a:t>
            </a:r>
            <a:endParaRPr lang="en-US" sz="1400" dirty="0"/>
          </a:p>
        </p:txBody>
      </p:sp>
      <p:sp>
        <p:nvSpPr>
          <p:cNvPr id="14" name="insumo-3"/>
          <p:cNvSpPr/>
          <p:nvPr/>
        </p:nvSpPr>
        <p:spPr>
          <a:xfrm>
            <a:off x="6309360" y="3401568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76288" y="3337560"/>
            <a:ext cx="4370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Mapa genético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6876288" y="3721608"/>
            <a:ext cx="4370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posición en centimorgans de cada punto del cromosoma.</a:t>
            </a:r>
            <a:endParaRPr lang="en-US" sz="1400" dirty="0"/>
          </a:p>
        </p:txBody>
      </p:sp>
      <p:sp>
        <p:nvSpPr>
          <p:cNvPr id="17" name="caja-refs"/>
          <p:cNvSpPr/>
          <p:nvPr/>
        </p:nvSpPr>
        <p:spPr>
          <a:xfrm>
            <a:off x="914400" y="4937760"/>
            <a:ext cx="104241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9525">
            <a:solidFill>
              <a:srgbClr val="F2E3C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88720" y="50749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 calidad del resultado depende sobre todo de las referencias: si una población de referencia está ella misma mezclada, RFMix confundirá ancestrías. Lo comprobaremos el sábado con un caso real.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256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9C0D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-acgh" descr="/tmp/claude-0/-home-claude/e238050a-ce3c-58bd-bb86-9554df59862c/scratchpad/marca/logo_acgh_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943600"/>
            <a:ext cx="1600200" cy="60350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45720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El largo de los segmentos cuenta el tiempo</a:t>
            </a:r>
            <a:endParaRPr lang="en-US" sz="3000" dirty="0"/>
          </a:p>
        </p:txBody>
      </p:sp>
      <p:sp>
        <p:nvSpPr>
          <p:cNvPr id="4" name="barra-marca"/>
          <p:cNvSpPr/>
          <p:nvPr/>
        </p:nvSpPr>
        <p:spPr>
          <a:xfrm>
            <a:off x="566928" y="502920"/>
            <a:ext cx="68580" cy="7772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645920"/>
            <a:ext cx="53035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Cada generación desde la mezcla, la recombinación corta los segmentos de ancestría. Segmentos largos significan mezcla reciente; segmentos cortos, mezcla antigua.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 ahí se puede estimar hace cuántas generaciones ocurrió la mezcla. En las poblaciones latinoamericanas el orden de magnitud son 15 a 20 generaciones, es decir unos 400 a 500 años, que coincide con lo que sabemos por historia.</a:t>
            </a:r>
            <a:endParaRPr lang="en-US" sz="1600" dirty="0"/>
          </a:p>
        </p:txBody>
      </p:sp>
      <p:pic>
        <p:nvPicPr>
          <p:cNvPr id="6" name="figura-lineas" descr="/tmp/claude-0/-home-claude/e238050a-ce3c-58bd-bb86-9554df59862c/scratchpad/figs/line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554480"/>
            <a:ext cx="4754880" cy="427939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14400" y="475488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E7899"/>
                </a:solidFill>
              </a:rPr>
              <a:t>A la derecha, la otra cara: la ancestría promedio a lo largo del cromosoma 22 en cuatro poblaciones. Las líneas son casi planas, como corresponde a una mezcla sin selección fuerte.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614476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899"/>
                </a:solidFill>
              </a:rPr>
              <a:t>Gravel, Genetics 2012;191:607–619. doi:10.1534/genetics.112.139808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256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9C0D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-acgh" descr="/tmp/claude-0/-home-claude/e238050a-ce3c-58bd-bb86-9554df59862c/scratchpad/marca/logo_acgh_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943600"/>
            <a:ext cx="1600200" cy="60350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45720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Para la sesión del sábado 28 de noviembre</a:t>
            </a:r>
            <a:endParaRPr lang="en-US" sz="3000" dirty="0"/>
          </a:p>
        </p:txBody>
      </p:sp>
      <p:sp>
        <p:nvSpPr>
          <p:cNvPr id="4" name="barra-marca"/>
          <p:cNvSpPr/>
          <p:nvPr/>
        </p:nvSpPr>
        <p:spPr>
          <a:xfrm>
            <a:off x="566928" y="502920"/>
            <a:ext cx="68580" cy="7772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508760"/>
            <a:ext cx="104241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Usaremos el cromosoma 22 ya faseado de personas de Medellín, México, Puerto Rico y Lima.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Revisaremos los cuatro insumos y armaremos el sample map como ejercicio.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Compilaremos y correremos RFMix: unos 4 minutos con 10 personas.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Pintaremos los cromosomas de dos formas y compararemos las cuatro poblaciones.</a:t>
            </a:r>
            <a:endParaRPr lang="en-US" sz="17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914400" y="1508760"/>
            <a:ext cx="104241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256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9C0D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-cierre"/>
          <p:cNvSpPr/>
          <p:nvPr/>
        </p:nvSpPr>
        <p:spPr>
          <a:xfrm>
            <a:off x="566928" y="1325880"/>
            <a:ext cx="82296" cy="10058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132588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Gracias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39572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Nos vemos en la sesión práctica del sábado 28 de noviembre.</a:t>
            </a:r>
            <a:endParaRPr lang="en-US" sz="1800" dirty="0"/>
          </a:p>
        </p:txBody>
      </p:sp>
      <p:sp>
        <p:nvSpPr>
          <p:cNvPr id="5" name="caja-lecturas"/>
          <p:cNvSpPr/>
          <p:nvPr/>
        </p:nvSpPr>
        <p:spPr>
          <a:xfrm>
            <a:off x="914400" y="3154680"/>
            <a:ext cx="1042416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9525">
            <a:solidFill>
              <a:srgbClr val="F2E3C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331927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Lecturas de este módulo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370332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u="sng" dirty="0">
                <a:solidFill>
                  <a:schemeClr val="accent1"/>
                </a:solidFill>
                <a:hlinkClick r:id="rId1" invalidUrl="" action="" tgtFrame="" tooltip="Maples BK, Gravel S, Kenny EE, Bustamante CD. RFMix: a discriminative modeling approach for rapid and robust local-ancestry inference. Am J Hum Genet. 2013;93(2):278–288.  (principal)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Maples BK, Gravel S, Kenny EE, Bustamante CD. RFMix: a discriminative modeling approach for rapid and robust local-ancestry inference. Am J Hum Genet. 2013;93(2):278–288.  (principal)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u="sng" dirty="0">
                <a:solidFill>
                  <a:schemeClr val="accent1"/>
                </a:solidFill>
                <a:hlinkClick r:id="rId2" invalidUrl="" action="" tgtFrame="" tooltip="Gravel S. Population genetics models of local ancestry. Genetics. 2012;191(2):607–619.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Gravel S. Population genetics models of local ancestry. Genetics. 2012;191(2):607–619.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u="sng" dirty="0">
                <a:solidFill>
                  <a:schemeClr val="accent1"/>
                </a:solidFill>
                <a:hlinkClick r:id="rId3" invalidUrl="" action="" tgtFrame="" tooltip="Koenig Z, et al. A harmonized public resource of deeply sequenced diverse human genomes. Genome Res. 2024;34(5):796–809.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Koenig Z, et al. A harmonized public resource of deeply sequenced diverse human genomes. Genome Res. 2024;34(5):796–809.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9436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899"/>
                </a:solidFill>
              </a:rPr>
              <a:t>Curso de ancestría genética · Dra. Yina Tatiana Zambrano · Asociación Colombiana de Genética Humana</a:t>
            </a:r>
            <a:endParaRPr lang="en-US" sz="1200" dirty="0"/>
          </a:p>
        </p:txBody>
      </p:sp>
      <p:pic>
        <p:nvPicPr>
          <p:cNvPr id="9" name="logo-acgh" descr="/tmp/claude-0/-home-claude/e238050a-ce3c-58bd-bb86-9554df59862c/scratchpad/marca/logo_acgh_h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457200"/>
            <a:ext cx="2002536" cy="749808"/>
          </a:xfrm>
          <a:prstGeom prst="rect">
            <a:avLst/>
          </a:prstGeom>
        </p:spPr>
      </p:pic>
      <p:sp>
        <p:nvSpPr>
          <p:cNvPr id="11" name="Text 0"/>
          <p:cNvSpPr/>
          <p:nvPr>
            <p:ph idx="100" type="title" hasCustomPrompt="1"/>
          </p:nvPr>
        </p:nvSpPr>
        <p:spPr>
          <a:xfrm>
            <a:off x="914400" y="2286000"/>
            <a:ext cx="9509760" cy="1828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12" name="Text 0"/>
          <p:cNvSpPr/>
          <p:nvPr>
            <p:ph idx="101" type="body" hasCustomPrompt="1"/>
          </p:nvPr>
        </p:nvSpPr>
        <p:spPr>
          <a:xfrm>
            <a:off x="914400" y="4251960"/>
            <a:ext cx="9509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GH Ancestria">
  <a:themeElements>
    <a:clrScheme name="ACGH Ancestria">
      <a:dk1>
        <a:srgbClr val="1F2A5A"/>
      </a:dk1>
      <a:lt1>
        <a:srgbClr val="FFFFFF"/>
      </a:lt1>
      <a:dk2>
        <a:srgbClr val="354AC0"/>
      </a:dk2>
      <a:lt2>
        <a:srgbClr val="FFF4E2"/>
      </a:lt2>
      <a:accent1>
        <a:srgbClr val="354AC0"/>
      </a:accent1>
      <a:accent2>
        <a:srgbClr val="F09700"/>
      </a:accent2>
      <a:accent3>
        <a:srgbClr val="1BAF7A"/>
      </a:accent3>
      <a:accent4>
        <a:srgbClr val="6B6B6B"/>
      </a:accent4>
      <a:accent5>
        <a:srgbClr val="FFCC83"/>
      </a:accent5>
      <a:accent6>
        <a:srgbClr val="EB6834"/>
      </a:accent6>
      <a:hlink>
        <a:srgbClr val="354AC0"/>
      </a:hlink>
      <a:folHlink>
        <a:srgbClr val="6250D6"/>
      </a:folHlink>
    </a:clrScheme>
    <a:fontScheme name="ACGH Ancestri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Modulo 3. Ancestria local</dc:title>
  <dc:subject>Curso de ancestria genetica - ACGH</dc:subject>
  <dc:creator>Dra. Yina Tatiana Zambrano</dc:creator>
  <cp:lastModifiedBy>Dra. Yina Tatiana Zambrano</cp:lastModifiedBy>
  <cp:revision>1</cp:revision>
  <dcterms:created xsi:type="dcterms:W3CDTF">2026-10-28T16:07:35Z</dcterms:created>
  <dcterms:modified xsi:type="dcterms:W3CDTF">2026-10-28T16:07:35Z</dcterms:modified>
</cp:coreProperties>
</file>