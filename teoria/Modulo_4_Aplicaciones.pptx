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odulo 4" id="{71652dc5-e157-c3b2-5ffe-1d3260d7d0cd}">
          <p14:sldIdLst>
            <p14:sldId id="256"/>
            <p14:sldId id="257"/>
            <p14:sldId id="258"/>
            <p14:sldId id="259"/>
            <p14:sldId id="260"/>
            <p14:sldId id="261"/>
            <p14:sldId id="262"/>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Modulo 4. El mas clinico y el que mas discusion genera.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pregunta de discusion del cuaderno es justamente esta: por que necesita menos marcadores. La respuesta esta en el tamano de los bloques que vieron en el karyograma del modulo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Vale la pena mencionar por que estas variantes se mantuvieron: dan proteccion contra el tripanosoma, el parasito de la enfermedad del sueno. Es un caso de ventaja frente a infeccion con costo en otra enfermedad.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Aclarar algo importante: tener dos copias africanas ahi NO significa tener la variante de riesgo. La frecuencia de G1 en poblaciones africanas occidentales es cercana al 40 %. La ancestria local acota quien PUEDE tenerla, no quien la tiene.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punto que mas le interesa a un publico clinico. El mensaje: no es que el PRS no sirva en poblaciones mezcladas, es que su desempeno hay que validarlo localmente antes de usarlo.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Dejar la pregunta abierta para la sesion. Respuestas razonables: validar el desempeno en la cohorte local, reportar por estratos de ancestria, no dar resultados individuales hasta tener calibracion local.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del material teorico. Decir con franqueza que el curso es una introduccion.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914400" y="2286000"/>
            <a:ext cx="9509760" cy="182880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r>
              <a:rPr lang="en-US" sz="3800" b="1" dirty="0">
                <a:solidFill>
                  <a:schemeClr val="bg1"/>
                </a:solidFill>
              </a:rPr>
              <a:t> </a:t>
            </a:r>
            <a:endParaRPr lang="en-US" sz="3800" dirty="0"/>
          </a:p>
        </p:txBody>
      </p:sp>
      <p:sp>
        <p:nvSpPr>
          <p:cNvPr id="3" name="Text 0"/>
          <p:cNvSpPr/>
          <p:nvPr>
            <p:ph idx="101" type="body" hasCustomPrompt="1"/>
          </p:nvPr>
        </p:nvSpPr>
        <p:spPr>
          <a:xfrm>
            <a:off x="914400" y="4251960"/>
            <a:ext cx="9509760" cy="1371600"/>
          </a:xfrm>
          <a:prstGeom prst="rect">
            <a:avLst/>
          </a:prstGeom>
          <a:noFill/>
          <a:ln/>
        </p:spPr>
        <p:txBody>
          <a:bodyPr wrap="square" rtlCol="0"/>
          <a:lstStyle>
            <a:lvl1pPr algn="l" indent="0" marL="0">
              <a:buNone/>
              <a:defRPr lang="en-US" sz="1700" dirty="0">
                <a:solidFill>
                  <a:srgbClr val="FFCC83"/>
                </a:solidFill>
              </a:defRPr>
            </a:lvl1pPr>
          </a:lstStyle>
          <a:p>
            <a:pPr algn="l" indent="0" marL="0">
              <a:buNone/>
            </a:pPr>
            <a:r>
              <a:rPr lang="en-US" sz="1700" dirty="0">
                <a:solidFill>
                  <a:srgbClr val="FFCC83"/>
                </a:solidFill>
              </a:rPr>
              <a:t> </a:t>
            </a:r>
            <a:endParaRPr lang="en-US" sz="17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IDO">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914400" y="457200"/>
            <a:ext cx="10424160" cy="868680"/>
          </a:xfrm>
          <a:prstGeom prst="rect">
            <a:avLst/>
          </a:prstGeom>
          <a:noFill/>
          <a:ln/>
        </p:spPr>
        <p:txBody>
          <a:bodyPr wrap="square" rtlCol="0"/>
          <a:lstStyle>
            <a:lvl1pPr algn="l" indent="0" marL="0">
              <a:buNone/>
              <a:defRPr lang="en-US" sz="3000" b="1" dirty="0">
                <a:solidFill>
                  <a:schemeClr val="accent1"/>
                </a:solidFill>
              </a:defRPr>
            </a:lvl1pPr>
          </a:lstStyle>
          <a:p>
            <a:pPr algn="l" indent="0" marL="0">
              <a:buNone/>
            </a:pPr>
            <a:r>
              <a:rPr lang="en-US" sz="3000" b="1" dirty="0">
                <a:solidFill>
                  <a:schemeClr val="accent1"/>
                </a:solidFill>
              </a:rPr>
              <a:t> </a:t>
            </a:r>
            <a:endParaRPr lang="en-US" sz="3000" dirty="0"/>
          </a:p>
        </p:txBody>
      </p:sp>
      <p:sp>
        <p:nvSpPr>
          <p:cNvPr id="3" name="Text 0"/>
          <p:cNvSpPr/>
          <p:nvPr>
            <p:ph idx="101" type="body" hasCustomPrompt="1"/>
          </p:nvPr>
        </p:nvSpPr>
        <p:spPr>
          <a:xfrm>
            <a:off x="914400" y="1508760"/>
            <a:ext cx="10424160" cy="4572000"/>
          </a:xfrm>
          <a:prstGeom prst="rect">
            <a:avLst/>
          </a:prstGeom>
          <a:noFill/>
          <a:ln/>
        </p:spPr>
        <p:txBody>
          <a:bodyPr wrap="square" rtlCol="0"/>
          <a:lstStyle>
            <a:lvl1pPr algn="l" indent="0" marL="0">
              <a:buNone/>
              <a:defRPr lang="en-US" sz="1700" dirty="0">
                <a:solidFill>
                  <a:schemeClr val="tx1"/>
                </a:solidFill>
              </a:defRPr>
            </a:lvl1pPr>
          </a:lstStyle>
          <a:p>
            <a:pPr algn="l" indent="0" marL="0">
              <a:buNone/>
            </a:pPr>
            <a:r>
              <a:rPr lang="en-US" sz="1700" dirty="0">
                <a:solidFill>
                  <a:schemeClr val="tx1"/>
                </a:solidFill>
              </a:rPr>
              <a:t> </a:t>
            </a:r>
            <a:endParaRPr lang="en-US" sz="1700" dirty="0"/>
          </a:p>
        </p:txBody>
      </p:sp>
      <p:sp>
        <p:nvSpPr>
          <p:cNvPr id="25" name="Slide Number Placeholder 0"/>
          <p:cNvSpPr>
            <a:spLocks noGrp="1"/>
          </p:cNvSpPr>
          <p:nvPr>
            <p:ph type="sldNum" sz="quarter" idx="4294967295"/>
          </p:nvPr>
        </p:nvSpPr>
        <p:spPr>
          <a:xfrm>
            <a:off x="11475720" y="256032"/>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B9C0D8"/>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OLOTITULO">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914400" y="457200"/>
            <a:ext cx="10424160" cy="868680"/>
          </a:xfrm>
          <a:prstGeom prst="rect">
            <a:avLst/>
          </a:prstGeom>
          <a:noFill/>
          <a:ln/>
        </p:spPr>
        <p:txBody>
          <a:bodyPr wrap="square" rtlCol="0"/>
          <a:lstStyle>
            <a:lvl1pPr algn="l" indent="0" marL="0">
              <a:buNone/>
              <a:defRPr lang="en-US" sz="3000" b="1" dirty="0">
                <a:solidFill>
                  <a:schemeClr val="accent1"/>
                </a:solidFill>
              </a:defRPr>
            </a:lvl1pPr>
          </a:lstStyle>
          <a:p>
            <a:pPr algn="l" indent="0" marL="0">
              <a:buNone/>
            </a:pPr>
            <a:r>
              <a:rPr lang="en-US" sz="3000" b="1" dirty="0">
                <a:solidFill>
                  <a:schemeClr val="accent1"/>
                </a:solidFill>
              </a:rPr>
              <a:t> </a:t>
            </a:r>
            <a:endParaRPr lang="en-US" sz="3000" dirty="0"/>
          </a:p>
        </p:txBody>
      </p:sp>
      <p:sp>
        <p:nvSpPr>
          <p:cNvPr id="25" name="Slide Number Placeholder 0"/>
          <p:cNvSpPr>
            <a:spLocks noGrp="1"/>
          </p:cNvSpPr>
          <p:nvPr>
            <p:ph type="sldNum" sz="quarter" idx="4294967295"/>
          </p:nvPr>
        </p:nvSpPr>
        <p:spPr>
          <a:xfrm>
            <a:off x="11475720" y="256032"/>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B9C0D8"/>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75720" y="256032"/>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B9C0D8"/>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4.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4.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barra-portada"/>
          <p:cNvSpPr/>
          <p:nvPr/>
        </p:nvSpPr>
        <p:spPr>
          <a:xfrm>
            <a:off x="566928" y="2331720"/>
            <a:ext cx="82296" cy="1737360"/>
          </a:xfrm>
          <a:prstGeom prst="rect">
            <a:avLst/>
          </a:prstGeom>
          <a:solidFill>
            <a:schemeClr val="accent2"/>
          </a:solidFill>
          <a:ln w="12700">
            <a:solidFill>
              <a:schemeClr val="accent2"/>
            </a:solidFill>
            <a:prstDash val="solid"/>
          </a:ln>
        </p:spPr>
      </p:sp>
      <p:sp>
        <p:nvSpPr>
          <p:cNvPr id="3" name="Text 0"/>
          <p:cNvSpPr/>
          <p:nvPr>
            <p:ph idx="100" type="title" hasCustomPrompt="1"/>
          </p:nvPr>
        </p:nvSpPr>
        <p:spPr>
          <a:xfrm>
            <a:off x="914400" y="2286000"/>
            <a:ext cx="9509760" cy="1828800"/>
          </a:xfrm>
          <a:prstGeom prst="rect">
            <a:avLst/>
          </a:prstGeom>
          <a:noFill/>
          <a:ln/>
        </p:spPr>
        <p:txBody>
          <a:bodyPr wrap="square" rtlCol="0" anchor="b"/>
          <a:lstStyle/>
          <a:p>
            <a:pPr algn="l" indent="0" marL="0">
              <a:buNone/>
            </a:pPr>
            <a:r>
              <a:rPr lang="en-US" sz="3800" b="1" dirty="0">
                <a:solidFill>
                  <a:schemeClr val="bg1"/>
                </a:solidFill>
              </a:rPr>
              <a:t>Módulo 4. Aplicaciones</a:t>
            </a:r>
            <a:endParaRPr lang="en-US" sz="3800" dirty="0"/>
          </a:p>
        </p:txBody>
      </p:sp>
      <p:sp>
        <p:nvSpPr>
          <p:cNvPr id="4" name="Text 0"/>
          <p:cNvSpPr/>
          <p:nvPr>
            <p:ph idx="101" type="body" hasCustomPrompt="1"/>
          </p:nvPr>
        </p:nvSpPr>
        <p:spPr>
          <a:xfrm>
            <a:off x="914400" y="4251960"/>
            <a:ext cx="9509760" cy="1371600"/>
          </a:xfrm>
          <a:prstGeom prst="rect">
            <a:avLst/>
          </a:prstGeom>
          <a:noFill/>
          <a:ln/>
        </p:spPr>
        <p:txBody>
          <a:bodyPr wrap="square" rtlCol="0" anchor="t"/>
          <a:lstStyle/>
          <a:p>
            <a:pPr algn="l" indent="0" marL="0">
              <a:buNone/>
            </a:pPr>
            <a:r>
              <a:rPr lang="en-US" sz="1700" dirty="0">
                <a:solidFill>
                  <a:srgbClr val="FFCC83"/>
                </a:solidFill>
              </a:rPr>
              <a:t>Antes de la sesión del sábado 5 de diciembre</a:t>
            </a:r>
            <a:endParaRPr lang="en-US" sz="1700" dirty="0"/>
          </a:p>
          <a:p>
            <a:pPr algn="l" indent="0" marL="0">
              <a:buNone/>
            </a:pPr>
            <a:r>
              <a:rPr lang="en-US" sz="1700" dirty="0">
                <a:solidFill>
                  <a:srgbClr val="FFCC83"/>
                </a:solidFill>
              </a:rPr>
              <a:t>Admixture mapping, puntajes de riesgo poligénico y medicina de precisión</a:t>
            </a:r>
            <a:endParaRPr lang="en-US" sz="1700" dirty="0"/>
          </a:p>
        </p:txBody>
      </p:sp>
      <p:sp>
        <p:nvSpPr>
          <p:cNvPr id="5" name="Text 3"/>
          <p:cNvSpPr txBox="1"/>
          <p:nvPr/>
        </p:nvSpPr>
        <p:spPr>
          <a:xfrm>
            <a:off x="914400" y="5943600"/>
            <a:ext cx="7315200" cy="457200"/>
          </a:xfrm>
          <a:prstGeom prst="rect">
            <a:avLst/>
          </a:prstGeom>
          <a:noFill/>
          <a:ln/>
        </p:spPr>
        <p:txBody>
          <a:bodyPr wrap="square" lIns="0" tIns="0" rIns="0" bIns="0" rtlCol="0" anchor="ctr"/>
          <a:lstStyle/>
          <a:p>
            <a:pPr indent="0" marL="0">
              <a:buNone/>
            </a:pPr>
            <a:r>
              <a:rPr lang="en-US" sz="1300" dirty="0">
                <a:solidFill>
                  <a:srgbClr val="C9D0F0"/>
                </a:solidFill>
              </a:rPr>
              <a:t>Curso de ancestría genética · Dra. Yina Tatiana Zambrano</a:t>
            </a:r>
            <a:endParaRPr lang="en-US" sz="1300" dirty="0"/>
          </a:p>
        </p:txBody>
      </p:sp>
      <p:sp>
        <p:nvSpPr>
          <p:cNvPr id="6" name="placa-logo"/>
          <p:cNvSpPr/>
          <p:nvPr/>
        </p:nvSpPr>
        <p:spPr>
          <a:xfrm>
            <a:off x="9601200" y="5806440"/>
            <a:ext cx="1965960" cy="841248"/>
          </a:xfrm>
          <a:prstGeom prst="roundRect">
            <a:avLst>
              <a:gd name="adj" fmla="val 8696"/>
            </a:avLst>
          </a:prstGeom>
          <a:solidFill>
            <a:schemeClr val="bg1"/>
          </a:solidFill>
          <a:ln w="12700">
            <a:solidFill>
              <a:schemeClr val="bg1"/>
            </a:solidFill>
            <a:prstDash val="solid"/>
          </a:ln>
        </p:spPr>
      </p:sp>
      <p:pic>
        <p:nvPicPr>
          <p:cNvPr id="7" name="logo-acgh" descr="/tmp/claude-0/-home-claude/e238050a-ce3c-58bd-bb86-9554df59862c/scratchpad/marca/logo_acgh_hd.png">    </p:cNvPr>
          <p:cNvPicPr>
            <a:picLocks noChangeAspect="1"/>
          </p:cNvPicPr>
          <p:nvPr/>
        </p:nvPicPr>
        <p:blipFill>
          <a:blip r:embed="rId1"/>
          <a:stretch>
            <a:fillRect/>
          </a:stretch>
        </p:blipFill>
        <p:spPr>
          <a:xfrm>
            <a:off x="9784080" y="5925312"/>
            <a:ext cx="1600200" cy="60350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logo-acgh" descr="/tmp/claude-0/-home-claude/e238050a-ce3c-58bd-bb86-9554df59862c/scratchpad/marca/logo_acgh_hd.png">    </p:cNvPr>
          <p:cNvPicPr>
            <a:picLocks noChangeAspect="1"/>
          </p:cNvPicPr>
          <p:nvPr/>
        </p:nvPicPr>
        <p:blipFill>
          <a:blip r:embed="rId1"/>
          <a:stretch>
            <a:fillRect/>
          </a:stretch>
        </p:blipFill>
        <p:spPr>
          <a:xfrm>
            <a:off x="9829800" y="5943600"/>
            <a:ext cx="1600200" cy="603504"/>
          </a:xfrm>
          <a:prstGeom prst="rect">
            <a:avLst/>
          </a:prstGeom>
        </p:spPr>
      </p:pic>
      <p:sp>
        <p:nvSpPr>
          <p:cNvPr id="3" name="Text 0"/>
          <p:cNvSpPr/>
          <p:nvPr>
            <p:ph idx="100" type="title" hasCustomPrompt="1"/>
          </p:nvPr>
        </p:nvSpPr>
        <p:spPr>
          <a:xfrm>
            <a:off x="914400" y="457200"/>
            <a:ext cx="10424160" cy="868680"/>
          </a:xfrm>
          <a:prstGeom prst="rect">
            <a:avLst/>
          </a:prstGeom>
          <a:noFill/>
          <a:ln/>
        </p:spPr>
        <p:txBody>
          <a:bodyPr wrap="square" rtlCol="0" anchor="ctr"/>
          <a:lstStyle/>
          <a:p>
            <a:pPr algn="l" indent="0" marL="0">
              <a:buNone/>
            </a:pPr>
            <a:r>
              <a:rPr lang="en-US" sz="3000" b="1" dirty="0">
                <a:solidFill>
                  <a:schemeClr val="accent1"/>
                </a:solidFill>
              </a:rPr>
              <a:t>Admixture mapping: buscar enfermedad por la ancestría</a:t>
            </a:r>
            <a:endParaRPr lang="en-US" sz="3000" dirty="0"/>
          </a:p>
        </p:txBody>
      </p:sp>
      <p:sp>
        <p:nvSpPr>
          <p:cNvPr id="4" name="barra-marca"/>
          <p:cNvSpPr/>
          <p:nvPr/>
        </p:nvSpPr>
        <p:spPr>
          <a:xfrm>
            <a:off x="566928" y="502920"/>
            <a:ext cx="68580" cy="777240"/>
          </a:xfrm>
          <a:prstGeom prst="rect">
            <a:avLst/>
          </a:prstGeom>
          <a:solidFill>
            <a:schemeClr val="accent2"/>
          </a:solidFill>
          <a:ln w="12700">
            <a:solidFill>
              <a:schemeClr val="accent2"/>
            </a:solidFill>
            <a:prstDash val="solid"/>
          </a:ln>
        </p:spPr>
      </p:sp>
      <p:sp>
        <p:nvSpPr>
          <p:cNvPr id="5" name="Text 2"/>
          <p:cNvSpPr txBox="1"/>
          <p:nvPr/>
        </p:nvSpPr>
        <p:spPr>
          <a:xfrm>
            <a:off x="914400" y="1645920"/>
            <a:ext cx="5486400" cy="3474720"/>
          </a:xfrm>
          <a:prstGeom prst="rect">
            <a:avLst/>
          </a:prstGeom>
          <a:noFill/>
          <a:ln/>
        </p:spPr>
        <p:txBody>
          <a:bodyPr wrap="square" rtlCol="0" anchor="t"/>
          <a:lstStyle/>
          <a:p>
            <a:pPr indent="0" marL="0">
              <a:buNone/>
            </a:pPr>
            <a:r>
              <a:rPr lang="en-US" sz="1600" dirty="0">
                <a:solidFill>
                  <a:schemeClr val="tx1"/>
                </a:solidFill>
              </a:rPr>
              <a:t>La lógica: en una población mezclada, cada persona tiene una proporción de ancestría global, pero a lo largo del genoma esa proporción fluctúa por azar.</a:t>
            </a:r>
            <a:endParaRPr lang="en-US" sz="1600" dirty="0"/>
          </a:p>
          <a:p>
            <a:pPr indent="0" marL="0">
              <a:buNone/>
            </a:pPr>
            <a:endParaRPr lang="en-US" sz="1600" dirty="0"/>
          </a:p>
          <a:p>
            <a:pPr indent="0" marL="0">
              <a:buNone/>
            </a:pPr>
            <a:r>
              <a:rPr lang="en-US" sz="1600" dirty="0">
                <a:solidFill>
                  <a:schemeClr val="tx1"/>
                </a:solidFill>
              </a:rPr>
              <a:t>Si una enfermedad es más frecuente en uno de los grupos ancestrales por razones genéticas, las personas enfermas deberían tener, en la región responsable, más ancestría de ese grupo que en el resto de su genoma.</a:t>
            </a:r>
            <a:endParaRPr lang="en-US" sz="1600" dirty="0"/>
          </a:p>
          <a:p>
            <a:pPr indent="0" marL="0">
              <a:buNone/>
            </a:pPr>
            <a:endParaRPr lang="en-US" sz="1600" dirty="0"/>
          </a:p>
          <a:p>
            <a:pPr indent="0" marL="0">
              <a:buNone/>
            </a:pPr>
            <a:r>
              <a:rPr lang="en-US" sz="1600" dirty="0">
                <a:solidFill>
                  <a:schemeClr val="tx1"/>
                </a:solidFill>
              </a:rPr>
              <a:t>Entonces no se busca variante por variante, como en un GWAS: se busca exceso de ancestría local en los casos.</a:t>
            </a:r>
            <a:endParaRPr lang="en-US" sz="1600" dirty="0"/>
          </a:p>
        </p:txBody>
      </p:sp>
      <p:sp>
        <p:nvSpPr>
          <p:cNvPr id="6" name="caja-ventaja"/>
          <p:cNvSpPr/>
          <p:nvPr/>
        </p:nvSpPr>
        <p:spPr>
          <a:xfrm>
            <a:off x="6766560" y="1737360"/>
            <a:ext cx="4572000" cy="3657600"/>
          </a:xfrm>
          <a:prstGeom prst="roundRect">
            <a:avLst>
              <a:gd name="adj" fmla="val 2500"/>
            </a:avLst>
          </a:prstGeom>
          <a:solidFill>
            <a:schemeClr val="bg2"/>
          </a:solidFill>
          <a:ln w="9525">
            <a:solidFill>
              <a:srgbClr val="F2E3C8"/>
            </a:solidFill>
            <a:prstDash val="solid"/>
          </a:ln>
        </p:spPr>
      </p:sp>
      <p:sp>
        <p:nvSpPr>
          <p:cNvPr id="7" name="Text 4"/>
          <p:cNvSpPr txBox="1"/>
          <p:nvPr/>
        </p:nvSpPr>
        <p:spPr>
          <a:xfrm>
            <a:off x="7040880" y="1920240"/>
            <a:ext cx="4023360" cy="411480"/>
          </a:xfrm>
          <a:prstGeom prst="rect">
            <a:avLst/>
          </a:prstGeom>
          <a:noFill/>
          <a:ln/>
        </p:spPr>
        <p:txBody>
          <a:bodyPr wrap="square" lIns="0" tIns="0" rIns="0" bIns="0" rtlCol="0" anchor="ctr"/>
          <a:lstStyle/>
          <a:p>
            <a:pPr indent="0" marL="0">
              <a:buNone/>
            </a:pPr>
            <a:r>
              <a:rPr lang="en-US" sz="1900" b="1" dirty="0">
                <a:solidFill>
                  <a:schemeClr val="accent3"/>
                </a:solidFill>
              </a:rPr>
              <a:t>La ventaja</a:t>
            </a:r>
            <a:endParaRPr lang="en-US" sz="1900" dirty="0"/>
          </a:p>
        </p:txBody>
      </p:sp>
      <p:sp>
        <p:nvSpPr>
          <p:cNvPr id="8" name="Text 5"/>
          <p:cNvSpPr txBox="1"/>
          <p:nvPr/>
        </p:nvSpPr>
        <p:spPr>
          <a:xfrm>
            <a:off x="7040880" y="2377440"/>
            <a:ext cx="4023360" cy="2834640"/>
          </a:xfrm>
          <a:prstGeom prst="rect">
            <a:avLst/>
          </a:prstGeom>
          <a:noFill/>
          <a:ln/>
        </p:spPr>
        <p:txBody>
          <a:bodyPr wrap="square" rtlCol="0" anchor="t"/>
          <a:lstStyle/>
          <a:p>
            <a:pPr indent="0" marL="0">
              <a:buNone/>
            </a:pPr>
            <a:r>
              <a:rPr lang="en-US" sz="1400" dirty="0">
                <a:solidFill>
                  <a:schemeClr val="tx1"/>
                </a:solidFill>
              </a:rPr>
              <a:t>Los bloques de ancestría son enormes comparados con los bloques de desequilibrio de ligamiento dentro de una población.</a:t>
            </a:r>
            <a:endParaRPr lang="en-US" sz="1400" dirty="0"/>
          </a:p>
          <a:p>
            <a:pPr indent="0" marL="0">
              <a:buNone/>
            </a:pPr>
            <a:endParaRPr lang="en-US" sz="1400" dirty="0"/>
          </a:p>
          <a:p>
            <a:pPr indent="0" marL="0">
              <a:buNone/>
            </a:pPr>
            <a:r>
              <a:rPr lang="en-US" sz="1400" dirty="0">
                <a:solidFill>
                  <a:schemeClr val="tx1"/>
                </a:solidFill>
              </a:rPr>
              <a:t>Por eso hacen falta muchos menos marcadores que en un GWAS: unos miles, en lugar de cientos de miles.</a:t>
            </a:r>
            <a:endParaRPr lang="en-US" sz="1400" dirty="0"/>
          </a:p>
          <a:p>
            <a:pPr indent="0" marL="0">
              <a:buNone/>
            </a:pPr>
            <a:endParaRPr lang="en-US" sz="1400" dirty="0"/>
          </a:p>
          <a:p>
            <a:pPr indent="0" marL="0">
              <a:buNone/>
            </a:pPr>
            <a:r>
              <a:rPr lang="en-US" sz="1400" dirty="0">
                <a:solidFill>
                  <a:schemeClr val="tx1"/>
                </a:solidFill>
              </a:rPr>
              <a:t>La contrapartida es la resolución: señala una región amplia, no una variante.</a:t>
            </a:r>
            <a:endParaRPr lang="en-US" sz="1400" dirty="0"/>
          </a:p>
        </p:txBody>
      </p:sp>
      <p:sp>
        <p:nvSpPr>
          <p:cNvPr id="25" name="Slide Number Placeholder 0"/>
          <p:cNvSpPr>
            <a:spLocks noGrp="1"/>
          </p:cNvSpPr>
          <p:nvPr>
            <p:ph type="sldNum" sz="quarter" idx="4294967295"/>
          </p:nvPr>
        </p:nvSpPr>
        <p:spPr>
          <a:xfrm>
            <a:off x="11475720" y="256032"/>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B9C0D8"/>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logo-acgh" descr="/tmp/claude-0/-home-claude/e238050a-ce3c-58bd-bb86-9554df59862c/scratchpad/marca/logo_acgh_hd.png">    </p:cNvPr>
          <p:cNvPicPr>
            <a:picLocks noChangeAspect="1"/>
          </p:cNvPicPr>
          <p:nvPr/>
        </p:nvPicPr>
        <p:blipFill>
          <a:blip r:embed="rId1"/>
          <a:stretch>
            <a:fillRect/>
          </a:stretch>
        </p:blipFill>
        <p:spPr>
          <a:xfrm>
            <a:off x="9829800" y="5943600"/>
            <a:ext cx="1600200" cy="603504"/>
          </a:xfrm>
          <a:prstGeom prst="rect">
            <a:avLst/>
          </a:prstGeom>
        </p:spPr>
      </p:pic>
      <p:sp>
        <p:nvSpPr>
          <p:cNvPr id="3" name="Text 0"/>
          <p:cNvSpPr/>
          <p:nvPr>
            <p:ph idx="100" type="title" hasCustomPrompt="1"/>
          </p:nvPr>
        </p:nvSpPr>
        <p:spPr>
          <a:xfrm>
            <a:off x="914400" y="457200"/>
            <a:ext cx="10424160" cy="868680"/>
          </a:xfrm>
          <a:prstGeom prst="rect">
            <a:avLst/>
          </a:prstGeom>
          <a:noFill/>
          <a:ln/>
        </p:spPr>
        <p:txBody>
          <a:bodyPr wrap="square" rtlCol="0" anchor="ctr"/>
          <a:lstStyle/>
          <a:p>
            <a:pPr algn="l" indent="0" marL="0">
              <a:buNone/>
            </a:pPr>
            <a:r>
              <a:rPr lang="en-US" sz="3000" b="1" dirty="0">
                <a:solidFill>
                  <a:schemeClr val="accent1"/>
                </a:solidFill>
              </a:rPr>
              <a:t>El caso APOL1: del cromosoma 22 a la clínica</a:t>
            </a:r>
            <a:endParaRPr lang="en-US" sz="3000" dirty="0"/>
          </a:p>
        </p:txBody>
      </p:sp>
      <p:sp>
        <p:nvSpPr>
          <p:cNvPr id="4" name="barra-marca"/>
          <p:cNvSpPr/>
          <p:nvPr/>
        </p:nvSpPr>
        <p:spPr>
          <a:xfrm>
            <a:off x="566928" y="502920"/>
            <a:ext cx="68580" cy="777240"/>
          </a:xfrm>
          <a:prstGeom prst="rect">
            <a:avLst/>
          </a:prstGeom>
          <a:solidFill>
            <a:schemeClr val="accent2"/>
          </a:solidFill>
          <a:ln w="12700">
            <a:solidFill>
              <a:schemeClr val="accent2"/>
            </a:solidFill>
            <a:prstDash val="solid"/>
          </a:ln>
        </p:spPr>
      </p:sp>
      <p:sp>
        <p:nvSpPr>
          <p:cNvPr id="5" name="hito-0"/>
          <p:cNvSpPr/>
          <p:nvPr/>
        </p:nvSpPr>
        <p:spPr>
          <a:xfrm>
            <a:off x="914400" y="1709928"/>
            <a:ext cx="384048" cy="384048"/>
          </a:xfrm>
          <a:prstGeom prst="ellipse">
            <a:avLst/>
          </a:prstGeom>
          <a:solidFill>
            <a:schemeClr val="accent1"/>
          </a:solidFill>
          <a:ln w="12700">
            <a:solidFill>
              <a:schemeClr val="accent1"/>
            </a:solidFill>
            <a:prstDash val="solid"/>
          </a:ln>
        </p:spPr>
      </p:sp>
      <p:sp>
        <p:nvSpPr>
          <p:cNvPr id="6" name="Text 3"/>
          <p:cNvSpPr txBox="1"/>
          <p:nvPr/>
        </p:nvSpPr>
        <p:spPr>
          <a:xfrm>
            <a:off x="1481328" y="1645920"/>
            <a:ext cx="9765792" cy="347472"/>
          </a:xfrm>
          <a:prstGeom prst="rect">
            <a:avLst/>
          </a:prstGeom>
          <a:noFill/>
          <a:ln/>
        </p:spPr>
        <p:txBody>
          <a:bodyPr wrap="square" lIns="0" tIns="0" rIns="0" bIns="0" rtlCol="0" anchor="ctr"/>
          <a:lstStyle/>
          <a:p>
            <a:pPr indent="0" marL="0">
              <a:buNone/>
            </a:pPr>
            <a:r>
              <a:rPr lang="en-US" sz="1700" b="1" dirty="0">
                <a:solidFill>
                  <a:schemeClr val="accent1"/>
                </a:solidFill>
              </a:rPr>
              <a:t>El hallazgo</a:t>
            </a:r>
            <a:endParaRPr lang="en-US" sz="1700" dirty="0"/>
          </a:p>
        </p:txBody>
      </p:sp>
      <p:sp>
        <p:nvSpPr>
          <p:cNvPr id="7" name="Text 4"/>
          <p:cNvSpPr txBox="1"/>
          <p:nvPr/>
        </p:nvSpPr>
        <p:spPr>
          <a:xfrm>
            <a:off x="1481328" y="2029968"/>
            <a:ext cx="9765792" cy="777240"/>
          </a:xfrm>
          <a:prstGeom prst="rect">
            <a:avLst/>
          </a:prstGeom>
          <a:noFill/>
          <a:ln/>
        </p:spPr>
        <p:txBody>
          <a:bodyPr wrap="square" lIns="0" tIns="0" rIns="0" bIns="0" rtlCol="0" anchor="t"/>
          <a:lstStyle/>
          <a:p>
            <a:pPr indent="0" marL="0">
              <a:buNone/>
            </a:pPr>
            <a:r>
              <a:rPr lang="en-US" sz="1400" dirty="0">
                <a:solidFill>
                  <a:schemeClr val="tx1"/>
                </a:solidFill>
              </a:rPr>
              <a:t>Un estudio de admixture mapping localizó en el cromosoma 22 una región asociada a enfermedad renal en afroamericanos.</a:t>
            </a:r>
            <a:endParaRPr lang="en-US" sz="1400" dirty="0"/>
          </a:p>
        </p:txBody>
      </p:sp>
      <p:sp>
        <p:nvSpPr>
          <p:cNvPr id="8" name="hito-1"/>
          <p:cNvSpPr/>
          <p:nvPr/>
        </p:nvSpPr>
        <p:spPr>
          <a:xfrm>
            <a:off x="914400" y="2898648"/>
            <a:ext cx="384048" cy="384048"/>
          </a:xfrm>
          <a:prstGeom prst="ellipse">
            <a:avLst/>
          </a:prstGeom>
          <a:solidFill>
            <a:schemeClr val="accent3"/>
          </a:solidFill>
          <a:ln w="12700">
            <a:solidFill>
              <a:schemeClr val="accent3"/>
            </a:solidFill>
            <a:prstDash val="solid"/>
          </a:ln>
        </p:spPr>
      </p:sp>
      <p:sp>
        <p:nvSpPr>
          <p:cNvPr id="9" name="Text 6"/>
          <p:cNvSpPr txBox="1"/>
          <p:nvPr/>
        </p:nvSpPr>
        <p:spPr>
          <a:xfrm>
            <a:off x="1481328" y="2834640"/>
            <a:ext cx="9765792" cy="347472"/>
          </a:xfrm>
          <a:prstGeom prst="rect">
            <a:avLst/>
          </a:prstGeom>
          <a:noFill/>
          <a:ln/>
        </p:spPr>
        <p:txBody>
          <a:bodyPr wrap="square" lIns="0" tIns="0" rIns="0" bIns="0" rtlCol="0" anchor="ctr"/>
          <a:lstStyle/>
          <a:p>
            <a:pPr indent="0" marL="0">
              <a:buNone/>
            </a:pPr>
            <a:r>
              <a:rPr lang="en-US" sz="1700" b="1" dirty="0">
                <a:solidFill>
                  <a:schemeClr val="accent1"/>
                </a:solidFill>
              </a:rPr>
              <a:t>Las variantes</a:t>
            </a:r>
            <a:endParaRPr lang="en-US" sz="1700" dirty="0"/>
          </a:p>
        </p:txBody>
      </p:sp>
      <p:sp>
        <p:nvSpPr>
          <p:cNvPr id="10" name="Text 7"/>
          <p:cNvSpPr txBox="1"/>
          <p:nvPr/>
        </p:nvSpPr>
        <p:spPr>
          <a:xfrm>
            <a:off x="1481328" y="3218688"/>
            <a:ext cx="9765792" cy="777240"/>
          </a:xfrm>
          <a:prstGeom prst="rect">
            <a:avLst/>
          </a:prstGeom>
          <a:noFill/>
          <a:ln/>
        </p:spPr>
        <p:txBody>
          <a:bodyPr wrap="square" lIns="0" tIns="0" rIns="0" bIns="0" rtlCol="0" anchor="t"/>
          <a:lstStyle/>
          <a:p>
            <a:pPr indent="0" marL="0">
              <a:buNone/>
            </a:pPr>
            <a:r>
              <a:rPr lang="en-US" sz="1400" dirty="0">
                <a:solidFill>
                  <a:schemeClr val="tx1"/>
                </a:solidFill>
              </a:rPr>
              <a:t>Dos variantes del gen APOL1, llamadas G1 y G2, resultaron ser las responsables.</a:t>
            </a:r>
            <a:endParaRPr lang="en-US" sz="1400" dirty="0"/>
          </a:p>
        </p:txBody>
      </p:sp>
      <p:sp>
        <p:nvSpPr>
          <p:cNvPr id="11" name="hito-2"/>
          <p:cNvSpPr/>
          <p:nvPr/>
        </p:nvSpPr>
        <p:spPr>
          <a:xfrm>
            <a:off x="914400" y="4087368"/>
            <a:ext cx="384048" cy="384048"/>
          </a:xfrm>
          <a:prstGeom prst="ellipse">
            <a:avLst/>
          </a:prstGeom>
          <a:solidFill>
            <a:schemeClr val="accent2"/>
          </a:solidFill>
          <a:ln w="12700">
            <a:solidFill>
              <a:schemeClr val="accent2"/>
            </a:solidFill>
            <a:prstDash val="solid"/>
          </a:ln>
        </p:spPr>
      </p:sp>
      <p:sp>
        <p:nvSpPr>
          <p:cNvPr id="12" name="Text 9"/>
          <p:cNvSpPr txBox="1"/>
          <p:nvPr/>
        </p:nvSpPr>
        <p:spPr>
          <a:xfrm>
            <a:off x="1481328" y="4023360"/>
            <a:ext cx="9765792" cy="347472"/>
          </a:xfrm>
          <a:prstGeom prst="rect">
            <a:avLst/>
          </a:prstGeom>
          <a:noFill/>
          <a:ln/>
        </p:spPr>
        <p:txBody>
          <a:bodyPr wrap="square" lIns="0" tIns="0" rIns="0" bIns="0" rtlCol="0" anchor="ctr"/>
          <a:lstStyle/>
          <a:p>
            <a:pPr indent="0" marL="0">
              <a:buNone/>
            </a:pPr>
            <a:r>
              <a:rPr lang="en-US" sz="1700" b="1" dirty="0">
                <a:solidFill>
                  <a:schemeClr val="accent1"/>
                </a:solidFill>
              </a:rPr>
              <a:t>El patrón de ancestría</a:t>
            </a:r>
            <a:endParaRPr lang="en-US" sz="1700" dirty="0"/>
          </a:p>
        </p:txBody>
      </p:sp>
      <p:sp>
        <p:nvSpPr>
          <p:cNvPr id="13" name="Text 10"/>
          <p:cNvSpPr txBox="1"/>
          <p:nvPr/>
        </p:nvSpPr>
        <p:spPr>
          <a:xfrm>
            <a:off x="1481328" y="4407408"/>
            <a:ext cx="9765792" cy="777240"/>
          </a:xfrm>
          <a:prstGeom prst="rect">
            <a:avLst/>
          </a:prstGeom>
          <a:noFill/>
          <a:ln/>
        </p:spPr>
        <p:txBody>
          <a:bodyPr wrap="square" lIns="0" tIns="0" rIns="0" bIns="0" rtlCol="0" anchor="t"/>
          <a:lstStyle/>
          <a:p>
            <a:pPr indent="0" marL="0">
              <a:buNone/>
            </a:pPr>
            <a:r>
              <a:rPr lang="en-US" sz="1400" dirty="0">
                <a:solidFill>
                  <a:schemeClr val="tx1"/>
                </a:solidFill>
              </a:rPr>
              <a:t>Son prácticamente exclusivas de haplotipos africanos. En controles europeos su frecuencia es 0 %.</a:t>
            </a:r>
            <a:endParaRPr lang="en-US" sz="1400" dirty="0"/>
          </a:p>
        </p:txBody>
      </p:sp>
      <p:sp>
        <p:nvSpPr>
          <p:cNvPr id="14" name="hito-3"/>
          <p:cNvSpPr/>
          <p:nvPr/>
        </p:nvSpPr>
        <p:spPr>
          <a:xfrm>
            <a:off x="914400" y="5276088"/>
            <a:ext cx="384048" cy="384048"/>
          </a:xfrm>
          <a:prstGeom prst="ellipse">
            <a:avLst/>
          </a:prstGeom>
          <a:solidFill>
            <a:schemeClr val="accent6"/>
          </a:solidFill>
          <a:ln w="12700">
            <a:solidFill>
              <a:schemeClr val="accent6"/>
            </a:solidFill>
            <a:prstDash val="solid"/>
          </a:ln>
        </p:spPr>
      </p:sp>
      <p:sp>
        <p:nvSpPr>
          <p:cNvPr id="15" name="Text 12"/>
          <p:cNvSpPr txBox="1"/>
          <p:nvPr/>
        </p:nvSpPr>
        <p:spPr>
          <a:xfrm>
            <a:off x="1481328" y="5212080"/>
            <a:ext cx="9765792" cy="347472"/>
          </a:xfrm>
          <a:prstGeom prst="rect">
            <a:avLst/>
          </a:prstGeom>
          <a:noFill/>
          <a:ln/>
        </p:spPr>
        <p:txBody>
          <a:bodyPr wrap="square" lIns="0" tIns="0" rIns="0" bIns="0" rtlCol="0" anchor="ctr"/>
          <a:lstStyle/>
          <a:p>
            <a:pPr indent="0" marL="0">
              <a:buNone/>
            </a:pPr>
            <a:r>
              <a:rPr lang="en-US" sz="1700" b="1" dirty="0">
                <a:solidFill>
                  <a:schemeClr val="accent1"/>
                </a:solidFill>
              </a:rPr>
              <a:t>El efecto</a:t>
            </a:r>
            <a:endParaRPr lang="en-US" sz="1700" dirty="0"/>
          </a:p>
        </p:txBody>
      </p:sp>
      <p:sp>
        <p:nvSpPr>
          <p:cNvPr id="16" name="Text 13"/>
          <p:cNvSpPr txBox="1"/>
          <p:nvPr/>
        </p:nvSpPr>
        <p:spPr>
          <a:xfrm>
            <a:off x="1481328" y="5596128"/>
            <a:ext cx="9765792" cy="777240"/>
          </a:xfrm>
          <a:prstGeom prst="rect">
            <a:avLst/>
          </a:prstGeom>
          <a:noFill/>
          <a:ln/>
        </p:spPr>
        <p:txBody>
          <a:bodyPr wrap="square" lIns="0" tIns="0" rIns="0" bIns="0" rtlCol="0" anchor="t"/>
          <a:lstStyle/>
          <a:p>
            <a:pPr indent="0" marL="0">
              <a:buNone/>
            </a:pPr>
            <a:r>
              <a:rPr lang="en-US" sz="1400" dirty="0">
                <a:solidFill>
                  <a:schemeClr val="tx1"/>
                </a:solidFill>
              </a:rPr>
              <a:t>Con dos copias de riesgo, la razón de momios de enfermedad renal terminal es de alrededor de 6,7. El patrón es recesivo.</a:t>
            </a:r>
            <a:endParaRPr lang="en-US" sz="1400" dirty="0"/>
          </a:p>
        </p:txBody>
      </p:sp>
      <p:sp>
        <p:nvSpPr>
          <p:cNvPr id="17" name="Text 14"/>
          <p:cNvSpPr txBox="1"/>
          <p:nvPr/>
        </p:nvSpPr>
        <p:spPr>
          <a:xfrm>
            <a:off x="914400" y="6144768"/>
            <a:ext cx="8595360" cy="365760"/>
          </a:xfrm>
          <a:prstGeom prst="rect">
            <a:avLst/>
          </a:prstGeom>
          <a:noFill/>
          <a:ln/>
        </p:spPr>
        <p:txBody>
          <a:bodyPr wrap="square" lIns="0" tIns="0" rIns="0" bIns="0" rtlCol="0" anchor="ctr"/>
          <a:lstStyle/>
          <a:p>
            <a:pPr indent="0" marL="0">
              <a:buNone/>
            </a:pPr>
            <a:r>
              <a:rPr lang="en-US" sz="1100" i="1" dirty="0">
                <a:solidFill>
                  <a:srgbClr val="6E7899"/>
                </a:solidFill>
              </a:rPr>
              <a:t>Tzur et al., Human Genetics 2010;128(3):345–350. doi:10.1007/s00439-010-0861-0</a:t>
            </a:r>
            <a:endParaRPr lang="en-US" sz="1100" dirty="0"/>
          </a:p>
        </p:txBody>
      </p:sp>
      <p:sp>
        <p:nvSpPr>
          <p:cNvPr id="25" name="Slide Number Placeholder 0"/>
          <p:cNvSpPr>
            <a:spLocks noGrp="1"/>
          </p:cNvSpPr>
          <p:nvPr>
            <p:ph type="sldNum" sz="quarter" idx="4294967295"/>
          </p:nvPr>
        </p:nvSpPr>
        <p:spPr>
          <a:xfrm>
            <a:off x="11475720" y="256032"/>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B9C0D8"/>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logo-acgh" descr="/tmp/claude-0/-home-claude/e238050a-ce3c-58bd-bb86-9554df59862c/scratchpad/marca/logo_acgh_hd.png">    </p:cNvPr>
          <p:cNvPicPr>
            <a:picLocks noChangeAspect="1"/>
          </p:cNvPicPr>
          <p:nvPr/>
        </p:nvPicPr>
        <p:blipFill>
          <a:blip r:embed="rId1"/>
          <a:stretch>
            <a:fillRect/>
          </a:stretch>
        </p:blipFill>
        <p:spPr>
          <a:xfrm>
            <a:off x="9829800" y="5943600"/>
            <a:ext cx="1600200" cy="603504"/>
          </a:xfrm>
          <a:prstGeom prst="rect">
            <a:avLst/>
          </a:prstGeom>
        </p:spPr>
      </p:pic>
      <p:sp>
        <p:nvSpPr>
          <p:cNvPr id="3" name="Text 0"/>
          <p:cNvSpPr/>
          <p:nvPr>
            <p:ph idx="100" type="title" hasCustomPrompt="1"/>
          </p:nvPr>
        </p:nvSpPr>
        <p:spPr>
          <a:xfrm>
            <a:off x="914400" y="457200"/>
            <a:ext cx="10424160" cy="868680"/>
          </a:xfrm>
          <a:prstGeom prst="rect">
            <a:avLst/>
          </a:prstGeom>
          <a:noFill/>
          <a:ln/>
        </p:spPr>
        <p:txBody>
          <a:bodyPr wrap="square" rtlCol="0" anchor="ctr"/>
          <a:lstStyle/>
          <a:p>
            <a:pPr algn="l" indent="0" marL="0">
              <a:buNone/>
            </a:pPr>
            <a:r>
              <a:rPr lang="en-US" sz="3000" b="1" dirty="0">
                <a:solidFill>
                  <a:schemeClr val="accent1"/>
                </a:solidFill>
              </a:rPr>
              <a:t>Por qué aquí la ancestría local sí cambia la respuesta</a:t>
            </a:r>
            <a:endParaRPr lang="en-US" sz="3000" dirty="0"/>
          </a:p>
        </p:txBody>
      </p:sp>
      <p:sp>
        <p:nvSpPr>
          <p:cNvPr id="4" name="barra-marca"/>
          <p:cNvSpPr/>
          <p:nvPr/>
        </p:nvSpPr>
        <p:spPr>
          <a:xfrm>
            <a:off x="566928" y="502920"/>
            <a:ext cx="68580" cy="777240"/>
          </a:xfrm>
          <a:prstGeom prst="rect">
            <a:avLst/>
          </a:prstGeom>
          <a:solidFill>
            <a:schemeClr val="accent2"/>
          </a:solidFill>
          <a:ln w="12700">
            <a:solidFill>
              <a:schemeClr val="accent2"/>
            </a:solidFill>
            <a:prstDash val="solid"/>
          </a:ln>
        </p:spPr>
      </p:sp>
      <p:pic>
        <p:nvPicPr>
          <p:cNvPr id="5" name="figura-apol1" descr="/tmp/claude-0/-home-claude/e238050a-ce3c-58bd-bb86-9554df59862c/scratchpad/figs/apol1.png">    </p:cNvPr>
          <p:cNvPicPr>
            <a:picLocks noChangeAspect="1"/>
          </p:cNvPicPr>
          <p:nvPr/>
        </p:nvPicPr>
        <p:blipFill>
          <a:blip r:embed="rId2"/>
          <a:stretch>
            <a:fillRect/>
          </a:stretch>
        </p:blipFill>
        <p:spPr>
          <a:xfrm>
            <a:off x="914400" y="1737360"/>
            <a:ext cx="5669280" cy="3200400"/>
          </a:xfrm>
          <a:prstGeom prst="rect">
            <a:avLst/>
          </a:prstGeom>
        </p:spPr>
      </p:pic>
      <p:sp>
        <p:nvSpPr>
          <p:cNvPr id="6" name="Text 2"/>
          <p:cNvSpPr txBox="1"/>
          <p:nvPr/>
        </p:nvSpPr>
        <p:spPr>
          <a:xfrm>
            <a:off x="6858000" y="1783080"/>
            <a:ext cx="4480560" cy="3840480"/>
          </a:xfrm>
          <a:prstGeom prst="rect">
            <a:avLst/>
          </a:prstGeom>
          <a:noFill/>
          <a:ln/>
        </p:spPr>
        <p:txBody>
          <a:bodyPr wrap="square" rtlCol="0" anchor="t"/>
          <a:lstStyle/>
          <a:p>
            <a:pPr indent="0" marL="0">
              <a:buNone/>
            </a:pPr>
            <a:r>
              <a:rPr lang="en-US" sz="1400" dirty="0">
                <a:solidFill>
                  <a:schemeClr val="tx1"/>
                </a:solidFill>
              </a:rPr>
              <a:t>Resultado real del curso: cuántas de las dos copias del cromosoma 22 son de ancestría africana justo en APOL1.</a:t>
            </a:r>
            <a:endParaRPr lang="en-US" sz="1400" dirty="0"/>
          </a:p>
          <a:p>
            <a:pPr indent="0" marL="0">
              <a:buNone/>
            </a:pPr>
            <a:endParaRPr lang="en-US" sz="1400" dirty="0"/>
          </a:p>
          <a:p>
            <a:pPr indent="0" marL="0">
              <a:buNone/>
            </a:pPr>
            <a:r>
              <a:rPr lang="en-US" sz="1400" dirty="0">
                <a:solidFill>
                  <a:schemeClr val="tx1"/>
                </a:solidFill>
              </a:rPr>
              <a:t>En Medellín, el 88 % de las personas no tiene ninguna copia africana ahí, el 10 % tiene una y solo el 1 % tiene las dos.</a:t>
            </a:r>
            <a:endParaRPr lang="en-US" sz="1400" dirty="0"/>
          </a:p>
          <a:p>
            <a:pPr indent="0" marL="0">
              <a:buNone/>
            </a:pPr>
            <a:endParaRPr lang="en-US" sz="1400" dirty="0"/>
          </a:p>
          <a:p>
            <a:pPr indent="0" marL="0">
              <a:buNone/>
            </a:pPr>
            <a:r>
              <a:rPr lang="en-US" sz="1400" dirty="0">
                <a:solidFill>
                  <a:schemeClr val="tx1"/>
                </a:solidFill>
              </a:rPr>
              <a:t>Como el riesgo es recesivo, solo ese 1 % puede tener el genotipo de riesgo, aunque la ancestría africana global de la población sea del 7 %.</a:t>
            </a:r>
            <a:endParaRPr lang="en-US" sz="1400" dirty="0"/>
          </a:p>
        </p:txBody>
      </p:sp>
      <p:sp>
        <p:nvSpPr>
          <p:cNvPr id="7" name="Text 3"/>
          <p:cNvSpPr txBox="1"/>
          <p:nvPr/>
        </p:nvSpPr>
        <p:spPr>
          <a:xfrm>
            <a:off x="914400" y="5120640"/>
            <a:ext cx="5669280" cy="914400"/>
          </a:xfrm>
          <a:prstGeom prst="rect">
            <a:avLst/>
          </a:prstGeom>
          <a:noFill/>
          <a:ln/>
        </p:spPr>
        <p:txBody>
          <a:bodyPr wrap="square" rtlCol="0" anchor="t"/>
          <a:lstStyle/>
          <a:p>
            <a:pPr indent="0" marL="0">
              <a:buNone/>
            </a:pPr>
            <a:r>
              <a:rPr lang="en-US" sz="1400" i="1" dirty="0">
                <a:solidFill>
                  <a:schemeClr val="accent1"/>
                </a:solidFill>
              </a:rPr>
              <a:t>La ancestría global habría dado una respuesta equivocada. La pregunta clínica no es cuánta ancestría africana tiene la persona, sino si la tiene en ese gen y en cuántas copias.</a:t>
            </a:r>
            <a:endParaRPr lang="en-US" sz="1400" dirty="0"/>
          </a:p>
        </p:txBody>
      </p:sp>
      <p:sp>
        <p:nvSpPr>
          <p:cNvPr id="25" name="Slide Number Placeholder 0"/>
          <p:cNvSpPr>
            <a:spLocks noGrp="1"/>
          </p:cNvSpPr>
          <p:nvPr>
            <p:ph type="sldNum" sz="quarter" idx="4294967295"/>
          </p:nvPr>
        </p:nvSpPr>
        <p:spPr>
          <a:xfrm>
            <a:off x="11475720" y="256032"/>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B9C0D8"/>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logo-acgh" descr="/tmp/claude-0/-home-claude/e238050a-ce3c-58bd-bb86-9554df59862c/scratchpad/marca/logo_acgh_hd.png">    </p:cNvPr>
          <p:cNvPicPr>
            <a:picLocks noChangeAspect="1"/>
          </p:cNvPicPr>
          <p:nvPr/>
        </p:nvPicPr>
        <p:blipFill>
          <a:blip r:embed="rId1"/>
          <a:stretch>
            <a:fillRect/>
          </a:stretch>
        </p:blipFill>
        <p:spPr>
          <a:xfrm>
            <a:off x="9829800" y="5943600"/>
            <a:ext cx="1600200" cy="603504"/>
          </a:xfrm>
          <a:prstGeom prst="rect">
            <a:avLst/>
          </a:prstGeom>
        </p:spPr>
      </p:pic>
      <p:sp>
        <p:nvSpPr>
          <p:cNvPr id="3" name="Text 0"/>
          <p:cNvSpPr/>
          <p:nvPr>
            <p:ph idx="100" type="title" hasCustomPrompt="1"/>
          </p:nvPr>
        </p:nvSpPr>
        <p:spPr>
          <a:xfrm>
            <a:off x="914400" y="457200"/>
            <a:ext cx="10424160" cy="868680"/>
          </a:xfrm>
          <a:prstGeom prst="rect">
            <a:avLst/>
          </a:prstGeom>
          <a:noFill/>
          <a:ln/>
        </p:spPr>
        <p:txBody>
          <a:bodyPr wrap="square" rtlCol="0" anchor="ctr"/>
          <a:lstStyle/>
          <a:p>
            <a:pPr algn="l" indent="0" marL="0">
              <a:buNone/>
            </a:pPr>
            <a:r>
              <a:rPr lang="en-US" sz="3000" b="1" dirty="0">
                <a:solidFill>
                  <a:schemeClr val="accent1"/>
                </a:solidFill>
              </a:rPr>
              <a:t>Puntajes de riesgo poligénico (PRS) y ancestría</a:t>
            </a:r>
            <a:endParaRPr lang="en-US" sz="3000" dirty="0"/>
          </a:p>
        </p:txBody>
      </p:sp>
      <p:sp>
        <p:nvSpPr>
          <p:cNvPr id="4" name="barra-marca"/>
          <p:cNvSpPr/>
          <p:nvPr/>
        </p:nvSpPr>
        <p:spPr>
          <a:xfrm>
            <a:off x="566928" y="502920"/>
            <a:ext cx="68580" cy="777240"/>
          </a:xfrm>
          <a:prstGeom prst="rect">
            <a:avLst/>
          </a:prstGeom>
          <a:solidFill>
            <a:schemeClr val="accent2"/>
          </a:solidFill>
          <a:ln w="12700">
            <a:solidFill>
              <a:schemeClr val="accent2"/>
            </a:solidFill>
            <a:prstDash val="solid"/>
          </a:ln>
        </p:spPr>
      </p:sp>
      <p:sp>
        <p:nvSpPr>
          <p:cNvPr id="5" name="Text 2"/>
          <p:cNvSpPr txBox="1"/>
          <p:nvPr/>
        </p:nvSpPr>
        <p:spPr>
          <a:xfrm>
            <a:off x="914400" y="1508760"/>
            <a:ext cx="10424160" cy="4572000"/>
          </a:xfrm>
          <a:prstGeom prst="rect">
            <a:avLst/>
          </a:prstGeom>
          <a:noFill/>
          <a:ln/>
        </p:spPr>
        <p:txBody>
          <a:bodyPr wrap="square" rtlCol="0" anchor="t"/>
          <a:lstStyle/>
          <a:p>
            <a:pPr marL="342900" indent="-342900">
              <a:spcAft>
                <a:spcPts val="1000"/>
              </a:spcAft>
              <a:buSzPct val="100000"/>
              <a:buChar char="•"/>
            </a:pPr>
            <a:r>
              <a:rPr lang="en-US" sz="1700" dirty="0">
                <a:solidFill>
                  <a:schemeClr val="tx1"/>
                </a:solidFill>
              </a:rPr>
              <a:t>Un PRS suma el efecto de muchas variantes para estimar el riesgo de una persona frente a una enfermedad.</a:t>
            </a:r>
            <a:endParaRPr lang="en-US" sz="1700" dirty="0"/>
          </a:p>
          <a:p>
            <a:pPr marL="342900" indent="-342900">
              <a:spcAft>
                <a:spcPts val="1000"/>
              </a:spcAft>
              <a:buSzPct val="100000"/>
              <a:buChar char="•"/>
            </a:pPr>
            <a:r>
              <a:rPr lang="en-US" sz="1700" dirty="0">
                <a:solidFill>
                  <a:schemeClr val="tx1"/>
                </a:solidFill>
              </a:rPr>
              <a:t>Los pesos de esa suma salen de estudios de asociación (GWAS), y la gran mayoría de los GWAS se han hecho en personas de ancestría europea.</a:t>
            </a:r>
            <a:endParaRPr lang="en-US" sz="1700" dirty="0"/>
          </a:p>
          <a:p>
            <a:pPr marL="342900" indent="-342900">
              <a:spcAft>
                <a:spcPts val="1000"/>
              </a:spcAft>
              <a:buSzPct val="100000"/>
              <a:buChar char="•"/>
            </a:pPr>
            <a:r>
              <a:rPr lang="en-US" sz="1700" dirty="0">
                <a:solidFill>
                  <a:schemeClr val="tx1"/>
                </a:solidFill>
              </a:rPr>
              <a:t>Al aplicar ese PRS a una persona de otra ancestría, el puntaje pierde precisión. No por biología: por el sesgo de las bases de datos.</a:t>
            </a:r>
            <a:endParaRPr lang="en-US" sz="1700" dirty="0"/>
          </a:p>
        </p:txBody>
      </p:sp>
      <p:sp>
        <p:nvSpPr>
          <p:cNvPr id="6" name="stat-prs"/>
          <p:cNvSpPr/>
          <p:nvPr/>
        </p:nvSpPr>
        <p:spPr>
          <a:xfrm>
            <a:off x="914400" y="3749040"/>
            <a:ext cx="3200400" cy="2103120"/>
          </a:xfrm>
          <a:prstGeom prst="roundRect">
            <a:avLst>
              <a:gd name="adj" fmla="val 4348"/>
            </a:avLst>
          </a:prstGeom>
          <a:solidFill>
            <a:schemeClr val="bg2"/>
          </a:solidFill>
          <a:ln w="9525">
            <a:solidFill>
              <a:srgbClr val="F2E3C8"/>
            </a:solidFill>
            <a:prstDash val="solid"/>
          </a:ln>
        </p:spPr>
      </p:sp>
      <p:sp>
        <p:nvSpPr>
          <p:cNvPr id="7" name="Text 4"/>
          <p:cNvSpPr txBox="1"/>
          <p:nvPr/>
        </p:nvSpPr>
        <p:spPr>
          <a:xfrm>
            <a:off x="1051560" y="3950208"/>
            <a:ext cx="2926080" cy="868680"/>
          </a:xfrm>
          <a:prstGeom prst="rect">
            <a:avLst/>
          </a:prstGeom>
          <a:noFill/>
          <a:ln/>
        </p:spPr>
        <p:txBody>
          <a:bodyPr wrap="square" lIns="0" tIns="0" rIns="0" bIns="0" rtlCol="0" anchor="ctr"/>
          <a:lstStyle/>
          <a:p>
            <a:pPr algn="ctr" indent="0" marL="0">
              <a:buNone/>
            </a:pPr>
            <a:r>
              <a:rPr lang="en-US" sz="4000" b="1" dirty="0">
                <a:solidFill>
                  <a:schemeClr val="accent6"/>
                </a:solidFill>
              </a:rPr>
              <a:t>4,9×</a:t>
            </a:r>
            <a:endParaRPr lang="en-US" sz="4000" dirty="0"/>
          </a:p>
        </p:txBody>
      </p:sp>
      <p:sp>
        <p:nvSpPr>
          <p:cNvPr id="8" name="Text 5"/>
          <p:cNvSpPr txBox="1"/>
          <p:nvPr/>
        </p:nvSpPr>
        <p:spPr>
          <a:xfrm>
            <a:off x="1051560" y="4846320"/>
            <a:ext cx="2926080" cy="868680"/>
          </a:xfrm>
          <a:prstGeom prst="rect">
            <a:avLst/>
          </a:prstGeom>
          <a:noFill/>
          <a:ln/>
        </p:spPr>
        <p:txBody>
          <a:bodyPr wrap="square" lIns="0" tIns="0" rIns="0" bIns="0" rtlCol="0" anchor="t"/>
          <a:lstStyle/>
          <a:p>
            <a:pPr algn="ctr" indent="0" marL="0">
              <a:buNone/>
            </a:pPr>
            <a:r>
              <a:rPr lang="en-US" sz="1300" dirty="0">
                <a:solidFill>
                  <a:schemeClr val="tx1"/>
                </a:solidFill>
              </a:rPr>
              <a:t>menor precisión del PRS en personas de ancestría africana que en europeas, en el Biobanco del Reino Unido</a:t>
            </a:r>
            <a:endParaRPr lang="en-US" sz="1300" dirty="0"/>
          </a:p>
        </p:txBody>
      </p:sp>
      <p:sp>
        <p:nvSpPr>
          <p:cNvPr id="9" name="caja-prs"/>
          <p:cNvSpPr/>
          <p:nvPr/>
        </p:nvSpPr>
        <p:spPr>
          <a:xfrm>
            <a:off x="4526280" y="3749040"/>
            <a:ext cx="6812280" cy="2103120"/>
          </a:xfrm>
          <a:prstGeom prst="roundRect">
            <a:avLst>
              <a:gd name="adj" fmla="val 4348"/>
            </a:avLst>
          </a:prstGeom>
          <a:solidFill>
            <a:schemeClr val="bg2"/>
          </a:solidFill>
          <a:ln w="9525">
            <a:solidFill>
              <a:srgbClr val="F2E3C8"/>
            </a:solidFill>
            <a:prstDash val="solid"/>
          </a:ln>
        </p:spPr>
      </p:sp>
      <p:sp>
        <p:nvSpPr>
          <p:cNvPr id="10" name="Text 7"/>
          <p:cNvSpPr txBox="1"/>
          <p:nvPr/>
        </p:nvSpPr>
        <p:spPr>
          <a:xfrm>
            <a:off x="4800600" y="3977640"/>
            <a:ext cx="6263640" cy="1691640"/>
          </a:xfrm>
          <a:prstGeom prst="rect">
            <a:avLst/>
          </a:prstGeom>
          <a:noFill/>
          <a:ln/>
        </p:spPr>
        <p:txBody>
          <a:bodyPr wrap="square" rtlCol="0" anchor="t"/>
          <a:lstStyle/>
          <a:p>
            <a:pPr indent="0" marL="0">
              <a:buNone/>
            </a:pPr>
            <a:r>
              <a:rPr lang="en-US" sz="1500" dirty="0">
                <a:solidFill>
                  <a:schemeClr val="tx1"/>
                </a:solidFill>
              </a:rPr>
              <a:t>La precisión cae a medida que aumenta la distancia genética respecto a la población en la que se derivó el puntaje. En poblaciones mezcladas el resultado queda en un punto intermedio, y además no es uniforme a lo largo del genoma: funciona mejor en los tramos de ancestría europea.</a:t>
            </a:r>
            <a:endParaRPr lang="en-US" sz="1500" dirty="0"/>
          </a:p>
        </p:txBody>
      </p:sp>
      <p:sp>
        <p:nvSpPr>
          <p:cNvPr id="11" name="Text 8"/>
          <p:cNvSpPr txBox="1"/>
          <p:nvPr/>
        </p:nvSpPr>
        <p:spPr>
          <a:xfrm>
            <a:off x="914400" y="6144768"/>
            <a:ext cx="8595360" cy="365760"/>
          </a:xfrm>
          <a:prstGeom prst="rect">
            <a:avLst/>
          </a:prstGeom>
          <a:noFill/>
          <a:ln/>
        </p:spPr>
        <p:txBody>
          <a:bodyPr wrap="square" lIns="0" tIns="0" rIns="0" bIns="0" rtlCol="0" anchor="ctr"/>
          <a:lstStyle/>
          <a:p>
            <a:pPr indent="0" marL="0">
              <a:buNone/>
            </a:pPr>
            <a:r>
              <a:rPr lang="en-US" sz="1100" i="1" dirty="0">
                <a:solidFill>
                  <a:srgbClr val="6E7899"/>
                </a:solidFill>
              </a:rPr>
              <a:t>Martin et al., Nature Genetics 2019;51(4):584–591. doi:10.1038/s41588-019-0379-x</a:t>
            </a:r>
            <a:endParaRPr lang="en-US" sz="1100" dirty="0"/>
          </a:p>
        </p:txBody>
      </p:sp>
      <p:sp>
        <p:nvSpPr>
          <p:cNvPr id="13" name="Text 0"/>
          <p:cNvSpPr/>
          <p:nvPr>
            <p:ph idx="101" type="body" hasCustomPrompt="1"/>
          </p:nvPr>
        </p:nvSpPr>
        <p:spPr>
          <a:xfrm>
            <a:off x="914400" y="1508760"/>
            <a:ext cx="10424160" cy="4572000"/>
          </a:xfrm>
          <a:prstGeom prst="rect">
            <a:avLst/>
          </a:prstGeom>
          <a:noFill/>
          <a:ln/>
        </p:spPr>
        <p:txBody>
          <a:bodyPr wrap="square" rtlCol="0" anchor="t"/>
          <a:lstStyle/>
          <a:p>
            <a:pPr algn="l" indent="0" marL="0">
              <a:buNone/>
            </a:pPr>
            <a:endParaRPr lang="en-US" sz="1700" dirty="0"/>
          </a:p>
        </p:txBody>
      </p:sp>
      <p:sp>
        <p:nvSpPr>
          <p:cNvPr id="25" name="Slide Number Placeholder 0"/>
          <p:cNvSpPr>
            <a:spLocks noGrp="1"/>
          </p:cNvSpPr>
          <p:nvPr>
            <p:ph type="sldNum" sz="quarter" idx="4294967295"/>
          </p:nvPr>
        </p:nvSpPr>
        <p:spPr>
          <a:xfrm>
            <a:off x="11475720" y="256032"/>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B9C0D8"/>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logo-acgh" descr="/tmp/claude-0/-home-claude/e238050a-ce3c-58bd-bb86-9554df59862c/scratchpad/marca/logo_acgh_hd.png">    </p:cNvPr>
          <p:cNvPicPr>
            <a:picLocks noChangeAspect="1"/>
          </p:cNvPicPr>
          <p:nvPr/>
        </p:nvPicPr>
        <p:blipFill>
          <a:blip r:embed="rId1"/>
          <a:stretch>
            <a:fillRect/>
          </a:stretch>
        </p:blipFill>
        <p:spPr>
          <a:xfrm>
            <a:off x="9829800" y="5943600"/>
            <a:ext cx="1600200" cy="603504"/>
          </a:xfrm>
          <a:prstGeom prst="rect">
            <a:avLst/>
          </a:prstGeom>
        </p:spPr>
      </p:pic>
      <p:sp>
        <p:nvSpPr>
          <p:cNvPr id="3" name="Text 0"/>
          <p:cNvSpPr/>
          <p:nvPr>
            <p:ph idx="100" type="title" hasCustomPrompt="1"/>
          </p:nvPr>
        </p:nvSpPr>
        <p:spPr>
          <a:xfrm>
            <a:off x="914400" y="457200"/>
            <a:ext cx="10424160" cy="868680"/>
          </a:xfrm>
          <a:prstGeom prst="rect">
            <a:avLst/>
          </a:prstGeom>
          <a:noFill/>
          <a:ln/>
        </p:spPr>
        <p:txBody>
          <a:bodyPr wrap="square" rtlCol="0" anchor="ctr"/>
          <a:lstStyle/>
          <a:p>
            <a:pPr algn="l" indent="0" marL="0">
              <a:buNone/>
            </a:pPr>
            <a:r>
              <a:rPr lang="en-US" sz="3000" b="1" dirty="0">
                <a:solidFill>
                  <a:schemeClr val="accent1"/>
                </a:solidFill>
              </a:rPr>
              <a:t>Tres razones por las que un PRS no se traslada</a:t>
            </a:r>
            <a:endParaRPr lang="en-US" sz="3000" dirty="0"/>
          </a:p>
        </p:txBody>
      </p:sp>
      <p:sp>
        <p:nvSpPr>
          <p:cNvPr id="4" name="barra-marca"/>
          <p:cNvSpPr/>
          <p:nvPr/>
        </p:nvSpPr>
        <p:spPr>
          <a:xfrm>
            <a:off x="566928" y="502920"/>
            <a:ext cx="68580" cy="777240"/>
          </a:xfrm>
          <a:prstGeom prst="rect">
            <a:avLst/>
          </a:prstGeom>
          <a:solidFill>
            <a:schemeClr val="accent2"/>
          </a:solidFill>
          <a:ln w="12700">
            <a:solidFill>
              <a:schemeClr val="accent2"/>
            </a:solidFill>
            <a:prstDash val="solid"/>
          </a:ln>
        </p:spPr>
      </p:sp>
      <p:sp>
        <p:nvSpPr>
          <p:cNvPr id="5" name="razon-0"/>
          <p:cNvSpPr/>
          <p:nvPr/>
        </p:nvSpPr>
        <p:spPr>
          <a:xfrm>
            <a:off x="914400" y="1847088"/>
            <a:ext cx="384048" cy="384048"/>
          </a:xfrm>
          <a:prstGeom prst="ellipse">
            <a:avLst/>
          </a:prstGeom>
          <a:solidFill>
            <a:schemeClr val="accent1"/>
          </a:solidFill>
          <a:ln w="12700">
            <a:solidFill>
              <a:schemeClr val="accent1"/>
            </a:solidFill>
            <a:prstDash val="solid"/>
          </a:ln>
        </p:spPr>
      </p:sp>
      <p:sp>
        <p:nvSpPr>
          <p:cNvPr id="6" name="Text 3"/>
          <p:cNvSpPr txBox="1"/>
          <p:nvPr/>
        </p:nvSpPr>
        <p:spPr>
          <a:xfrm>
            <a:off x="1481328" y="1783080"/>
            <a:ext cx="9765792" cy="347472"/>
          </a:xfrm>
          <a:prstGeom prst="rect">
            <a:avLst/>
          </a:prstGeom>
          <a:noFill/>
          <a:ln/>
        </p:spPr>
        <p:txBody>
          <a:bodyPr wrap="square" lIns="0" tIns="0" rIns="0" bIns="0" rtlCol="0" anchor="ctr"/>
          <a:lstStyle/>
          <a:p>
            <a:pPr indent="0" marL="0">
              <a:buNone/>
            </a:pPr>
            <a:r>
              <a:rPr lang="en-US" sz="1700" b="1" dirty="0">
                <a:solidFill>
                  <a:schemeClr val="accent1"/>
                </a:solidFill>
              </a:rPr>
              <a:t>Las frecuencias cambian</a:t>
            </a:r>
            <a:endParaRPr lang="en-US" sz="1700" dirty="0"/>
          </a:p>
        </p:txBody>
      </p:sp>
      <p:sp>
        <p:nvSpPr>
          <p:cNvPr id="7" name="Text 4"/>
          <p:cNvSpPr txBox="1"/>
          <p:nvPr/>
        </p:nvSpPr>
        <p:spPr>
          <a:xfrm>
            <a:off x="1481328" y="2167128"/>
            <a:ext cx="9765792" cy="777240"/>
          </a:xfrm>
          <a:prstGeom prst="rect">
            <a:avLst/>
          </a:prstGeom>
          <a:noFill/>
          <a:ln/>
        </p:spPr>
        <p:txBody>
          <a:bodyPr wrap="square" lIns="0" tIns="0" rIns="0" bIns="0" rtlCol="0" anchor="t"/>
          <a:lstStyle/>
          <a:p>
            <a:pPr indent="0" marL="0">
              <a:buNone/>
            </a:pPr>
            <a:r>
              <a:rPr lang="en-US" sz="1400" dirty="0">
                <a:solidFill>
                  <a:schemeClr val="tx1"/>
                </a:solidFill>
              </a:rPr>
              <a:t>Una variante común en europeos puede ser rara en otra población, así que aporta mucha menos información al puntaje.</a:t>
            </a:r>
            <a:endParaRPr lang="en-US" sz="1400" dirty="0"/>
          </a:p>
        </p:txBody>
      </p:sp>
      <p:sp>
        <p:nvSpPr>
          <p:cNvPr id="8" name="razon-1"/>
          <p:cNvSpPr/>
          <p:nvPr/>
        </p:nvSpPr>
        <p:spPr>
          <a:xfrm>
            <a:off x="914400" y="3310128"/>
            <a:ext cx="384048" cy="384048"/>
          </a:xfrm>
          <a:prstGeom prst="ellipse">
            <a:avLst/>
          </a:prstGeom>
          <a:solidFill>
            <a:schemeClr val="accent3"/>
          </a:solidFill>
          <a:ln w="12700">
            <a:solidFill>
              <a:schemeClr val="accent3"/>
            </a:solidFill>
            <a:prstDash val="solid"/>
          </a:ln>
        </p:spPr>
      </p:sp>
      <p:sp>
        <p:nvSpPr>
          <p:cNvPr id="9" name="Text 6"/>
          <p:cNvSpPr txBox="1"/>
          <p:nvPr/>
        </p:nvSpPr>
        <p:spPr>
          <a:xfrm>
            <a:off x="1481328" y="3246120"/>
            <a:ext cx="9765792" cy="347472"/>
          </a:xfrm>
          <a:prstGeom prst="rect">
            <a:avLst/>
          </a:prstGeom>
          <a:noFill/>
          <a:ln/>
        </p:spPr>
        <p:txBody>
          <a:bodyPr wrap="square" lIns="0" tIns="0" rIns="0" bIns="0" rtlCol="0" anchor="ctr"/>
          <a:lstStyle/>
          <a:p>
            <a:pPr indent="0" marL="0">
              <a:buNone/>
            </a:pPr>
            <a:r>
              <a:rPr lang="en-US" sz="1700" b="1" dirty="0">
                <a:solidFill>
                  <a:schemeClr val="accent1"/>
                </a:solidFill>
              </a:rPr>
              <a:t>El desequilibrio de ligamiento cambia</a:t>
            </a:r>
            <a:endParaRPr lang="en-US" sz="1700" dirty="0"/>
          </a:p>
        </p:txBody>
      </p:sp>
      <p:sp>
        <p:nvSpPr>
          <p:cNvPr id="10" name="Text 7"/>
          <p:cNvSpPr txBox="1"/>
          <p:nvPr/>
        </p:nvSpPr>
        <p:spPr>
          <a:xfrm>
            <a:off x="1481328" y="3630168"/>
            <a:ext cx="9765792" cy="777240"/>
          </a:xfrm>
          <a:prstGeom prst="rect">
            <a:avLst/>
          </a:prstGeom>
          <a:noFill/>
          <a:ln/>
        </p:spPr>
        <p:txBody>
          <a:bodyPr wrap="square" lIns="0" tIns="0" rIns="0" bIns="0" rtlCol="0" anchor="t"/>
          <a:lstStyle/>
          <a:p>
            <a:pPr indent="0" marL="0">
              <a:buNone/>
            </a:pPr>
            <a:r>
              <a:rPr lang="en-US" sz="1400" dirty="0">
                <a:solidFill>
                  <a:schemeClr val="tx1"/>
                </a:solidFill>
              </a:rPr>
              <a:t>El GWAS casi nunca encuentra la variante causal, sino una vecina correlacionada. Esa correlación es distinta en otra población, así que el peso deja de aplicar.</a:t>
            </a:r>
            <a:endParaRPr lang="en-US" sz="1400" dirty="0"/>
          </a:p>
        </p:txBody>
      </p:sp>
      <p:sp>
        <p:nvSpPr>
          <p:cNvPr id="11" name="razon-2"/>
          <p:cNvSpPr/>
          <p:nvPr/>
        </p:nvSpPr>
        <p:spPr>
          <a:xfrm>
            <a:off x="914400" y="4773168"/>
            <a:ext cx="384048" cy="384048"/>
          </a:xfrm>
          <a:prstGeom prst="ellipse">
            <a:avLst/>
          </a:prstGeom>
          <a:solidFill>
            <a:schemeClr val="accent6"/>
          </a:solidFill>
          <a:ln w="12700">
            <a:solidFill>
              <a:schemeClr val="accent6"/>
            </a:solidFill>
            <a:prstDash val="solid"/>
          </a:ln>
        </p:spPr>
      </p:sp>
      <p:sp>
        <p:nvSpPr>
          <p:cNvPr id="12" name="Text 9"/>
          <p:cNvSpPr txBox="1"/>
          <p:nvPr/>
        </p:nvSpPr>
        <p:spPr>
          <a:xfrm>
            <a:off x="1481328" y="4709160"/>
            <a:ext cx="9765792" cy="347472"/>
          </a:xfrm>
          <a:prstGeom prst="rect">
            <a:avLst/>
          </a:prstGeom>
          <a:noFill/>
          <a:ln/>
        </p:spPr>
        <p:txBody>
          <a:bodyPr wrap="square" lIns="0" tIns="0" rIns="0" bIns="0" rtlCol="0" anchor="ctr"/>
          <a:lstStyle/>
          <a:p>
            <a:pPr indent="0" marL="0">
              <a:buNone/>
            </a:pPr>
            <a:r>
              <a:rPr lang="en-US" sz="1700" b="1" dirty="0">
                <a:solidFill>
                  <a:schemeClr val="accent1"/>
                </a:solidFill>
              </a:rPr>
              <a:t>Faltan variantes</a:t>
            </a:r>
            <a:endParaRPr lang="en-US" sz="1700" dirty="0"/>
          </a:p>
        </p:txBody>
      </p:sp>
      <p:sp>
        <p:nvSpPr>
          <p:cNvPr id="13" name="Text 10"/>
          <p:cNvSpPr txBox="1"/>
          <p:nvPr/>
        </p:nvSpPr>
        <p:spPr>
          <a:xfrm>
            <a:off x="1481328" y="5093208"/>
            <a:ext cx="9765792" cy="777240"/>
          </a:xfrm>
          <a:prstGeom prst="rect">
            <a:avLst/>
          </a:prstGeom>
          <a:noFill/>
          <a:ln/>
        </p:spPr>
        <p:txBody>
          <a:bodyPr wrap="square" lIns="0" tIns="0" rIns="0" bIns="0" rtlCol="0" anchor="t"/>
          <a:lstStyle/>
          <a:p>
            <a:pPr indent="0" marL="0">
              <a:buNone/>
            </a:pPr>
            <a:r>
              <a:rPr lang="en-US" sz="1400" dirty="0">
                <a:solidFill>
                  <a:schemeClr val="tx1"/>
                </a:solidFill>
              </a:rPr>
              <a:t>Variantes importantes en una población pueden no existir en la otra, y el GWAS europeo ni siquiera las midió.</a:t>
            </a:r>
            <a:endParaRPr lang="en-US" sz="1400" dirty="0"/>
          </a:p>
        </p:txBody>
      </p:sp>
      <p:sp>
        <p:nvSpPr>
          <p:cNvPr id="14" name="caja-colombia"/>
          <p:cNvSpPr/>
          <p:nvPr/>
        </p:nvSpPr>
        <p:spPr>
          <a:xfrm>
            <a:off x="914400" y="5120640"/>
            <a:ext cx="10424160" cy="1005840"/>
          </a:xfrm>
          <a:prstGeom prst="roundRect">
            <a:avLst>
              <a:gd name="adj" fmla="val 9091"/>
            </a:avLst>
          </a:prstGeom>
          <a:solidFill>
            <a:schemeClr val="bg2"/>
          </a:solidFill>
          <a:ln w="9525">
            <a:solidFill>
              <a:srgbClr val="F2E3C8"/>
            </a:solidFill>
            <a:prstDash val="solid"/>
          </a:ln>
        </p:spPr>
      </p:sp>
      <p:sp>
        <p:nvSpPr>
          <p:cNvPr id="15" name="Text 12"/>
          <p:cNvSpPr txBox="1"/>
          <p:nvPr/>
        </p:nvSpPr>
        <p:spPr>
          <a:xfrm>
            <a:off x="1188720" y="5257800"/>
            <a:ext cx="9875520" cy="777240"/>
          </a:xfrm>
          <a:prstGeom prst="rect">
            <a:avLst/>
          </a:prstGeom>
          <a:noFill/>
          <a:ln/>
        </p:spPr>
        <p:txBody>
          <a:bodyPr wrap="square" rtlCol="0" anchor="ctr"/>
          <a:lstStyle/>
          <a:p>
            <a:pPr indent="0" marL="0">
              <a:buNone/>
            </a:pPr>
            <a:r>
              <a:rPr lang="en-US" sz="1500" b="1" dirty="0">
                <a:solidFill>
                  <a:schemeClr val="accent1"/>
                </a:solidFill>
              </a:rPr>
              <a:t>Para discutir el sábado: si tuvieras que aplicar un PRS de riesgo cardiovascular en una cohorte colombiana, ¿qué harías antes de reportar resultados individuales?</a:t>
            </a:r>
            <a:endParaRPr lang="en-US" sz="1500" dirty="0"/>
          </a:p>
        </p:txBody>
      </p:sp>
      <p:sp>
        <p:nvSpPr>
          <p:cNvPr id="25" name="Slide Number Placeholder 0"/>
          <p:cNvSpPr>
            <a:spLocks noGrp="1"/>
          </p:cNvSpPr>
          <p:nvPr>
            <p:ph type="sldNum" sz="quarter" idx="4294967295"/>
          </p:nvPr>
        </p:nvSpPr>
        <p:spPr>
          <a:xfrm>
            <a:off x="11475720" y="256032"/>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B9C0D8"/>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logo-acgh" descr="/tmp/claude-0/-home-claude/e238050a-ce3c-58bd-bb86-9554df59862c/scratchpad/marca/logo_acgh_hd.png">    </p:cNvPr>
          <p:cNvPicPr>
            <a:picLocks noChangeAspect="1"/>
          </p:cNvPicPr>
          <p:nvPr/>
        </p:nvPicPr>
        <p:blipFill>
          <a:blip r:embed="rId1"/>
          <a:stretch>
            <a:fillRect/>
          </a:stretch>
        </p:blipFill>
        <p:spPr>
          <a:xfrm>
            <a:off x="9829800" y="5943600"/>
            <a:ext cx="1600200" cy="603504"/>
          </a:xfrm>
          <a:prstGeom prst="rect">
            <a:avLst/>
          </a:prstGeom>
        </p:spPr>
      </p:pic>
      <p:sp>
        <p:nvSpPr>
          <p:cNvPr id="3" name="Text 0"/>
          <p:cNvSpPr/>
          <p:nvPr>
            <p:ph idx="100" type="title" hasCustomPrompt="1"/>
          </p:nvPr>
        </p:nvSpPr>
        <p:spPr>
          <a:xfrm>
            <a:off x="914400" y="457200"/>
            <a:ext cx="10424160" cy="868680"/>
          </a:xfrm>
          <a:prstGeom prst="rect">
            <a:avLst/>
          </a:prstGeom>
          <a:noFill/>
          <a:ln/>
        </p:spPr>
        <p:txBody>
          <a:bodyPr wrap="square" rtlCol="0" anchor="ctr"/>
          <a:lstStyle/>
          <a:p>
            <a:pPr algn="l" indent="0" marL="0">
              <a:buNone/>
            </a:pPr>
            <a:r>
              <a:rPr lang="en-US" sz="3000" b="1" dirty="0">
                <a:solidFill>
                  <a:schemeClr val="accent1"/>
                </a:solidFill>
              </a:rPr>
              <a:t>Para la sesión del sábado 5 de diciembre</a:t>
            </a:r>
            <a:endParaRPr lang="en-US" sz="3000" dirty="0"/>
          </a:p>
        </p:txBody>
      </p:sp>
      <p:sp>
        <p:nvSpPr>
          <p:cNvPr id="4" name="barra-marca"/>
          <p:cNvSpPr/>
          <p:nvPr/>
        </p:nvSpPr>
        <p:spPr>
          <a:xfrm>
            <a:off x="566928" y="502920"/>
            <a:ext cx="68580" cy="777240"/>
          </a:xfrm>
          <a:prstGeom prst="rect">
            <a:avLst/>
          </a:prstGeom>
          <a:solidFill>
            <a:schemeClr val="accent2"/>
          </a:solidFill>
          <a:ln w="12700">
            <a:solidFill>
              <a:schemeClr val="accent2"/>
            </a:solidFill>
            <a:prstDash val="solid"/>
          </a:ln>
        </p:spPr>
      </p:sp>
      <p:sp>
        <p:nvSpPr>
          <p:cNvPr id="5" name="Text 2"/>
          <p:cNvSpPr txBox="1"/>
          <p:nvPr/>
        </p:nvSpPr>
        <p:spPr>
          <a:xfrm>
            <a:off x="914400" y="1508760"/>
            <a:ext cx="10424160" cy="4572000"/>
          </a:xfrm>
          <a:prstGeom prst="rect">
            <a:avLst/>
          </a:prstGeom>
          <a:noFill/>
          <a:ln/>
        </p:spPr>
        <p:txBody>
          <a:bodyPr wrap="square" rtlCol="0" anchor="t"/>
          <a:lstStyle/>
          <a:p>
            <a:pPr marL="342900" indent="-342900">
              <a:spcAft>
                <a:spcPts val="1000"/>
              </a:spcAft>
              <a:buSzPct val="100000"/>
              <a:buChar char="•"/>
            </a:pPr>
            <a:r>
              <a:rPr lang="en-US" sz="1700" dirty="0">
                <a:solidFill>
                  <a:schemeClr val="tx1"/>
                </a:solidFill>
              </a:rPr>
              <a:t>Consultaremos qué ancestría tiene cada persona en la posición exacta de APOL1.</a:t>
            </a:r>
            <a:endParaRPr lang="en-US" sz="1700" dirty="0"/>
          </a:p>
          <a:p>
            <a:pPr marL="342900" indent="-342900">
              <a:spcAft>
                <a:spcPts val="1000"/>
              </a:spcAft>
              <a:buSzPct val="100000"/>
              <a:buChar char="•"/>
            </a:pPr>
            <a:r>
              <a:rPr lang="en-US" sz="1700" dirty="0">
                <a:solidFill>
                  <a:schemeClr val="tx1"/>
                </a:solidFill>
              </a:rPr>
              <a:t>Contaremos cuántas de sus dos copias son africanas ahí, que es lo que define el riesgo recesivo.</a:t>
            </a:r>
            <a:endParaRPr lang="en-US" sz="1700" dirty="0"/>
          </a:p>
          <a:p>
            <a:pPr marL="342900" indent="-342900">
              <a:spcAft>
                <a:spcPts val="1000"/>
              </a:spcAft>
              <a:buSzPct val="100000"/>
              <a:buChar char="•"/>
            </a:pPr>
            <a:r>
              <a:rPr lang="en-US" sz="1700" dirty="0">
                <a:solidFill>
                  <a:schemeClr val="tx1"/>
                </a:solidFill>
              </a:rPr>
              <a:t>Veremos la lógica del admixture mapping midiendo la desviación de la ancestría a lo largo del cromosoma.</a:t>
            </a:r>
            <a:endParaRPr lang="en-US" sz="1700" dirty="0"/>
          </a:p>
          <a:p>
            <a:pPr marL="342900" indent="-342900">
              <a:spcAft>
                <a:spcPts val="1000"/>
              </a:spcAft>
              <a:buSzPct val="100000"/>
              <a:buChar char="•"/>
            </a:pPr>
            <a:r>
              <a:rPr lang="en-US" sz="1700" dirty="0">
                <a:solidFill>
                  <a:schemeClr val="tx1"/>
                </a:solidFill>
              </a:rPr>
              <a:t>Cerraremos discutiendo límites: qué se puede concluir con estos datos y qué no.</a:t>
            </a:r>
            <a:endParaRPr lang="en-US" sz="1700" dirty="0"/>
          </a:p>
        </p:txBody>
      </p:sp>
      <p:sp>
        <p:nvSpPr>
          <p:cNvPr id="6" name="caja-lecturas"/>
          <p:cNvSpPr/>
          <p:nvPr/>
        </p:nvSpPr>
        <p:spPr>
          <a:xfrm>
            <a:off x="914400" y="4206240"/>
            <a:ext cx="10424160" cy="1783080"/>
          </a:xfrm>
          <a:prstGeom prst="roundRect">
            <a:avLst>
              <a:gd name="adj" fmla="val 5128"/>
            </a:avLst>
          </a:prstGeom>
          <a:solidFill>
            <a:schemeClr val="bg2"/>
          </a:solidFill>
          <a:ln w="9525">
            <a:solidFill>
              <a:srgbClr val="F2E3C8"/>
            </a:solidFill>
            <a:prstDash val="solid"/>
          </a:ln>
        </p:spPr>
      </p:sp>
      <p:sp>
        <p:nvSpPr>
          <p:cNvPr id="7" name="Text 4"/>
          <p:cNvSpPr txBox="1"/>
          <p:nvPr/>
        </p:nvSpPr>
        <p:spPr>
          <a:xfrm>
            <a:off x="1188720" y="4370832"/>
            <a:ext cx="9875520" cy="365760"/>
          </a:xfrm>
          <a:prstGeom prst="rect">
            <a:avLst/>
          </a:prstGeom>
          <a:noFill/>
          <a:ln/>
        </p:spPr>
        <p:txBody>
          <a:bodyPr wrap="square" lIns="0" tIns="0" rIns="0" bIns="0" rtlCol="0" anchor="ctr"/>
          <a:lstStyle/>
          <a:p>
            <a:pPr indent="0" marL="0">
              <a:buNone/>
            </a:pPr>
            <a:r>
              <a:rPr lang="en-US" sz="1600" b="1" dirty="0">
                <a:solidFill>
                  <a:schemeClr val="accent1"/>
                </a:solidFill>
              </a:rPr>
              <a:t>Lecturas de este módulo</a:t>
            </a:r>
            <a:endParaRPr lang="en-US" sz="1600" dirty="0"/>
          </a:p>
        </p:txBody>
      </p:sp>
      <p:sp>
        <p:nvSpPr>
          <p:cNvPr id="8" name="Text 5"/>
          <p:cNvSpPr txBox="1"/>
          <p:nvPr/>
        </p:nvSpPr>
        <p:spPr>
          <a:xfrm>
            <a:off x="1188720" y="4754880"/>
            <a:ext cx="9875520" cy="1143000"/>
          </a:xfrm>
          <a:prstGeom prst="rect">
            <a:avLst/>
          </a:prstGeom>
          <a:noFill/>
          <a:ln/>
        </p:spPr>
        <p:txBody>
          <a:bodyPr wrap="square" rtlCol="0" anchor="t"/>
          <a:lstStyle/>
          <a:p>
            <a:pPr marL="342900" indent="-342900">
              <a:spcAft>
                <a:spcPts val="400"/>
              </a:spcAft>
              <a:buSzPct val="100000"/>
              <a:buChar char="•"/>
            </a:pPr>
            <a:r>
              <a:rPr lang="en-US" sz="1300" dirty="0">
                <a:solidFill>
                  <a:schemeClr val="tx1"/>
                </a:solidFill>
              </a:rPr>
              <a:t>Martin et al. Current clinical use of polygenic scores will risk exacerbating health disparities. Nat Genet 2019;51(4):584–591 (principal)</a:t>
            </a:r>
            <a:endParaRPr lang="en-US" sz="1300" dirty="0"/>
          </a:p>
          <a:p>
            <a:pPr marL="342900" indent="-342900">
              <a:spcAft>
                <a:spcPts val="400"/>
              </a:spcAft>
              <a:buSzPct val="100000"/>
              <a:buChar char="•"/>
            </a:pPr>
            <a:r>
              <a:rPr lang="en-US" sz="1300" dirty="0">
                <a:solidFill>
                  <a:schemeClr val="tx1"/>
                </a:solidFill>
              </a:rPr>
              <a:t>Tzur et al. Missense mutations in the APOL1 gene... Hum Genet 2010;128(3):345–350</a:t>
            </a:r>
            <a:endParaRPr lang="en-US" sz="1300" dirty="0"/>
          </a:p>
        </p:txBody>
      </p:sp>
      <p:sp>
        <p:nvSpPr>
          <p:cNvPr id="10" name="Text 0"/>
          <p:cNvSpPr/>
          <p:nvPr>
            <p:ph idx="101" type="body" hasCustomPrompt="1"/>
          </p:nvPr>
        </p:nvSpPr>
        <p:spPr>
          <a:xfrm>
            <a:off x="914400" y="1508760"/>
            <a:ext cx="10424160" cy="4572000"/>
          </a:xfrm>
          <a:prstGeom prst="rect">
            <a:avLst/>
          </a:prstGeom>
          <a:noFill/>
          <a:ln/>
        </p:spPr>
        <p:txBody>
          <a:bodyPr wrap="square" rtlCol="0" anchor="t"/>
          <a:lstStyle/>
          <a:p>
            <a:pPr algn="l" indent="0" marL="0">
              <a:buNone/>
            </a:pPr>
            <a:endParaRPr lang="en-US" sz="1700" dirty="0"/>
          </a:p>
        </p:txBody>
      </p:sp>
      <p:sp>
        <p:nvSpPr>
          <p:cNvPr id="25" name="Slide Number Placeholder 0"/>
          <p:cNvSpPr>
            <a:spLocks noGrp="1"/>
          </p:cNvSpPr>
          <p:nvPr>
            <p:ph type="sldNum" sz="quarter" idx="4294967295"/>
          </p:nvPr>
        </p:nvSpPr>
        <p:spPr>
          <a:xfrm>
            <a:off x="11475720" y="256032"/>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B9C0D8"/>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logo-acgh" descr="/tmp/claude-0/-home-claude/e238050a-ce3c-58bd-bb86-9554df59862c/scratchpad/marca/logo_acgh_hd.png">    </p:cNvPr>
          <p:cNvPicPr>
            <a:picLocks noChangeAspect="1"/>
          </p:cNvPicPr>
          <p:nvPr/>
        </p:nvPicPr>
        <p:blipFill>
          <a:blip r:embed="rId1"/>
          <a:stretch>
            <a:fillRect/>
          </a:stretch>
        </p:blipFill>
        <p:spPr>
          <a:xfrm>
            <a:off x="9829800" y="5943600"/>
            <a:ext cx="1600200" cy="603504"/>
          </a:xfrm>
          <a:prstGeom prst="rect">
            <a:avLst/>
          </a:prstGeom>
        </p:spPr>
      </p:pic>
      <p:sp>
        <p:nvSpPr>
          <p:cNvPr id="3" name="Text 0"/>
          <p:cNvSpPr/>
          <p:nvPr>
            <p:ph idx="100" type="title" hasCustomPrompt="1"/>
          </p:nvPr>
        </p:nvSpPr>
        <p:spPr>
          <a:xfrm>
            <a:off x="914400" y="457200"/>
            <a:ext cx="10424160" cy="868680"/>
          </a:xfrm>
          <a:prstGeom prst="rect">
            <a:avLst/>
          </a:prstGeom>
          <a:noFill/>
          <a:ln/>
        </p:spPr>
        <p:txBody>
          <a:bodyPr wrap="square" rtlCol="0" anchor="ctr"/>
          <a:lstStyle/>
          <a:p>
            <a:pPr algn="l" indent="0" marL="0">
              <a:buNone/>
            </a:pPr>
            <a:r>
              <a:rPr lang="en-US" sz="3000" b="1" dirty="0">
                <a:solidFill>
                  <a:schemeClr val="accent1"/>
                </a:solidFill>
              </a:rPr>
              <a:t>Lo que llevamos y lo que falta</a:t>
            </a:r>
            <a:endParaRPr lang="en-US" sz="3000" dirty="0"/>
          </a:p>
        </p:txBody>
      </p:sp>
      <p:sp>
        <p:nvSpPr>
          <p:cNvPr id="4" name="barra-marca"/>
          <p:cNvSpPr/>
          <p:nvPr/>
        </p:nvSpPr>
        <p:spPr>
          <a:xfrm>
            <a:off x="566928" y="502920"/>
            <a:ext cx="68580" cy="777240"/>
          </a:xfrm>
          <a:prstGeom prst="rect">
            <a:avLst/>
          </a:prstGeom>
          <a:solidFill>
            <a:schemeClr val="accent2"/>
          </a:solidFill>
          <a:ln w="12700">
            <a:solidFill>
              <a:schemeClr val="accent2"/>
            </a:solidFill>
            <a:prstDash val="solid"/>
          </a:ln>
        </p:spPr>
      </p:sp>
      <p:sp>
        <p:nvSpPr>
          <p:cNvPr id="5" name="Text 2"/>
          <p:cNvSpPr txBox="1"/>
          <p:nvPr/>
        </p:nvSpPr>
        <p:spPr>
          <a:xfrm>
            <a:off x="914400" y="1508760"/>
            <a:ext cx="10424160" cy="4572000"/>
          </a:xfrm>
          <a:prstGeom prst="rect">
            <a:avLst/>
          </a:prstGeom>
          <a:noFill/>
          <a:ln/>
        </p:spPr>
        <p:txBody>
          <a:bodyPr wrap="square" rtlCol="0" anchor="t"/>
          <a:lstStyle/>
          <a:p>
            <a:pPr marL="342900" indent="-342900">
              <a:spcAft>
                <a:spcPts val="1000"/>
              </a:spcAft>
              <a:buSzPct val="100000"/>
              <a:buChar char="•"/>
            </a:pPr>
            <a:r>
              <a:rPr lang="en-US" sz="1700" dirty="0">
                <a:solidFill>
                  <a:schemeClr val="tx1"/>
                </a:solidFill>
              </a:rPr>
              <a:t>Elegir K con validación cruzada, para no fijarlo a dedo.</a:t>
            </a:r>
            <a:endParaRPr lang="en-US" sz="1700" dirty="0"/>
          </a:p>
          <a:p>
            <a:pPr marL="342900" indent="-342900">
              <a:spcAft>
                <a:spcPts val="1000"/>
              </a:spcAft>
              <a:buSzPct val="100000"/>
              <a:buChar char="•"/>
            </a:pPr>
            <a:r>
              <a:rPr lang="en-US" sz="1700" dirty="0">
                <a:solidFill>
                  <a:schemeClr val="tx1"/>
                </a:solidFill>
              </a:rPr>
              <a:t>Fasear datos propios con SHAPEIT o Beagle: aquí usamos datos ya faseados.</a:t>
            </a:r>
            <a:endParaRPr lang="en-US" sz="1700" dirty="0"/>
          </a:p>
          <a:p>
            <a:pPr marL="342900" indent="-342900">
              <a:spcAft>
                <a:spcPts val="1000"/>
              </a:spcAft>
              <a:buSzPct val="100000"/>
              <a:buChar char="•"/>
            </a:pPr>
            <a:r>
              <a:rPr lang="en-US" sz="1700" dirty="0">
                <a:solidFill>
                  <a:schemeClr val="tx1"/>
                </a:solidFill>
              </a:rPr>
              <a:t>Trabajar con todo el genoma y no un solo cromosoma.</a:t>
            </a:r>
            <a:endParaRPr lang="en-US" sz="1700" dirty="0"/>
          </a:p>
          <a:p>
            <a:pPr marL="342900" indent="-342900">
              <a:spcAft>
                <a:spcPts val="1000"/>
              </a:spcAft>
              <a:buSzPct val="100000"/>
              <a:buChar char="•"/>
            </a:pPr>
            <a:r>
              <a:rPr lang="en-US" sz="1700" dirty="0">
                <a:solidFill>
                  <a:schemeClr val="tx1"/>
                </a:solidFill>
              </a:rPr>
              <a:t>Modo supervisado de ADMIXTURE, que fija las poblaciones de referencia.</a:t>
            </a:r>
            <a:endParaRPr lang="en-US" sz="1700" dirty="0"/>
          </a:p>
          <a:p>
            <a:pPr marL="342900" indent="-342900">
              <a:spcAft>
                <a:spcPts val="1000"/>
              </a:spcAft>
              <a:buSzPct val="100000"/>
              <a:buChar char="•"/>
            </a:pPr>
            <a:r>
              <a:rPr lang="en-US" sz="1700" dirty="0">
                <a:solidFill>
                  <a:schemeClr val="tx1"/>
                </a:solidFill>
              </a:rPr>
              <a:t>Fechar la mezcla a partir del largo de los segmentos.</a:t>
            </a:r>
            <a:endParaRPr lang="en-US" sz="1700" dirty="0"/>
          </a:p>
        </p:txBody>
      </p:sp>
      <p:sp>
        <p:nvSpPr>
          <p:cNvPr id="6" name="caja-cierre"/>
          <p:cNvSpPr/>
          <p:nvPr/>
        </p:nvSpPr>
        <p:spPr>
          <a:xfrm>
            <a:off x="914400" y="4846320"/>
            <a:ext cx="10424160" cy="1097280"/>
          </a:xfrm>
          <a:prstGeom prst="roundRect">
            <a:avLst>
              <a:gd name="adj" fmla="val 8333"/>
            </a:avLst>
          </a:prstGeom>
          <a:solidFill>
            <a:schemeClr val="bg2"/>
          </a:solidFill>
          <a:ln w="9525">
            <a:solidFill>
              <a:srgbClr val="F2E3C8"/>
            </a:solidFill>
            <a:prstDash val="solid"/>
          </a:ln>
        </p:spPr>
      </p:sp>
      <p:sp>
        <p:nvSpPr>
          <p:cNvPr id="7" name="Text 4"/>
          <p:cNvSpPr txBox="1"/>
          <p:nvPr/>
        </p:nvSpPr>
        <p:spPr>
          <a:xfrm>
            <a:off x="1188720" y="4983480"/>
            <a:ext cx="9875520" cy="822960"/>
          </a:xfrm>
          <a:prstGeom prst="rect">
            <a:avLst/>
          </a:prstGeom>
          <a:noFill/>
          <a:ln/>
        </p:spPr>
        <p:txBody>
          <a:bodyPr wrap="square" rtlCol="0" anchor="ctr"/>
          <a:lstStyle/>
          <a:p>
            <a:pPr indent="0" marL="0">
              <a:buNone/>
            </a:pPr>
            <a:r>
              <a:rPr lang="en-US" sz="1600" dirty="0">
                <a:solidFill>
                  <a:schemeClr val="tx1"/>
                </a:solidFill>
              </a:rPr>
              <a:t>Este curso es una introducción. Estos cinco temas son el siguiente paso natural si vas a trabajar con ancestría en tus propios datos.</a:t>
            </a:r>
            <a:endParaRPr lang="en-US" sz="1600" dirty="0"/>
          </a:p>
        </p:txBody>
      </p:sp>
      <p:sp>
        <p:nvSpPr>
          <p:cNvPr id="9" name="Text 0"/>
          <p:cNvSpPr/>
          <p:nvPr>
            <p:ph idx="101" type="body" hasCustomPrompt="1"/>
          </p:nvPr>
        </p:nvSpPr>
        <p:spPr>
          <a:xfrm>
            <a:off x="914400" y="1508760"/>
            <a:ext cx="10424160" cy="4572000"/>
          </a:xfrm>
          <a:prstGeom prst="rect">
            <a:avLst/>
          </a:prstGeom>
          <a:noFill/>
          <a:ln/>
        </p:spPr>
        <p:txBody>
          <a:bodyPr wrap="square" rtlCol="0" anchor="t"/>
          <a:lstStyle/>
          <a:p>
            <a:pPr algn="l" indent="0" marL="0">
              <a:buNone/>
            </a:pPr>
            <a:endParaRPr lang="en-US" sz="1700" dirty="0"/>
          </a:p>
        </p:txBody>
      </p:sp>
      <p:sp>
        <p:nvSpPr>
          <p:cNvPr id="25" name="Slide Number Placeholder 0"/>
          <p:cNvSpPr>
            <a:spLocks noGrp="1"/>
          </p:cNvSpPr>
          <p:nvPr>
            <p:ph type="sldNum" sz="quarter" idx="4294967295"/>
          </p:nvPr>
        </p:nvSpPr>
        <p:spPr>
          <a:xfrm>
            <a:off x="11475720" y="256032"/>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B9C0D8"/>
                </a:solidFill>
              </a:defRPr>
            </a:lvl1pPr>
          </a:lstStyle>
          <a:p>
            <a:pPr algn="l"/>
            <a:fld id="{F7021451-1387-4CA6-816F-3879F97B5CBC}" type="slidenum">
              <a:rPr b="0" lang="en-US"/>
              <a:t>8</a:t>
            </a:fld>
            <a:endParaRPr lang="en-US"/>
          </a:p>
        </p:txBody>
      </p:sp>
    </p:spTree>
  </p:cSld>
  <p:clrMapOvr>
    <a:masterClrMapping/>
  </p:clrMapOvr>
</p:sld>
</file>

<file path=ppt/theme/theme1.xml><?xml version="1.0" encoding="utf-8"?>
<a:theme xmlns:a="http://schemas.openxmlformats.org/drawingml/2006/main" name="ACGH Ancestria">
  <a:themeElements>
    <a:clrScheme name="ACGH Ancestria">
      <a:dk1>
        <a:srgbClr val="1F2A5A"/>
      </a:dk1>
      <a:lt1>
        <a:srgbClr val="FFFAF0"/>
      </a:lt1>
      <a:dk2>
        <a:srgbClr val="354AC0"/>
      </a:dk2>
      <a:lt2>
        <a:srgbClr val="FFF2DC"/>
      </a:lt2>
      <a:accent1>
        <a:srgbClr val="354AC0"/>
      </a:accent1>
      <a:accent2>
        <a:srgbClr val="F09700"/>
      </a:accent2>
      <a:accent3>
        <a:srgbClr val="1BAF7A"/>
      </a:accent3>
      <a:accent4>
        <a:srgbClr val="6B6B6B"/>
      </a:accent4>
      <a:accent5>
        <a:srgbClr val="FFCC83"/>
      </a:accent5>
      <a:accent6>
        <a:srgbClr val="EB6834"/>
      </a:accent6>
      <a:hlink>
        <a:srgbClr val="354AC0"/>
      </a:hlink>
      <a:folHlink>
        <a:srgbClr val="6250D6"/>
      </a:folHlink>
    </a:clrScheme>
    <a:fontScheme name="ACGH Ancestria">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Modulo 4. Aplicaciones</dc:title>
  <dc:subject>Curso de ancestria genetica - ACGH</dc:subject>
  <dc:creator>Dra. Yina Tatiana Zambrano</dc:creator>
  <cp:lastModifiedBy>Dra. Yina Tatiana Zambrano</cp:lastModifiedBy>
  <cp:revision>1</cp:revision>
  <dcterms:created xsi:type="dcterms:W3CDTF">2026-10-28T14:43:34Z</dcterms:created>
  <dcterms:modified xsi:type="dcterms:W3CDTF">2026-10-28T14:43:34Z</dcterms:modified>
</cp:coreProperties>
</file>