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rtada" id="{60602839-38fe-f722-513f-c47e9436fa15}">
          <p14:sldIdLst>
            <p14:sldId id="256"/>
          </p14:sldIdLst>
        </p14:section>
        <p14:section name="Modulo 1. Fundamentos" id="{07c339aa-e22f-21ef-f3b4-003174eb3c4b}">
          <p14:sldIdLst>
            <p14:sldId id="257"/>
            <p14:sldId id="258"/>
            <p14:sldId id="259"/>
            <p14:sldId id="260"/>
            <p14:sldId id="261"/>
            <p14:sldId id="262"/>
            <p14:sldId id="263"/>
            <p14:sldId id="264"/>
            <p14:sldId id="265"/>
            <p14:sldId id="266"/>
            <p14:sldId id="267"/>
          </p14:sldIdLst>
        </p14:section>
        <p14:section name="Modulo 2. Ancestria global" id="{d7f6e48a-0c97-896f-af3b-ac63478fa809}">
          <p14:sldIdLst>
            <p14:sldId id="268"/>
            <p14:sldId id="269"/>
            <p14:sldId id="270"/>
            <p14:sldId id="271"/>
            <p14:sldId id="272"/>
            <p14:sldId id="273"/>
            <p14:sldId id="274"/>
            <p14:sldId id="275"/>
          </p14:sldIdLst>
        </p14:section>
        <p14:section name="Modulo 3. Ancestria local" id="{68314ede-5f19-053b-8251-64eedb399d7e}">
          <p14:sldIdLst>
            <p14:sldId id="276"/>
            <p14:sldId id="277"/>
            <p14:sldId id="278"/>
            <p14:sldId id="279"/>
            <p14:sldId id="280"/>
            <p14:sldId id="281"/>
            <p14:sldId id="282"/>
            <p14:sldId id="283"/>
          </p14:sldIdLst>
        </p14:section>
        <p14:section name="Modulo 4. Aplicaciones" id="{3139f13f-753a-cb83-0a65-0cf28a878e07}">
          <p14:sldIdLst>
            <p14:sldId id="284"/>
            <p14:sldId id="285"/>
            <p14:sldId id="286"/>
            <p14:sldId id="287"/>
            <p14:sldId id="288"/>
            <p14:sldId id="289"/>
            <p14:sldId id="290"/>
            <p14:sldId id="29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del material teórico. Los tres colores se usan de forma consistente en todo el curso: naranja = ancestría africana, azul = europea, verde = nativa americana. Los mismos colores aparecen en los cuadernos de práctica.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módulo prepara la sesión práctica 1, en la que vamos a manipular datos genómicos reales. Son 5 cápsulas cortas.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clave: aunque entre dos personas compartimos la enorme mayoría del genoma, en términos absolutos hay millones de diferencias. Ese es el material del que extraemos la ancestría.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aparente contradiccion confunde a mucha gente. Hay muchisimas variantes raras en el mundo, pero cada persona individual carga sobre todo variantes comunes, porque son justamente las que estan en mucha gente.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Insistir: no nos interesa la variante en si, ni si causa algo. Nos interesa que su frecuencia sea distinta entre poblaciones. Una variante util para ancestria puede no tener ningun efecto biologico.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Aqui es donde conviene ir despacio. El concepto de haplotipo es el puente entre el modulo 1 y el modulo 3. Si no queda claro que la herencia es por bloques, la ancestria local no tiene sentido.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poda por LD es uno de los pasos que vamos a correr y conviene que lleguen sabiendo por que existe, no solo copiando el comando.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ultimo parrafo es importante decirlo tal cual. Es el contexto que evita que el curso se lea como una justificacion de categorias raciales.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Mencionar que la muestra CLM de 1000 Genomas es de Medellin, y que el articulo de Rishishwar es colombiano y de acceso abierto. Es la lectura principal de este modulo.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vale la pena decirla despacio y es la que mas preguntas genera. Conviene dar el ejemplo de los tests comerciales de ancestria y por que sus resultados cambian segun la empresa: usan referencias distintas.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Dejar sembrada la idea para el modulo 4: APOL1 es exactamente este caso.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el modulo recordando que la lectura principal es corta y es colombiana.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Modulo 2. Prepara la sesion practica donde corremos PCA y ADMIXTURE.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orden del curso es deliberado: primero PCA, que no impone modelo, y despues ADMIXTURE. Si uno corre ADMIXTURE primero, tiende a creerse el resultado sin cuestionar 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el grafico real que ellos van a producir el sabado. Senalar que ACB y ASW caen entre Africa y Europa, PUR cerca de Europa, y MXL entre Europa y los nativos americanos.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alguien pregunta por que no usar mas PCs: en estudios de asociacion se suelen incluir 10 o 20 como covariables justamente para capturar estructura fina.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dos archivos de salida van a aparecer tal cual en la practica, asi que conviene que lleguen sabiendo que es cada uno.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grafico que van a producir el sabado. Vale la pena detenerse en que el orden de los componentes cambia entre corridas, por eso el cuaderno los nombra de forma automatica.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corazon del modulo 2. El articulo de Lawson muestra con simulaciones que graficos identicos pueden venir de historias demograficas opuestas. Si solo leen un articulo del curso, que sea este.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Modulo 3. El mas tecnico de los cuatro. Prepara la sesion de RFMix.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el modulo con el resultado, no con el metodo. Que vean a donde vamos a llegar y luego expliquemos como.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simbolo, la barra vertical, es lo primero que van a mirar en el archivo el sabado. RFMix exige datos faseados: si se los das sin fasear, igual corre pero el resultado no sirve.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alguien pregunta de donde sale el mapa genetico: se estima a partir de datos de familias y de patrones de LD en poblaciones. Nosotros usamos el que distribuye Eagle, derivado de HapMap.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hace falta que entiendan las matematicas del campo aleatorio condicional. La intuicion que importa es la del paso 3: el metodo penaliza los cambios de ancestria porque sabe que la recombinacion es rara.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caso real: al preparar los datos del curso tuvimos que descartar a los Maya del HGDP como referencia nativa americana, porque varios tienen ancestria europea. Al quitarlos, el acierto de la referencia nativa subio de 97,3 % a 99,5 %.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Nosotros no vamos a fechar la mezcla en el curso, pero vale la pena que sepan que se puede y que es una aplicacion directa de lo que calculamos.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Modulo 4. El mas clinico y el que mas discusion genera.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pregunta de discusion del cuaderno es justamente esta: por que necesita menos marcadores. La respuesta esta en el tamano de los bloques que vieron en el karyograma del modulo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 la pena mencionar por que estas variantes se mantuvieron: dan proteccion contra el tripanosoma, el parasito de la enfermedad del sueno. Es un caso de ventaja frente a infeccion con costo en otra enfermedad.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Aclarar una cosa importante: tener dos copias africanas ahi NO significa tener la variante de riesgo. La frecuencia de G1 en poblaciones africanas occidentales es cercana al 40 %. La ancestria local acota quien PUEDE tenerla, no quien la tiene.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punto que mas le interesa a un publico clinico. El mensaje: no es que el PRS no sirva en poblaciones mezcladas, es que su desempeno hay que validarlo localmente antes de usarlo.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Dejar la pregunta abierta para la sesion. Respuestas razonables: validar el desempeno en la cohorte local, reportar por estratos de ancestria, no dar resultados individuales hasta tener calibracion local.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del material teorico. Decir con franqueza que el curso es una introduccion y que estos cinco temas son el siguiente paso natural.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103120"/>
            <a:ext cx="10515600" cy="1737360"/>
          </a:xfrm>
          <a:prstGeom prst="rect">
            <a:avLst/>
          </a:prstGeom>
          <a:noFill/>
          <a:ln/>
        </p:spPr>
        <p:txBody>
          <a:bodyPr wrap="square" rtlCol="0"/>
          <a:lstStyle>
            <a:lvl1pPr indent="0" marL="0">
              <a:buNone/>
              <a:defRPr lang="en-US" sz="4000" b="1" dirty="0">
                <a:solidFill>
                  <a:schemeClr val="bg1"/>
                </a:solidFill>
              </a:defRPr>
            </a:lvl1pPr>
          </a:lstStyle>
          <a:p>
            <a:pPr indent="0" marL="0">
              <a:buNone/>
            </a:pPr>
            <a:r>
              <a:rPr lang="en-US" sz="4000" b="1" dirty="0">
                <a:solidFill>
                  <a:schemeClr val="bg1"/>
                </a:solidFill>
              </a:rPr>
              <a:t> </a:t>
            </a:r>
            <a:endParaRPr lang="en-US" sz="4000" dirty="0"/>
          </a:p>
        </p:txBody>
      </p:sp>
      <p:sp>
        <p:nvSpPr>
          <p:cNvPr id="3" name="Text 0"/>
          <p:cNvSpPr/>
          <p:nvPr>
            <p:ph idx="101" type="body" hasCustomPrompt="1"/>
          </p:nvPr>
        </p:nvSpPr>
        <p:spPr>
          <a:xfrm>
            <a:off x="822960" y="3977640"/>
            <a:ext cx="10515600" cy="1371600"/>
          </a:xfrm>
          <a:prstGeom prst="rect">
            <a:avLst/>
          </a:prstGeom>
          <a:noFill/>
          <a:ln/>
        </p:spPr>
        <p:txBody>
          <a:bodyPr wrap="square" rtlCol="0"/>
          <a:lstStyle>
            <a:lvl1pPr indent="0" marL="0">
              <a:buNone/>
              <a:defRPr lang="en-US" sz="1800" dirty="0">
                <a:solidFill>
                  <a:srgbClr val="C3C2B7"/>
                </a:solidFill>
              </a:defRPr>
            </a:lvl1pPr>
          </a:lstStyle>
          <a:p>
            <a:pPr indent="0" marL="0">
              <a:buNone/>
            </a:pPr>
            <a:r>
              <a:rPr lang="en-US" sz="1800" dirty="0">
                <a:solidFill>
                  <a:srgbClr val="C3C2B7"/>
                </a:solidFill>
              </a:rPr>
              <a:t> </a:t>
            </a: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SOR">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914400" y="2560320"/>
            <a:ext cx="10332720" cy="1280160"/>
          </a:xfrm>
          <a:prstGeom prst="rect">
            <a:avLst/>
          </a:prstGeom>
          <a:noFill/>
          <a:ln/>
        </p:spPr>
        <p:txBody>
          <a:bodyPr wrap="square" rtlCol="0"/>
          <a:lstStyle>
            <a:lvl1pPr indent="0" marL="0">
              <a:buNone/>
              <a:defRPr lang="en-US" sz="3600" b="1" dirty="0">
                <a:solidFill>
                  <a:schemeClr val="bg1"/>
                </a:solidFill>
              </a:defRPr>
            </a:lvl1pPr>
          </a:lstStyle>
          <a:p>
            <a:pPr indent="0" marL="0">
              <a:buNone/>
            </a:pPr>
            <a:r>
              <a:rPr lang="en-US" sz="3600" b="1" dirty="0">
                <a:solidFill>
                  <a:schemeClr val="bg1"/>
                </a:solidFill>
              </a:rPr>
              <a:t> </a:t>
            </a:r>
            <a:endParaRPr lang="en-US" sz="3600" dirty="0"/>
          </a:p>
        </p:txBody>
      </p:sp>
      <p:sp>
        <p:nvSpPr>
          <p:cNvPr id="3" name="Text 0"/>
          <p:cNvSpPr/>
          <p:nvPr>
            <p:ph idx="101" type="body" hasCustomPrompt="1"/>
          </p:nvPr>
        </p:nvSpPr>
        <p:spPr>
          <a:xfrm>
            <a:off x="914400" y="3886200"/>
            <a:ext cx="10332720" cy="1188720"/>
          </a:xfrm>
          <a:prstGeom prst="rect">
            <a:avLst/>
          </a:prstGeom>
          <a:noFill/>
          <a:ln/>
        </p:spPr>
        <p:txBody>
          <a:bodyPr wrap="square" rtlCol="0"/>
          <a:lstStyle>
            <a:lvl1pPr indent="0" marL="0">
              <a:buNone/>
              <a:defRPr lang="en-US" sz="1700" dirty="0">
                <a:solidFill>
                  <a:srgbClr val="C3C2B7"/>
                </a:solidFill>
              </a:defRPr>
            </a:lvl1pPr>
          </a:lstStyle>
          <a:p>
            <a:pPr indent="0" marL="0">
              <a:buNone/>
            </a:pPr>
            <a:r>
              <a:rPr lang="en-US" sz="1700" dirty="0">
                <a:solidFill>
                  <a:srgbClr val="C3C2B7"/>
                </a:solidFill>
              </a:rPr>
              <a:t> </a:t>
            </a:r>
            <a:endParaRPr lang="en-US" sz="17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68680"/>
          </a:xfrm>
          <a:prstGeom prst="rect">
            <a:avLst/>
          </a:prstGeom>
          <a:noFill/>
          <a:ln/>
        </p:spPr>
        <p:txBody>
          <a:bodyPr wrap="square" rtlCol="0"/>
          <a:lstStyle>
            <a:lvl1pPr indent="0" marL="0">
              <a:buNone/>
              <a:defRPr lang="en-US" sz="3200" b="1" dirty="0">
                <a:solidFill>
                  <a:schemeClr val="tx2"/>
                </a:solidFill>
              </a:defRPr>
            </a:lvl1pPr>
          </a:lstStyle>
          <a:p>
            <a:pPr indent="0" marL="0">
              <a:buNone/>
            </a:pPr>
            <a:r>
              <a:rPr lang="en-US" sz="3200" b="1" dirty="0">
                <a:solidFill>
                  <a:schemeClr val="tx2"/>
                </a:solidFill>
              </a:rPr>
              <a:t> </a:t>
            </a:r>
            <a:endParaRPr lang="en-US" sz="3200" dirty="0"/>
          </a:p>
        </p:txBody>
      </p:sp>
      <p:sp>
        <p:nvSpPr>
          <p:cNvPr id="3" name="Text 0"/>
          <p:cNvSpPr/>
          <p:nvPr>
            <p:ph idx="101" type="body" hasCustomPrompt="1"/>
          </p:nvPr>
        </p:nvSpPr>
        <p:spPr>
          <a:xfrm>
            <a:off x="685800" y="1508760"/>
            <a:ext cx="10789920" cy="4663440"/>
          </a:xfrm>
          <a:prstGeom prst="rect">
            <a:avLst/>
          </a:prstGeom>
          <a:noFill/>
          <a:ln/>
        </p:spPr>
        <p:txBody>
          <a:bodyPr wrap="square" rtlCol="0"/>
          <a:lstStyle>
            <a:lvl1pPr indent="0" marL="0">
              <a:buNone/>
              <a:defRPr lang="en-US" sz="1700" dirty="0">
                <a:solidFill>
                  <a:schemeClr val="tx1"/>
                </a:solidFill>
              </a:defRPr>
            </a:lvl1pPr>
          </a:lstStyle>
          <a:p>
            <a:pPr indent="0" marL="0">
              <a:buNone/>
            </a:pPr>
            <a:r>
              <a:rPr lang="en-US" sz="1700" dirty="0">
                <a:solidFill>
                  <a:schemeClr val="tx1"/>
                </a:solidFill>
              </a:rPr>
              <a:t> </a:t>
            </a:r>
            <a:endParaRPr lang="en-US" sz="1700" dirty="0"/>
          </a:p>
        </p:txBody>
      </p:sp>
      <p:sp>
        <p:nvSpPr>
          <p:cNvPr id="25" name="Slide Number Placeholder 0"/>
          <p:cNvSpPr>
            <a:spLocks noGrp="1"/>
          </p:cNvSpPr>
          <p:nvPr>
            <p:ph type="sldNum" sz="quarter" idx="4294967295"/>
          </p:nvPr>
        </p:nvSpPr>
        <p:spPr>
          <a:xfrm>
            <a:off x="1152144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9A9A"/>
                </a:solidFill>
              </a:defRPr>
            </a:lvl1pPr>
          </a:lstStyle>
          <a:p>
            <a:pPr algn="l"/>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OLOTITUL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68680"/>
          </a:xfrm>
          <a:prstGeom prst="rect">
            <a:avLst/>
          </a:prstGeom>
          <a:noFill/>
          <a:ln/>
        </p:spPr>
        <p:txBody>
          <a:bodyPr wrap="square" rtlCol="0"/>
          <a:lstStyle>
            <a:lvl1pPr indent="0" marL="0">
              <a:buNone/>
              <a:defRPr lang="en-US" sz="3200" b="1" dirty="0">
                <a:solidFill>
                  <a:schemeClr val="tx2"/>
                </a:solidFill>
              </a:defRPr>
            </a:lvl1pPr>
          </a:lstStyle>
          <a:p>
            <a:pPr indent="0" marL="0">
              <a:buNone/>
            </a:pPr>
            <a:r>
              <a:rPr lang="en-US" sz="3200" b="1" dirty="0">
                <a:solidFill>
                  <a:schemeClr val="tx2"/>
                </a:solidFill>
              </a:rPr>
              <a:t> </a:t>
            </a:r>
            <a:endParaRPr lang="en-US" sz="3200" dirty="0"/>
          </a:p>
        </p:txBody>
      </p:sp>
      <p:sp>
        <p:nvSpPr>
          <p:cNvPr id="25" name="Slide Number Placeholder 0"/>
          <p:cNvSpPr>
            <a:spLocks noGrp="1"/>
          </p:cNvSpPr>
          <p:nvPr>
            <p:ph type="sldNum" sz="quarter" idx="4294967295"/>
          </p:nvPr>
        </p:nvSpPr>
        <p:spPr>
          <a:xfrm>
            <a:off x="1152144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9A9A"/>
                </a:solidFill>
              </a:defRPr>
            </a:lvl1pPr>
          </a:lstStyle>
          <a:p>
            <a:pPr algn="l"/>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2144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9A9A"/>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5.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5.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5.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5.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5.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5.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22960" y="2103120"/>
            <a:ext cx="10515600" cy="1737360"/>
          </a:xfrm>
          <a:prstGeom prst="rect">
            <a:avLst/>
          </a:prstGeom>
          <a:noFill/>
          <a:ln/>
        </p:spPr>
        <p:txBody>
          <a:bodyPr wrap="square" rtlCol="0" anchor="b"/>
          <a:lstStyle/>
          <a:p>
            <a:pPr indent="0" marL="0">
              <a:buNone/>
            </a:pPr>
            <a:r>
              <a:rPr lang="en-US" sz="4000" b="1" dirty="0">
                <a:solidFill>
                  <a:schemeClr val="bg1"/>
                </a:solidFill>
              </a:rPr>
              <a:t>Ancestría genética global y local en poblaciones mezcladas</a:t>
            </a:r>
            <a:endParaRPr lang="en-US" sz="4000" dirty="0"/>
          </a:p>
        </p:txBody>
      </p:sp>
      <p:sp>
        <p:nvSpPr>
          <p:cNvPr id="3" name="Text 0"/>
          <p:cNvSpPr/>
          <p:nvPr>
            <p:ph idx="101" type="body" hasCustomPrompt="1"/>
          </p:nvPr>
        </p:nvSpPr>
        <p:spPr>
          <a:xfrm>
            <a:off x="822960" y="3977640"/>
            <a:ext cx="10515600" cy="1371600"/>
          </a:xfrm>
          <a:prstGeom prst="rect">
            <a:avLst/>
          </a:prstGeom>
          <a:noFill/>
          <a:ln/>
        </p:spPr>
        <p:txBody>
          <a:bodyPr wrap="square" rtlCol="0" anchor="t"/>
          <a:lstStyle/>
          <a:p>
            <a:pPr indent="0" marL="0">
              <a:buNone/>
            </a:pPr>
            <a:r>
              <a:rPr lang="en-US" sz="1800" dirty="0">
                <a:solidFill>
                  <a:srgbClr val="C3C2B7"/>
                </a:solidFill>
              </a:rPr>
              <a:t>Teoría del curso · 4 módulos asincrónicos</a:t>
            </a:r>
            <a:endParaRPr lang="en-US" sz="1800" dirty="0"/>
          </a:p>
          <a:p>
            <a:pPr indent="0" marL="0">
              <a:buNone/>
            </a:pPr>
            <a:r>
              <a:rPr lang="en-US" sz="1800" dirty="0">
                <a:solidFill>
                  <a:srgbClr val="C3C2B7"/>
                </a:solidFill>
              </a:rPr>
              <a:t>Asociación Colombiana de Genética Humana · Universidad del Rosario</a:t>
            </a:r>
            <a:endParaRPr lang="en-US" sz="1800" dirty="0"/>
          </a:p>
        </p:txBody>
      </p:sp>
      <p:sp>
        <p:nvSpPr>
          <p:cNvPr id="4" name="punto-Africana"/>
          <p:cNvSpPr/>
          <p:nvPr/>
        </p:nvSpPr>
        <p:spPr>
          <a:xfrm>
            <a:off x="822960" y="5577840"/>
            <a:ext cx="292608" cy="292608"/>
          </a:xfrm>
          <a:prstGeom prst="ellipse">
            <a:avLst/>
          </a:prstGeom>
          <a:solidFill>
            <a:srgbClr val="EB6834"/>
          </a:solidFill>
          <a:ln w="12700">
            <a:solidFill>
              <a:srgbClr val="EB6834"/>
            </a:solidFill>
            <a:prstDash val="solid"/>
          </a:ln>
        </p:spPr>
      </p:sp>
      <p:sp>
        <p:nvSpPr>
          <p:cNvPr id="5" name="Text 3"/>
          <p:cNvSpPr txBox="1"/>
          <p:nvPr/>
        </p:nvSpPr>
        <p:spPr>
          <a:xfrm>
            <a:off x="1234440" y="5559552"/>
            <a:ext cx="2011680" cy="347472"/>
          </a:xfrm>
          <a:prstGeom prst="rect">
            <a:avLst/>
          </a:prstGeom>
          <a:noFill/>
          <a:ln/>
        </p:spPr>
        <p:txBody>
          <a:bodyPr wrap="square" lIns="0" tIns="0" rIns="0" bIns="0" rtlCol="0" anchor="ctr"/>
          <a:lstStyle/>
          <a:p>
            <a:pPr indent="0" marL="0">
              <a:buNone/>
            </a:pPr>
            <a:r>
              <a:rPr lang="en-US" sz="1400" dirty="0">
                <a:solidFill>
                  <a:srgbClr val="C3C2B7"/>
                </a:solidFill>
              </a:rPr>
              <a:t>Africana</a:t>
            </a:r>
            <a:endParaRPr lang="en-US" sz="1400" dirty="0"/>
          </a:p>
        </p:txBody>
      </p:sp>
      <p:sp>
        <p:nvSpPr>
          <p:cNvPr id="6" name="punto-Europea"/>
          <p:cNvSpPr/>
          <p:nvPr/>
        </p:nvSpPr>
        <p:spPr>
          <a:xfrm>
            <a:off x="3200400" y="5577840"/>
            <a:ext cx="292608" cy="292608"/>
          </a:xfrm>
          <a:prstGeom prst="ellipse">
            <a:avLst/>
          </a:prstGeom>
          <a:solidFill>
            <a:srgbClr val="2A78D6"/>
          </a:solidFill>
          <a:ln w="12700">
            <a:solidFill>
              <a:srgbClr val="2A78D6"/>
            </a:solidFill>
            <a:prstDash val="solid"/>
          </a:ln>
        </p:spPr>
      </p:sp>
      <p:sp>
        <p:nvSpPr>
          <p:cNvPr id="7" name="Text 5"/>
          <p:cNvSpPr txBox="1"/>
          <p:nvPr/>
        </p:nvSpPr>
        <p:spPr>
          <a:xfrm>
            <a:off x="3611880" y="5559552"/>
            <a:ext cx="2011680" cy="347472"/>
          </a:xfrm>
          <a:prstGeom prst="rect">
            <a:avLst/>
          </a:prstGeom>
          <a:noFill/>
          <a:ln/>
        </p:spPr>
        <p:txBody>
          <a:bodyPr wrap="square" lIns="0" tIns="0" rIns="0" bIns="0" rtlCol="0" anchor="ctr"/>
          <a:lstStyle/>
          <a:p>
            <a:pPr indent="0" marL="0">
              <a:buNone/>
            </a:pPr>
            <a:r>
              <a:rPr lang="en-US" sz="1400" dirty="0">
                <a:solidFill>
                  <a:srgbClr val="C3C2B7"/>
                </a:solidFill>
              </a:rPr>
              <a:t>Europea</a:t>
            </a:r>
            <a:endParaRPr lang="en-US" sz="1400" dirty="0"/>
          </a:p>
        </p:txBody>
      </p:sp>
      <p:sp>
        <p:nvSpPr>
          <p:cNvPr id="8" name="punto-Nativa americana"/>
          <p:cNvSpPr/>
          <p:nvPr/>
        </p:nvSpPr>
        <p:spPr>
          <a:xfrm>
            <a:off x="5577840" y="5577840"/>
            <a:ext cx="292608" cy="292608"/>
          </a:xfrm>
          <a:prstGeom prst="ellipse">
            <a:avLst/>
          </a:prstGeom>
          <a:solidFill>
            <a:srgbClr val="1BAF7A"/>
          </a:solidFill>
          <a:ln w="12700">
            <a:solidFill>
              <a:srgbClr val="1BAF7A"/>
            </a:solidFill>
            <a:prstDash val="solid"/>
          </a:ln>
        </p:spPr>
      </p:sp>
      <p:sp>
        <p:nvSpPr>
          <p:cNvPr id="9" name="Text 7"/>
          <p:cNvSpPr txBox="1"/>
          <p:nvPr/>
        </p:nvSpPr>
        <p:spPr>
          <a:xfrm>
            <a:off x="5989320" y="5559552"/>
            <a:ext cx="2011680" cy="347472"/>
          </a:xfrm>
          <a:prstGeom prst="rect">
            <a:avLst/>
          </a:prstGeom>
          <a:noFill/>
          <a:ln/>
        </p:spPr>
        <p:txBody>
          <a:bodyPr wrap="square" lIns="0" tIns="0" rIns="0" bIns="0" rtlCol="0" anchor="ctr"/>
          <a:lstStyle/>
          <a:p>
            <a:pPr indent="0" marL="0">
              <a:buNone/>
            </a:pPr>
            <a:r>
              <a:rPr lang="en-US" sz="1400" dirty="0">
                <a:solidFill>
                  <a:srgbClr val="C3C2B7"/>
                </a:solidFill>
              </a:rPr>
              <a:t>Nativa americana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914400" y="2560320"/>
            <a:ext cx="10332720" cy="1280160"/>
          </a:xfrm>
          <a:prstGeom prst="rect">
            <a:avLst/>
          </a:prstGeom>
          <a:noFill/>
          <a:ln/>
        </p:spPr>
        <p:txBody>
          <a:bodyPr wrap="square" rtlCol="0" anchor="b"/>
          <a:lstStyle/>
          <a:p>
            <a:pPr indent="0" marL="0">
              <a:buNone/>
            </a:pPr>
            <a:r>
              <a:rPr lang="en-US" sz="3600" b="1" dirty="0">
                <a:solidFill>
                  <a:schemeClr val="bg1"/>
                </a:solidFill>
              </a:rPr>
              <a:t>Módulo 1. Fundamentos de genética poblacional y ancestría</a:t>
            </a:r>
            <a:endParaRPr lang="en-US" sz="3600" dirty="0"/>
          </a:p>
        </p:txBody>
      </p:sp>
      <p:sp>
        <p:nvSpPr>
          <p:cNvPr id="3" name="Text 0"/>
          <p:cNvSpPr/>
          <p:nvPr>
            <p:ph idx="101" type="body" hasCustomPrompt="1"/>
          </p:nvPr>
        </p:nvSpPr>
        <p:spPr>
          <a:xfrm>
            <a:off x="914400" y="3886200"/>
            <a:ext cx="10332720" cy="1188720"/>
          </a:xfrm>
          <a:prstGeom prst="rect">
            <a:avLst/>
          </a:prstGeom>
          <a:noFill/>
          <a:ln/>
        </p:spPr>
        <p:txBody>
          <a:bodyPr wrap="square" rtlCol="0" anchor="t"/>
          <a:lstStyle/>
          <a:p>
            <a:pPr indent="0" marL="0">
              <a:buNone/>
            </a:pPr>
            <a:r>
              <a:rPr lang="en-US" sz="1700" dirty="0">
                <a:solidFill>
                  <a:srgbClr val="C3C2B7"/>
                </a:solidFill>
              </a:rPr>
              <a:t>Antes de la sesión 1 · Variación humana, SNPs, haplotipos, desequilibrio de ligamiento y estructura poblacional</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68680"/>
          </a:xfrm>
          <a:prstGeom prst="rect">
            <a:avLst/>
          </a:prstGeom>
          <a:noFill/>
          <a:ln/>
        </p:spPr>
        <p:txBody>
          <a:bodyPr wrap="square" rtlCol="0" anchor="ctr"/>
          <a:lstStyle/>
          <a:p>
            <a:pPr indent="0" marL="0">
              <a:buNone/>
            </a:pPr>
            <a:r>
              <a:rPr lang="en-US" sz="3200" b="1" dirty="0">
                <a:solidFill>
                  <a:schemeClr val="tx2"/>
                </a:solidFill>
              </a:rPr>
              <a:t>¿Cuánta variación genética hay entre personas?</a:t>
            </a:r>
            <a:endParaRPr lang="en-US" sz="3200" dirty="0"/>
          </a:p>
        </p:txBody>
      </p:sp>
      <p:sp>
        <p:nvSpPr>
          <p:cNvPr id="3" name="stat-personas"/>
          <p:cNvSpPr/>
          <p:nvPr/>
        </p:nvSpPr>
        <p:spPr>
          <a:xfrm>
            <a:off x="685800" y="1737360"/>
            <a:ext cx="3291840" cy="2011680"/>
          </a:xfrm>
          <a:prstGeom prst="roundRect">
            <a:avLst>
              <a:gd name="adj" fmla="val 4545"/>
            </a:avLst>
          </a:prstGeom>
          <a:solidFill>
            <a:schemeClr val="bg2"/>
          </a:solidFill>
          <a:ln w="6350">
            <a:solidFill>
              <a:srgbClr val="E2E2DE"/>
            </a:solidFill>
            <a:prstDash val="solid"/>
          </a:ln>
        </p:spPr>
      </p:sp>
      <p:sp>
        <p:nvSpPr>
          <p:cNvPr id="4" name="Text 2"/>
          <p:cNvSpPr txBox="1"/>
          <p:nvPr/>
        </p:nvSpPr>
        <p:spPr>
          <a:xfrm>
            <a:off x="822960" y="1938528"/>
            <a:ext cx="3017520" cy="868680"/>
          </a:xfrm>
          <a:prstGeom prst="rect">
            <a:avLst/>
          </a:prstGeom>
          <a:noFill/>
          <a:ln/>
        </p:spPr>
        <p:txBody>
          <a:bodyPr wrap="square" lIns="0" tIns="0" rIns="0" bIns="0" rtlCol="0" anchor="ctr"/>
          <a:lstStyle/>
          <a:p>
            <a:pPr algn="ctr" indent="0" marL="0">
              <a:buNone/>
            </a:pPr>
            <a:r>
              <a:rPr lang="en-US" sz="4000" b="1" dirty="0">
                <a:solidFill>
                  <a:schemeClr val="accent1"/>
                </a:solidFill>
              </a:rPr>
              <a:t>2.504</a:t>
            </a:r>
            <a:endParaRPr lang="en-US" sz="4000" dirty="0"/>
          </a:p>
        </p:txBody>
      </p:sp>
      <p:sp>
        <p:nvSpPr>
          <p:cNvPr id="5" name="Text 3"/>
          <p:cNvSpPr txBox="1"/>
          <p:nvPr/>
        </p:nvSpPr>
        <p:spPr>
          <a:xfrm>
            <a:off x="822960" y="2834640"/>
            <a:ext cx="3017520" cy="777240"/>
          </a:xfrm>
          <a:prstGeom prst="rect">
            <a:avLst/>
          </a:prstGeom>
          <a:noFill/>
          <a:ln/>
        </p:spPr>
        <p:txBody>
          <a:bodyPr wrap="square" lIns="0" tIns="0" rIns="0" bIns="0" rtlCol="0" anchor="t"/>
          <a:lstStyle/>
          <a:p>
            <a:pPr algn="ctr" indent="0" marL="0">
              <a:buNone/>
            </a:pPr>
            <a:r>
              <a:rPr lang="en-US" sz="1300" dirty="0">
                <a:solidFill>
                  <a:schemeClr val="tx1"/>
                </a:solidFill>
              </a:rPr>
              <a:t>personas secuenciadas en el Proyecto 1000 Genomas</a:t>
            </a:r>
            <a:endParaRPr lang="en-US" sz="1300" dirty="0"/>
          </a:p>
        </p:txBody>
      </p:sp>
      <p:sp>
        <p:nvSpPr>
          <p:cNvPr id="6" name="stat-poblaciones"/>
          <p:cNvSpPr/>
          <p:nvPr/>
        </p:nvSpPr>
        <p:spPr>
          <a:xfrm>
            <a:off x="4434840" y="1737360"/>
            <a:ext cx="3291840" cy="2011680"/>
          </a:xfrm>
          <a:prstGeom prst="roundRect">
            <a:avLst>
              <a:gd name="adj" fmla="val 4545"/>
            </a:avLst>
          </a:prstGeom>
          <a:solidFill>
            <a:schemeClr val="bg2"/>
          </a:solidFill>
          <a:ln w="6350">
            <a:solidFill>
              <a:srgbClr val="E2E2DE"/>
            </a:solidFill>
            <a:prstDash val="solid"/>
          </a:ln>
        </p:spPr>
      </p:sp>
      <p:sp>
        <p:nvSpPr>
          <p:cNvPr id="7" name="Text 5"/>
          <p:cNvSpPr txBox="1"/>
          <p:nvPr/>
        </p:nvSpPr>
        <p:spPr>
          <a:xfrm>
            <a:off x="4572000" y="1938528"/>
            <a:ext cx="3017520" cy="868680"/>
          </a:xfrm>
          <a:prstGeom prst="rect">
            <a:avLst/>
          </a:prstGeom>
          <a:noFill/>
          <a:ln/>
        </p:spPr>
        <p:txBody>
          <a:bodyPr wrap="square" lIns="0" tIns="0" rIns="0" bIns="0" rtlCol="0" anchor="ctr"/>
          <a:lstStyle/>
          <a:p>
            <a:pPr algn="ctr" indent="0" marL="0">
              <a:buNone/>
            </a:pPr>
            <a:r>
              <a:rPr lang="en-US" sz="4000" b="1" dirty="0">
                <a:solidFill>
                  <a:schemeClr val="accent3"/>
                </a:solidFill>
              </a:rPr>
              <a:t>26</a:t>
            </a:r>
            <a:endParaRPr lang="en-US" sz="4000" dirty="0"/>
          </a:p>
        </p:txBody>
      </p:sp>
      <p:sp>
        <p:nvSpPr>
          <p:cNvPr id="8" name="Text 6"/>
          <p:cNvSpPr txBox="1"/>
          <p:nvPr/>
        </p:nvSpPr>
        <p:spPr>
          <a:xfrm>
            <a:off x="4572000" y="2834640"/>
            <a:ext cx="3017520" cy="777240"/>
          </a:xfrm>
          <a:prstGeom prst="rect">
            <a:avLst/>
          </a:prstGeom>
          <a:noFill/>
          <a:ln/>
        </p:spPr>
        <p:txBody>
          <a:bodyPr wrap="square" lIns="0" tIns="0" rIns="0" bIns="0" rtlCol="0" anchor="t"/>
          <a:lstStyle/>
          <a:p>
            <a:pPr algn="ctr" indent="0" marL="0">
              <a:buNone/>
            </a:pPr>
            <a:r>
              <a:rPr lang="en-US" sz="1300" dirty="0">
                <a:solidFill>
                  <a:schemeClr val="tx1"/>
                </a:solidFill>
              </a:rPr>
              <a:t>poblaciones de todo el mundo</a:t>
            </a:r>
            <a:endParaRPr lang="en-US" sz="1300" dirty="0"/>
          </a:p>
        </p:txBody>
      </p:sp>
      <p:sp>
        <p:nvSpPr>
          <p:cNvPr id="9" name="stat-variantes"/>
          <p:cNvSpPr/>
          <p:nvPr/>
        </p:nvSpPr>
        <p:spPr>
          <a:xfrm>
            <a:off x="8183880" y="1737360"/>
            <a:ext cx="3291840" cy="2011680"/>
          </a:xfrm>
          <a:prstGeom prst="roundRect">
            <a:avLst>
              <a:gd name="adj" fmla="val 4545"/>
            </a:avLst>
          </a:prstGeom>
          <a:solidFill>
            <a:schemeClr val="bg2"/>
          </a:solidFill>
          <a:ln w="6350">
            <a:solidFill>
              <a:srgbClr val="E2E2DE"/>
            </a:solidFill>
            <a:prstDash val="solid"/>
          </a:ln>
        </p:spPr>
      </p:sp>
      <p:sp>
        <p:nvSpPr>
          <p:cNvPr id="10" name="Text 8"/>
          <p:cNvSpPr txBox="1"/>
          <p:nvPr/>
        </p:nvSpPr>
        <p:spPr>
          <a:xfrm>
            <a:off x="8321040" y="1938528"/>
            <a:ext cx="3017520" cy="868680"/>
          </a:xfrm>
          <a:prstGeom prst="rect">
            <a:avLst/>
          </a:prstGeom>
          <a:noFill/>
          <a:ln/>
        </p:spPr>
        <p:txBody>
          <a:bodyPr wrap="square" lIns="0" tIns="0" rIns="0" bIns="0" rtlCol="0" anchor="ctr"/>
          <a:lstStyle/>
          <a:p>
            <a:pPr algn="ctr" indent="0" marL="0">
              <a:buNone/>
            </a:pPr>
            <a:r>
              <a:rPr lang="en-US" sz="4000" b="1" dirty="0">
                <a:solidFill>
                  <a:schemeClr val="accent2"/>
                </a:solidFill>
              </a:rPr>
              <a:t>88 M</a:t>
            </a:r>
            <a:endParaRPr lang="en-US" sz="4000" dirty="0"/>
          </a:p>
        </p:txBody>
      </p:sp>
      <p:sp>
        <p:nvSpPr>
          <p:cNvPr id="11" name="Text 9"/>
          <p:cNvSpPr txBox="1"/>
          <p:nvPr/>
        </p:nvSpPr>
        <p:spPr>
          <a:xfrm>
            <a:off x="8321040" y="2834640"/>
            <a:ext cx="3017520" cy="777240"/>
          </a:xfrm>
          <a:prstGeom prst="rect">
            <a:avLst/>
          </a:prstGeom>
          <a:noFill/>
          <a:ln/>
        </p:spPr>
        <p:txBody>
          <a:bodyPr wrap="square" lIns="0" tIns="0" rIns="0" bIns="0" rtlCol="0" anchor="t"/>
          <a:lstStyle/>
          <a:p>
            <a:pPr algn="ctr" indent="0" marL="0">
              <a:buNone/>
            </a:pPr>
            <a:r>
              <a:rPr lang="en-US" sz="1300" dirty="0">
                <a:solidFill>
                  <a:schemeClr val="tx1"/>
                </a:solidFill>
              </a:rPr>
              <a:t>variantes encontradas entre todas ellas</a:t>
            </a:r>
            <a:endParaRPr lang="en-US" sz="1300" dirty="0"/>
          </a:p>
        </p:txBody>
      </p:sp>
      <p:sp>
        <p:nvSpPr>
          <p:cNvPr id="12" name="Text 10"/>
          <p:cNvSpPr txBox="1"/>
          <p:nvPr/>
        </p:nvSpPr>
        <p:spPr>
          <a:xfrm>
            <a:off x="685800" y="4114800"/>
            <a:ext cx="10789920" cy="1097280"/>
          </a:xfrm>
          <a:prstGeom prst="rect">
            <a:avLst/>
          </a:prstGeom>
          <a:noFill/>
          <a:ln/>
        </p:spPr>
        <p:txBody>
          <a:bodyPr wrap="square" rtlCol="0" anchor="t"/>
          <a:lstStyle/>
          <a:p>
            <a:pPr indent="0" marL="0">
              <a:buNone/>
            </a:pPr>
            <a:r>
              <a:rPr lang="en-US" sz="1800" dirty="0">
                <a:solidFill>
                  <a:schemeClr val="tx1"/>
                </a:solidFill>
              </a:rPr>
              <a:t>Pero el número que importa para entender ancestría es otro: el genoma de una persona difiere del genoma de referencia en 4,1 a 5,0 millones de sitios. Esa es la materia prima con la que trabajamos.</a:t>
            </a:r>
            <a:endParaRPr lang="en-US" sz="1800" dirty="0"/>
          </a:p>
        </p:txBody>
      </p:sp>
      <p:sp>
        <p:nvSpPr>
          <p:cNvPr id="13" name="Text 11"/>
          <p:cNvSpPr txBox="1"/>
          <p:nvPr/>
        </p:nvSpPr>
        <p:spPr>
          <a:xfrm>
            <a:off x="685800" y="6199632"/>
            <a:ext cx="10424160" cy="365760"/>
          </a:xfrm>
          <a:prstGeom prst="rect">
            <a:avLst/>
          </a:prstGeom>
          <a:noFill/>
          <a:ln/>
        </p:spPr>
        <p:txBody>
          <a:bodyPr wrap="square" lIns="0" tIns="0" rIns="0" bIns="0" rtlCol="0" anchor="ctr"/>
          <a:lstStyle/>
          <a:p>
            <a:pPr indent="0" marL="0">
              <a:buNone/>
            </a:pPr>
            <a:r>
              <a:rPr lang="en-US" sz="1100" i="1" dirty="0">
                <a:solidFill>
                  <a:srgbClr val="6B6B6B"/>
                </a:solidFill>
              </a:rPr>
              <a:t>Fuente: 1000 Genomes Project Consortium, Nature 2015. doi:10.1038/nature15393</a:t>
            </a:r>
            <a:endParaRPr lang="en-US" sz="1100" dirty="0"/>
          </a:p>
        </p:txBody>
      </p:sp>
      <p:sp>
        <p:nvSpPr>
          <p:cNvPr id="25" name="Slide Number Placeholder 0"/>
          <p:cNvSpPr>
            <a:spLocks noGrp="1"/>
          </p:cNvSpPr>
          <p:nvPr>
            <p:ph type="sldNum" sz="quarter" idx="4294967295"/>
          </p:nvPr>
        </p:nvSpPr>
        <p:spPr>
          <a:xfrm>
            <a:off x="1152144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9A9A"/>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68680"/>
          </a:xfrm>
          <a:prstGeom prst="rect">
            <a:avLst/>
          </a:prstGeom>
          <a:noFill/>
          <a:ln/>
        </p:spPr>
        <p:txBody>
          <a:bodyPr wrap="square" rtlCol="0" anchor="ctr"/>
          <a:lstStyle/>
          <a:p>
            <a:pPr indent="0" marL="0">
              <a:buNone/>
            </a:pPr>
            <a:r>
              <a:rPr lang="en-US" sz="3200" b="1" dirty="0">
                <a:solidFill>
                  <a:schemeClr val="tx2"/>
                </a:solidFill>
              </a:rPr>
              <a:t>La mayoría de tus variantes son comunes, no raras</a:t>
            </a:r>
            <a:endParaRPr lang="en-US" sz="3200" dirty="0"/>
          </a:p>
        </p:txBody>
      </p:sp>
      <p:sp>
        <p:nvSpPr>
          <p:cNvPr id="3" name="Text 1"/>
          <p:cNvSpPr txBox="1"/>
          <p:nvPr/>
        </p:nvSpPr>
        <p:spPr>
          <a:xfrm>
            <a:off x="685800" y="1645920"/>
            <a:ext cx="5029200" cy="1828800"/>
          </a:xfrm>
          <a:prstGeom prst="rect">
            <a:avLst/>
          </a:prstGeom>
          <a:noFill/>
          <a:ln/>
        </p:spPr>
        <p:txBody>
          <a:bodyPr wrap="square" rtlCol="0" anchor="t"/>
          <a:lstStyle/>
          <a:p>
            <a:pPr indent="0" marL="0">
              <a:buNone/>
            </a:pPr>
            <a:r>
              <a:rPr lang="en-US" sz="1600" dirty="0">
                <a:solidFill>
                  <a:schemeClr val="tx1"/>
                </a:solidFill>
              </a:rPr>
              <a:t>En el conjunto de todas las personas, la mayoría de las variantes son raras:
</a:t>
            </a:r>
            <a:endParaRPr lang="en-US" sz="1600" dirty="0"/>
          </a:p>
          <a:p>
            <a:pPr indent="0" marL="0">
              <a:buNone/>
            </a:pPr>
            <a:r>
              <a:rPr lang="en-US" sz="1600" dirty="0">
                <a:solidFill>
                  <a:schemeClr val="tx1"/>
                </a:solidFill>
              </a:rPr>
              <a:t>64 millones tienen frecuencia menor al 0,5 %, 12 millones entre 0,5 % y 5 %, y solo 8 millones superan el 5 %.</a:t>
            </a:r>
            <a:endParaRPr lang="en-US" sz="1600" dirty="0"/>
          </a:p>
        </p:txBody>
      </p:sp>
      <p:sp>
        <p:nvSpPr>
          <p:cNvPr id="4" name="Text 2"/>
          <p:cNvSpPr txBox="1"/>
          <p:nvPr/>
        </p:nvSpPr>
        <p:spPr>
          <a:xfrm>
            <a:off x="6400800" y="1645920"/>
            <a:ext cx="5029200" cy="1828800"/>
          </a:xfrm>
          <a:prstGeom prst="rect">
            <a:avLst/>
          </a:prstGeom>
          <a:noFill/>
          <a:ln/>
        </p:spPr>
        <p:txBody>
          <a:bodyPr wrap="square" rtlCol="0" anchor="t"/>
          <a:lstStyle/>
          <a:p>
            <a:pPr indent="0" marL="0">
              <a:buNone/>
            </a:pPr>
            <a:r>
              <a:rPr lang="en-US" sz="1600" dirty="0">
                <a:solidFill>
                  <a:schemeClr val="tx1"/>
                </a:solidFill>
              </a:rPr>
              <a:t>Pero dentro de un solo genoma pasa lo contrario:
</a:t>
            </a:r>
            <a:endParaRPr lang="en-US" sz="1600" dirty="0"/>
          </a:p>
          <a:p>
            <a:pPr indent="0" marL="0">
              <a:buNone/>
            </a:pPr>
            <a:r>
              <a:rPr lang="en-US" sz="1600" dirty="0">
                <a:solidFill>
                  <a:schemeClr val="tx1"/>
                </a:solidFill>
              </a:rPr>
              <a:t>de los 4 a 5 millones de variantes que tiene una persona, solo entre 40.000 y 200.000 (1 % a 4 %) son raras. El resto son comunes.</a:t>
            </a:r>
            <a:endParaRPr lang="en-US" sz="1600" dirty="0"/>
          </a:p>
        </p:txBody>
      </p:sp>
      <p:sp>
        <p:nvSpPr>
          <p:cNvPr id="5" name="caja-consecuencia"/>
          <p:cNvSpPr/>
          <p:nvPr/>
        </p:nvSpPr>
        <p:spPr>
          <a:xfrm>
            <a:off x="685800" y="3931920"/>
            <a:ext cx="10789920" cy="1371600"/>
          </a:xfrm>
          <a:prstGeom prst="roundRect">
            <a:avLst>
              <a:gd name="adj" fmla="val 6667"/>
            </a:avLst>
          </a:prstGeom>
          <a:solidFill>
            <a:schemeClr val="bg2"/>
          </a:solidFill>
          <a:ln w="6350">
            <a:solidFill>
              <a:srgbClr val="E2E2DE"/>
            </a:solidFill>
            <a:prstDash val="solid"/>
          </a:ln>
        </p:spPr>
      </p:sp>
      <p:sp>
        <p:nvSpPr>
          <p:cNvPr id="6" name="Text 4"/>
          <p:cNvSpPr txBox="1"/>
          <p:nvPr/>
        </p:nvSpPr>
        <p:spPr>
          <a:xfrm>
            <a:off x="914400" y="4114800"/>
            <a:ext cx="10332720" cy="1005840"/>
          </a:xfrm>
          <a:prstGeom prst="rect">
            <a:avLst/>
          </a:prstGeom>
          <a:noFill/>
          <a:ln/>
        </p:spPr>
        <p:txBody>
          <a:bodyPr wrap="square" rtlCol="0" anchor="ctr"/>
          <a:lstStyle/>
          <a:p>
            <a:pPr indent="0" marL="0">
              <a:buNone/>
            </a:pPr>
            <a:r>
              <a:rPr lang="en-US" sz="1600" dirty="0">
                <a:solidFill>
                  <a:schemeClr val="tx1"/>
                </a:solidFill>
              </a:rPr>
              <a:t>Por eso los análisis de ancestría se hacen con variantes comunes: están presentes en muchas personas y sus frecuencias difieren de forma estable entre poblaciones. En la práctica del sábado las filtraremos con --maf 0.01.</a:t>
            </a:r>
            <a:endParaRPr lang="en-US" sz="1600" dirty="0"/>
          </a:p>
        </p:txBody>
      </p:sp>
      <p:sp>
        <p:nvSpPr>
          <p:cNvPr id="7" name="Text 5"/>
          <p:cNvSpPr txBox="1"/>
          <p:nvPr/>
        </p:nvSpPr>
        <p:spPr>
          <a:xfrm>
            <a:off x="685800" y="6199632"/>
            <a:ext cx="10424160" cy="365760"/>
          </a:xfrm>
          <a:prstGeom prst="rect">
            <a:avLst/>
          </a:prstGeom>
          <a:noFill/>
          <a:ln/>
        </p:spPr>
        <p:txBody>
          <a:bodyPr wrap="square" lIns="0" tIns="0" rIns="0" bIns="0" rtlCol="0" anchor="ctr"/>
          <a:lstStyle/>
          <a:p>
            <a:pPr indent="0" marL="0">
              <a:buNone/>
            </a:pPr>
            <a:r>
              <a:rPr lang="en-US" sz="1100" i="1" dirty="0">
                <a:solidFill>
                  <a:srgbClr val="6B6B6B"/>
                </a:solidFill>
              </a:rPr>
              <a:t>Fuente: 1000 Genomes Project Consortium, Nature 2015. doi:10.1038/nature15393</a:t>
            </a:r>
            <a:endParaRPr lang="en-US" sz="1100" dirty="0"/>
          </a:p>
        </p:txBody>
      </p:sp>
      <p:sp>
        <p:nvSpPr>
          <p:cNvPr id="25" name="Slide Number Placeholder 0"/>
          <p:cNvSpPr>
            <a:spLocks noGrp="1"/>
          </p:cNvSpPr>
          <p:nvPr>
            <p:ph type="sldNum" sz="quarter" idx="4294967295"/>
          </p:nvPr>
        </p:nvSpPr>
        <p:spPr>
          <a:xfrm>
            <a:off x="1152144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9A9A"/>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68680"/>
          </a:xfrm>
          <a:prstGeom prst="rect">
            <a:avLst/>
          </a:prstGeom>
          <a:noFill/>
          <a:ln/>
        </p:spPr>
        <p:txBody>
          <a:bodyPr wrap="square" rtlCol="0" anchor="ctr"/>
          <a:lstStyle/>
          <a:p>
            <a:pPr indent="0" marL="0">
              <a:buNone/>
            </a:pPr>
            <a:r>
              <a:rPr lang="en-US" sz="3200" b="1" dirty="0">
                <a:solidFill>
                  <a:schemeClr val="tx2"/>
                </a:solidFill>
              </a:rPr>
              <a:t>SNP: la unidad con la que trabajamos</a:t>
            </a:r>
            <a:endParaRPr lang="en-US" sz="3200" dirty="0"/>
          </a:p>
        </p:txBody>
      </p:sp>
      <p:sp>
        <p:nvSpPr>
          <p:cNvPr id="3" name="Text 1"/>
          <p:cNvSpPr txBox="1"/>
          <p:nvPr/>
        </p:nvSpPr>
        <p:spPr>
          <a:xfrm>
            <a:off x="685800" y="1600200"/>
            <a:ext cx="10789920" cy="548640"/>
          </a:xfrm>
          <a:prstGeom prst="rect">
            <a:avLst/>
          </a:prstGeom>
          <a:noFill/>
          <a:ln/>
        </p:spPr>
        <p:txBody>
          <a:bodyPr wrap="square" rtlCol="0" anchor="ctr"/>
          <a:lstStyle/>
          <a:p>
            <a:pPr indent="0" marL="0">
              <a:buNone/>
            </a:pPr>
            <a:r>
              <a:rPr lang="en-US" sz="1700" dirty="0">
                <a:solidFill>
                  <a:schemeClr val="tx1"/>
                </a:solidFill>
              </a:rPr>
              <a:t>Un SNP (single nucleotide polymorphism) es una posición del genoma donde las personas difieren en una sola letra.</a:t>
            </a:r>
            <a:endParaRPr lang="en-US" sz="1700" dirty="0"/>
          </a:p>
        </p:txBody>
      </p:sp>
      <p:sp>
        <p:nvSpPr>
          <p:cNvPr id="4" name="Text 2"/>
          <p:cNvSpPr txBox="1"/>
          <p:nvPr/>
        </p:nvSpPr>
        <p:spPr>
          <a:xfrm>
            <a:off x="685800" y="2377440"/>
            <a:ext cx="1371600" cy="457200"/>
          </a:xfrm>
          <a:prstGeom prst="rect">
            <a:avLst/>
          </a:prstGeom>
          <a:noFill/>
          <a:ln/>
        </p:spPr>
        <p:txBody>
          <a:bodyPr wrap="square" lIns="0" tIns="0" rIns="0" bIns="0" rtlCol="0" anchor="ctr"/>
          <a:lstStyle/>
          <a:p>
            <a:pPr indent="0" marL="0">
              <a:buNone/>
            </a:pPr>
            <a:r>
              <a:rPr lang="en-US" sz="1400" dirty="0">
                <a:solidFill>
                  <a:srgbClr val="6B6B6B"/>
                </a:solidFill>
              </a:rPr>
              <a:t>Persona 1</a:t>
            </a:r>
            <a:endParaRPr lang="en-US" sz="1400" dirty="0"/>
          </a:p>
        </p:txBody>
      </p:sp>
      <p:sp>
        <p:nvSpPr>
          <p:cNvPr id="5" name="Text 3"/>
          <p:cNvSpPr txBox="1"/>
          <p:nvPr/>
        </p:nvSpPr>
        <p:spPr>
          <a:xfrm>
            <a:off x="2194560" y="2377440"/>
            <a:ext cx="1737360" cy="457200"/>
          </a:xfrm>
          <a:prstGeom prst="rect">
            <a:avLst/>
          </a:prstGeom>
          <a:noFill/>
          <a:ln/>
        </p:spPr>
        <p:txBody>
          <a:bodyPr wrap="square" lIns="0" tIns="0" rIns="0" bIns="0" rtlCol="0" anchor="ctr"/>
          <a:lstStyle/>
          <a:p>
            <a:pPr algn="r" indent="0" marL="0">
              <a:buNone/>
            </a:pPr>
            <a:r>
              <a:rPr lang="en-US" sz="1900" dirty="0">
                <a:solidFill>
                  <a:schemeClr val="tx1"/>
                </a:solidFill>
                <a:latin typeface="Courier New" pitchFamily="34" charset="0"/>
                <a:ea typeface="Courier New" pitchFamily="34" charset="-122"/>
                <a:cs typeface="Courier New" pitchFamily="34" charset="-120"/>
              </a:rPr>
              <a:t>A C G T </a:t>
            </a:r>
            <a:endParaRPr lang="en-US" sz="1900" dirty="0"/>
          </a:p>
        </p:txBody>
      </p:sp>
      <p:sp>
        <p:nvSpPr>
          <p:cNvPr id="6" name="snp-0"/>
          <p:cNvSpPr/>
          <p:nvPr/>
        </p:nvSpPr>
        <p:spPr>
          <a:xfrm>
            <a:off x="3977640" y="2404872"/>
            <a:ext cx="457200" cy="402336"/>
          </a:xfrm>
          <a:prstGeom prst="roundRect">
            <a:avLst>
              <a:gd name="adj" fmla="val 13636"/>
            </a:avLst>
          </a:prstGeom>
          <a:solidFill>
            <a:schemeClr val="accent1"/>
          </a:solidFill>
          <a:ln w="12700">
            <a:solidFill>
              <a:schemeClr val="accent1"/>
            </a:solidFill>
            <a:prstDash val="solid"/>
          </a:ln>
        </p:spPr>
      </p:sp>
      <p:sp>
        <p:nvSpPr>
          <p:cNvPr id="7" name="Text 5"/>
          <p:cNvSpPr txBox="1"/>
          <p:nvPr/>
        </p:nvSpPr>
        <p:spPr>
          <a:xfrm>
            <a:off x="3977640" y="2404872"/>
            <a:ext cx="457200" cy="402336"/>
          </a:xfrm>
          <a:prstGeom prst="rect">
            <a:avLst/>
          </a:prstGeom>
          <a:noFill/>
          <a:ln/>
        </p:spPr>
        <p:txBody>
          <a:bodyPr wrap="square" lIns="0" tIns="0" rIns="0" bIns="0" rtlCol="0" anchor="ctr"/>
          <a:lstStyle/>
          <a:p>
            <a:pPr algn="ctr" indent="0" marL="0">
              <a:buNone/>
            </a:pPr>
            <a:r>
              <a:rPr lang="en-US" sz="1900" b="1" dirty="0">
                <a:solidFill>
                  <a:srgbClr val="FFFFFF"/>
                </a:solidFill>
                <a:latin typeface="Courier New" pitchFamily="34" charset="0"/>
                <a:ea typeface="Courier New" pitchFamily="34" charset="-122"/>
                <a:cs typeface="Courier New" pitchFamily="34" charset="-120"/>
              </a:rPr>
              <a:t>C</a:t>
            </a:r>
            <a:endParaRPr lang="en-US" sz="1900" dirty="0"/>
          </a:p>
        </p:txBody>
      </p:sp>
      <p:sp>
        <p:nvSpPr>
          <p:cNvPr id="8" name="Text 6"/>
          <p:cNvSpPr txBox="1"/>
          <p:nvPr/>
        </p:nvSpPr>
        <p:spPr>
          <a:xfrm>
            <a:off x="4480560" y="2377440"/>
            <a:ext cx="1737360" cy="457200"/>
          </a:xfrm>
          <a:prstGeom prst="rect">
            <a:avLst/>
          </a:prstGeom>
          <a:noFill/>
          <a:ln/>
        </p:spPr>
        <p:txBody>
          <a:bodyPr wrap="square" lIns="0" tIns="0" rIns="0" bIns="0" rtlCol="0" anchor="ctr"/>
          <a:lstStyle/>
          <a:p>
            <a:pPr indent="0" marL="0">
              <a:buNone/>
            </a:pPr>
            <a:r>
              <a:rPr lang="en-US" sz="1900" dirty="0">
                <a:solidFill>
                  <a:schemeClr val="tx1"/>
                </a:solidFill>
                <a:latin typeface="Courier New" pitchFamily="34" charset="0"/>
                <a:ea typeface="Courier New" pitchFamily="34" charset="-122"/>
                <a:cs typeface="Courier New" pitchFamily="34" charset="-120"/>
              </a:rPr>
              <a:t> T A G G</a:t>
            </a:r>
            <a:endParaRPr lang="en-US" sz="1900" dirty="0"/>
          </a:p>
        </p:txBody>
      </p:sp>
      <p:sp>
        <p:nvSpPr>
          <p:cNvPr id="9" name="Text 7"/>
          <p:cNvSpPr txBox="1"/>
          <p:nvPr/>
        </p:nvSpPr>
        <p:spPr>
          <a:xfrm>
            <a:off x="685800" y="3035808"/>
            <a:ext cx="1371600" cy="457200"/>
          </a:xfrm>
          <a:prstGeom prst="rect">
            <a:avLst/>
          </a:prstGeom>
          <a:noFill/>
          <a:ln/>
        </p:spPr>
        <p:txBody>
          <a:bodyPr wrap="square" lIns="0" tIns="0" rIns="0" bIns="0" rtlCol="0" anchor="ctr"/>
          <a:lstStyle/>
          <a:p>
            <a:pPr indent="0" marL="0">
              <a:buNone/>
            </a:pPr>
            <a:r>
              <a:rPr lang="en-US" sz="1400" dirty="0">
                <a:solidFill>
                  <a:srgbClr val="6B6B6B"/>
                </a:solidFill>
              </a:rPr>
              <a:t>Persona 2</a:t>
            </a:r>
            <a:endParaRPr lang="en-US" sz="1400" dirty="0"/>
          </a:p>
        </p:txBody>
      </p:sp>
      <p:sp>
        <p:nvSpPr>
          <p:cNvPr id="10" name="Text 8"/>
          <p:cNvSpPr txBox="1"/>
          <p:nvPr/>
        </p:nvSpPr>
        <p:spPr>
          <a:xfrm>
            <a:off x="2194560" y="3035808"/>
            <a:ext cx="1737360" cy="457200"/>
          </a:xfrm>
          <a:prstGeom prst="rect">
            <a:avLst/>
          </a:prstGeom>
          <a:noFill/>
          <a:ln/>
        </p:spPr>
        <p:txBody>
          <a:bodyPr wrap="square" lIns="0" tIns="0" rIns="0" bIns="0" rtlCol="0" anchor="ctr"/>
          <a:lstStyle/>
          <a:p>
            <a:pPr algn="r" indent="0" marL="0">
              <a:buNone/>
            </a:pPr>
            <a:r>
              <a:rPr lang="en-US" sz="1900" dirty="0">
                <a:solidFill>
                  <a:schemeClr val="tx1"/>
                </a:solidFill>
                <a:latin typeface="Courier New" pitchFamily="34" charset="0"/>
                <a:ea typeface="Courier New" pitchFamily="34" charset="-122"/>
                <a:cs typeface="Courier New" pitchFamily="34" charset="-120"/>
              </a:rPr>
              <a:t>A C G T </a:t>
            </a:r>
            <a:endParaRPr lang="en-US" sz="1900" dirty="0"/>
          </a:p>
        </p:txBody>
      </p:sp>
      <p:sp>
        <p:nvSpPr>
          <p:cNvPr id="11" name="snp-1"/>
          <p:cNvSpPr/>
          <p:nvPr/>
        </p:nvSpPr>
        <p:spPr>
          <a:xfrm>
            <a:off x="3977640" y="3063240"/>
            <a:ext cx="457200" cy="402336"/>
          </a:xfrm>
          <a:prstGeom prst="roundRect">
            <a:avLst>
              <a:gd name="adj" fmla="val 13636"/>
            </a:avLst>
          </a:prstGeom>
          <a:solidFill>
            <a:schemeClr val="accent1"/>
          </a:solidFill>
          <a:ln w="12700">
            <a:solidFill>
              <a:schemeClr val="accent1"/>
            </a:solidFill>
            <a:prstDash val="solid"/>
          </a:ln>
        </p:spPr>
      </p:sp>
      <p:sp>
        <p:nvSpPr>
          <p:cNvPr id="12" name="Text 10"/>
          <p:cNvSpPr txBox="1"/>
          <p:nvPr/>
        </p:nvSpPr>
        <p:spPr>
          <a:xfrm>
            <a:off x="3977640" y="3063240"/>
            <a:ext cx="457200" cy="402336"/>
          </a:xfrm>
          <a:prstGeom prst="rect">
            <a:avLst/>
          </a:prstGeom>
          <a:noFill/>
          <a:ln/>
        </p:spPr>
        <p:txBody>
          <a:bodyPr wrap="square" lIns="0" tIns="0" rIns="0" bIns="0" rtlCol="0" anchor="ctr"/>
          <a:lstStyle/>
          <a:p>
            <a:pPr algn="ctr" indent="0" marL="0">
              <a:buNone/>
            </a:pPr>
            <a:r>
              <a:rPr lang="en-US" sz="1900" b="1" dirty="0">
                <a:solidFill>
                  <a:srgbClr val="FFFFFF"/>
                </a:solidFill>
                <a:latin typeface="Courier New" pitchFamily="34" charset="0"/>
                <a:ea typeface="Courier New" pitchFamily="34" charset="-122"/>
                <a:cs typeface="Courier New" pitchFamily="34" charset="-120"/>
              </a:rPr>
              <a:t>C</a:t>
            </a:r>
            <a:endParaRPr lang="en-US" sz="1900" dirty="0"/>
          </a:p>
        </p:txBody>
      </p:sp>
      <p:sp>
        <p:nvSpPr>
          <p:cNvPr id="13" name="Text 11"/>
          <p:cNvSpPr txBox="1"/>
          <p:nvPr/>
        </p:nvSpPr>
        <p:spPr>
          <a:xfrm>
            <a:off x="4480560" y="3035808"/>
            <a:ext cx="1737360" cy="457200"/>
          </a:xfrm>
          <a:prstGeom prst="rect">
            <a:avLst/>
          </a:prstGeom>
          <a:noFill/>
          <a:ln/>
        </p:spPr>
        <p:txBody>
          <a:bodyPr wrap="square" lIns="0" tIns="0" rIns="0" bIns="0" rtlCol="0" anchor="ctr"/>
          <a:lstStyle/>
          <a:p>
            <a:pPr indent="0" marL="0">
              <a:buNone/>
            </a:pPr>
            <a:r>
              <a:rPr lang="en-US" sz="1900" dirty="0">
                <a:solidFill>
                  <a:schemeClr val="tx1"/>
                </a:solidFill>
                <a:latin typeface="Courier New" pitchFamily="34" charset="0"/>
                <a:ea typeface="Courier New" pitchFamily="34" charset="-122"/>
                <a:cs typeface="Courier New" pitchFamily="34" charset="-120"/>
              </a:rPr>
              <a:t> T A G G</a:t>
            </a:r>
            <a:endParaRPr lang="en-US" sz="1900" dirty="0"/>
          </a:p>
        </p:txBody>
      </p:sp>
      <p:sp>
        <p:nvSpPr>
          <p:cNvPr id="14" name="Text 12"/>
          <p:cNvSpPr txBox="1"/>
          <p:nvPr/>
        </p:nvSpPr>
        <p:spPr>
          <a:xfrm>
            <a:off x="685800" y="3694176"/>
            <a:ext cx="1371600" cy="457200"/>
          </a:xfrm>
          <a:prstGeom prst="rect">
            <a:avLst/>
          </a:prstGeom>
          <a:noFill/>
          <a:ln/>
        </p:spPr>
        <p:txBody>
          <a:bodyPr wrap="square" lIns="0" tIns="0" rIns="0" bIns="0" rtlCol="0" anchor="ctr"/>
          <a:lstStyle/>
          <a:p>
            <a:pPr indent="0" marL="0">
              <a:buNone/>
            </a:pPr>
            <a:r>
              <a:rPr lang="en-US" sz="1400" dirty="0">
                <a:solidFill>
                  <a:srgbClr val="6B6B6B"/>
                </a:solidFill>
              </a:rPr>
              <a:t>Persona 3</a:t>
            </a:r>
            <a:endParaRPr lang="en-US" sz="1400" dirty="0"/>
          </a:p>
        </p:txBody>
      </p:sp>
      <p:sp>
        <p:nvSpPr>
          <p:cNvPr id="15" name="Text 13"/>
          <p:cNvSpPr txBox="1"/>
          <p:nvPr/>
        </p:nvSpPr>
        <p:spPr>
          <a:xfrm>
            <a:off x="2194560" y="3694176"/>
            <a:ext cx="1737360" cy="457200"/>
          </a:xfrm>
          <a:prstGeom prst="rect">
            <a:avLst/>
          </a:prstGeom>
          <a:noFill/>
          <a:ln/>
        </p:spPr>
        <p:txBody>
          <a:bodyPr wrap="square" lIns="0" tIns="0" rIns="0" bIns="0" rtlCol="0" anchor="ctr"/>
          <a:lstStyle/>
          <a:p>
            <a:pPr algn="r" indent="0" marL="0">
              <a:buNone/>
            </a:pPr>
            <a:r>
              <a:rPr lang="en-US" sz="1900" dirty="0">
                <a:solidFill>
                  <a:schemeClr val="tx1"/>
                </a:solidFill>
                <a:latin typeface="Courier New" pitchFamily="34" charset="0"/>
                <a:ea typeface="Courier New" pitchFamily="34" charset="-122"/>
                <a:cs typeface="Courier New" pitchFamily="34" charset="-120"/>
              </a:rPr>
              <a:t>A C G T </a:t>
            </a:r>
            <a:endParaRPr lang="en-US" sz="1900" dirty="0"/>
          </a:p>
        </p:txBody>
      </p:sp>
      <p:sp>
        <p:nvSpPr>
          <p:cNvPr id="16" name="snp-2"/>
          <p:cNvSpPr/>
          <p:nvPr/>
        </p:nvSpPr>
        <p:spPr>
          <a:xfrm>
            <a:off x="3977640" y="3721608"/>
            <a:ext cx="457200" cy="402336"/>
          </a:xfrm>
          <a:prstGeom prst="roundRect">
            <a:avLst>
              <a:gd name="adj" fmla="val 13636"/>
            </a:avLst>
          </a:prstGeom>
          <a:solidFill>
            <a:schemeClr val="accent2"/>
          </a:solidFill>
          <a:ln w="12700">
            <a:solidFill>
              <a:schemeClr val="accent2"/>
            </a:solidFill>
            <a:prstDash val="solid"/>
          </a:ln>
        </p:spPr>
      </p:sp>
      <p:sp>
        <p:nvSpPr>
          <p:cNvPr id="17" name="Text 15"/>
          <p:cNvSpPr txBox="1"/>
          <p:nvPr/>
        </p:nvSpPr>
        <p:spPr>
          <a:xfrm>
            <a:off x="3977640" y="3721608"/>
            <a:ext cx="457200" cy="402336"/>
          </a:xfrm>
          <a:prstGeom prst="rect">
            <a:avLst/>
          </a:prstGeom>
          <a:noFill/>
          <a:ln/>
        </p:spPr>
        <p:txBody>
          <a:bodyPr wrap="square" lIns="0" tIns="0" rIns="0" bIns="0" rtlCol="0" anchor="ctr"/>
          <a:lstStyle/>
          <a:p>
            <a:pPr algn="ctr" indent="0" marL="0">
              <a:buNone/>
            </a:pPr>
            <a:r>
              <a:rPr lang="en-US" sz="1900" b="1" dirty="0">
                <a:solidFill>
                  <a:srgbClr val="FFFFFF"/>
                </a:solidFill>
                <a:latin typeface="Courier New" pitchFamily="34" charset="0"/>
                <a:ea typeface="Courier New" pitchFamily="34" charset="-122"/>
                <a:cs typeface="Courier New" pitchFamily="34" charset="-120"/>
              </a:rPr>
              <a:t>T</a:t>
            </a:r>
            <a:endParaRPr lang="en-US" sz="1900" dirty="0"/>
          </a:p>
        </p:txBody>
      </p:sp>
      <p:sp>
        <p:nvSpPr>
          <p:cNvPr id="18" name="Text 16"/>
          <p:cNvSpPr txBox="1"/>
          <p:nvPr/>
        </p:nvSpPr>
        <p:spPr>
          <a:xfrm>
            <a:off x="4480560" y="3694176"/>
            <a:ext cx="1737360" cy="457200"/>
          </a:xfrm>
          <a:prstGeom prst="rect">
            <a:avLst/>
          </a:prstGeom>
          <a:noFill/>
          <a:ln/>
        </p:spPr>
        <p:txBody>
          <a:bodyPr wrap="square" lIns="0" tIns="0" rIns="0" bIns="0" rtlCol="0" anchor="ctr"/>
          <a:lstStyle/>
          <a:p>
            <a:pPr indent="0" marL="0">
              <a:buNone/>
            </a:pPr>
            <a:r>
              <a:rPr lang="en-US" sz="1900" dirty="0">
                <a:solidFill>
                  <a:schemeClr val="tx1"/>
                </a:solidFill>
                <a:latin typeface="Courier New" pitchFamily="34" charset="0"/>
                <a:ea typeface="Courier New" pitchFamily="34" charset="-122"/>
                <a:cs typeface="Courier New" pitchFamily="34" charset="-120"/>
              </a:rPr>
              <a:t> T A G G</a:t>
            </a:r>
            <a:endParaRPr lang="en-US" sz="1900" dirty="0"/>
          </a:p>
        </p:txBody>
      </p:sp>
      <p:sp>
        <p:nvSpPr>
          <p:cNvPr id="19" name="Text 17"/>
          <p:cNvSpPr txBox="1"/>
          <p:nvPr/>
        </p:nvSpPr>
        <p:spPr>
          <a:xfrm>
            <a:off x="6949440" y="2651760"/>
            <a:ext cx="4480560" cy="1188720"/>
          </a:xfrm>
          <a:prstGeom prst="rect">
            <a:avLst/>
          </a:prstGeom>
          <a:noFill/>
          <a:ln/>
        </p:spPr>
        <p:txBody>
          <a:bodyPr wrap="square" rtlCol="0" anchor="t"/>
          <a:lstStyle/>
          <a:p>
            <a:pPr indent="0" marL="0">
              <a:buNone/>
            </a:pPr>
            <a:r>
              <a:rPr lang="en-US" sz="1600" dirty="0">
                <a:solidFill>
                  <a:schemeClr val="tx1"/>
                </a:solidFill>
              </a:rPr>
              <a:t>Alelo C: 2 de 3 personas → frecuencia 0,67
</a:t>
            </a:r>
            <a:endParaRPr lang="en-US" sz="1600" dirty="0"/>
          </a:p>
          <a:p>
            <a:pPr indent="0" marL="0">
              <a:buNone/>
            </a:pPr>
            <a:r>
              <a:rPr lang="en-US" sz="1600" dirty="0">
                <a:solidFill>
                  <a:schemeClr val="tx1"/>
                </a:solidFill>
              </a:rPr>
              <a:t>Alelo T: 1 de 3 personas → frecuencia 0,33</a:t>
            </a:r>
            <a:endParaRPr lang="en-US" sz="1600" dirty="0"/>
          </a:p>
        </p:txBody>
      </p:sp>
      <p:sp>
        <p:nvSpPr>
          <p:cNvPr id="20" name="Text 18"/>
          <p:cNvSpPr txBox="1"/>
          <p:nvPr/>
        </p:nvSpPr>
        <p:spPr>
          <a:xfrm>
            <a:off x="685800" y="4754880"/>
            <a:ext cx="10789920" cy="1005840"/>
          </a:xfrm>
          <a:prstGeom prst="rect">
            <a:avLst/>
          </a:prstGeom>
          <a:noFill/>
          <a:ln/>
        </p:spPr>
        <p:txBody>
          <a:bodyPr wrap="square" rtlCol="0" anchor="t"/>
          <a:lstStyle/>
          <a:p>
            <a:pPr indent="0" marL="0">
              <a:buNone/>
            </a:pPr>
            <a:r>
              <a:rPr lang="en-US" sz="1600" i="1" dirty="0">
                <a:solidFill>
                  <a:schemeClr val="tx2"/>
                </a:solidFill>
              </a:rPr>
              <a:t>La frecuencia alélica es lo único que necesitamos: toda la inferencia de ancestría se basa en que estas frecuencias difieren entre poblaciones.</a:t>
            </a:r>
            <a:endParaRPr lang="en-US" sz="1600" dirty="0"/>
          </a:p>
        </p:txBody>
      </p:sp>
      <p:sp>
        <p:nvSpPr>
          <p:cNvPr id="25" name="Slide Number Placeholder 0"/>
          <p:cNvSpPr>
            <a:spLocks noGrp="1"/>
          </p:cNvSpPr>
          <p:nvPr>
            <p:ph type="sldNum" sz="quarter" idx="4294967295"/>
          </p:nvPr>
        </p:nvSpPr>
        <p:spPr>
          <a:xfrm>
            <a:off x="1152144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9A9A"/>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68680"/>
          </a:xfrm>
          <a:prstGeom prst="rect">
            <a:avLst/>
          </a:prstGeom>
          <a:noFill/>
          <a:ln/>
        </p:spPr>
        <p:txBody>
          <a:bodyPr wrap="square" rtlCol="0" anchor="ctr"/>
          <a:lstStyle/>
          <a:p>
            <a:pPr indent="0" marL="0">
              <a:buNone/>
            </a:pPr>
            <a:r>
              <a:rPr lang="en-US" sz="3200" b="1" dirty="0">
                <a:solidFill>
                  <a:schemeClr val="tx2"/>
                </a:solidFill>
              </a:rPr>
              <a:t>Las variantes no se heredan sueltas: viajan en bloques</a:t>
            </a:r>
            <a:endParaRPr lang="en-US" sz="3200" dirty="0"/>
          </a:p>
        </p:txBody>
      </p:sp>
      <p:sp>
        <p:nvSpPr>
          <p:cNvPr id="3" name="Text 1"/>
          <p:cNvSpPr txBox="1"/>
          <p:nvPr/>
        </p:nvSpPr>
        <p:spPr>
          <a:xfrm>
            <a:off x="685800" y="1508760"/>
            <a:ext cx="10789920" cy="4572000"/>
          </a:xfrm>
          <a:prstGeom prst="rect">
            <a:avLst/>
          </a:prstGeom>
          <a:noFill/>
          <a:ln/>
        </p:spPr>
        <p:txBody>
          <a:bodyPr wrap="square" rtlCol="0" anchor="t"/>
          <a:lstStyle/>
          <a:p>
            <a:pPr marL="342900" indent="-342900">
              <a:spcAft>
                <a:spcPts val="1000"/>
              </a:spcAft>
              <a:buSzPct val="100000"/>
              <a:buChar char="•"/>
            </a:pPr>
            <a:r>
              <a:rPr lang="en-US" sz="1700" dirty="0">
                <a:solidFill>
                  <a:schemeClr val="tx1"/>
                </a:solidFill>
              </a:rPr>
              <a:t>Cada cromosoma que recibes de tu madre no es una copia de uno de los suyos: es un mosaico de sus dos cromosomas, pegado por la recombinación.</a:t>
            </a:r>
            <a:endParaRPr lang="en-US" sz="1700" dirty="0"/>
          </a:p>
          <a:p>
            <a:pPr marL="342900" indent="-342900">
              <a:spcAft>
                <a:spcPts val="1000"/>
              </a:spcAft>
              <a:buSzPct val="100000"/>
              <a:buChar char="•"/>
            </a:pPr>
            <a:r>
              <a:rPr lang="en-US" sz="1700" dirty="0">
                <a:solidFill>
                  <a:schemeClr val="tx1"/>
                </a:solidFill>
              </a:rPr>
              <a:t>En cada meiosis hay apenas una o dos recombinaciones por cromosoma. Entre un punto de corte y el siguiente, un tramo entero pasa íntegro.</a:t>
            </a:r>
            <a:endParaRPr lang="en-US" sz="1700" dirty="0"/>
          </a:p>
          <a:p>
            <a:pPr marL="342900" indent="-342900">
              <a:spcAft>
                <a:spcPts val="1000"/>
              </a:spcAft>
              <a:buSzPct val="100000"/>
              <a:buChar char="•"/>
            </a:pPr>
            <a:r>
              <a:rPr lang="en-US" sz="1700" dirty="0">
                <a:solidFill>
                  <a:schemeClr val="tx1"/>
                </a:solidFill>
              </a:rPr>
              <a:t>Ese tramo que se hereda junto es un haplotipo: una combinación concreta de alelos en variantes vecinas.</a:t>
            </a:r>
            <a:endParaRPr lang="en-US" sz="1700" dirty="0"/>
          </a:p>
          <a:p>
            <a:pPr marL="342900" indent="-342900">
              <a:spcAft>
                <a:spcPts val="1000"/>
              </a:spcAft>
              <a:buSzPct val="100000"/>
              <a:buChar char="•"/>
            </a:pPr>
            <a:r>
              <a:rPr lang="en-US" sz="1700" dirty="0">
                <a:solidFill>
                  <a:schemeClr val="tx1"/>
                </a:solidFill>
              </a:rPr>
              <a:t>Generación tras generación los haplotipos se van cortando, así que los bloques compartidos entre personas emparentadas se acortan con el tiempo.</a:t>
            </a:r>
            <a:endParaRPr lang="en-US" sz="1700" dirty="0"/>
          </a:p>
        </p:txBody>
      </p:sp>
      <p:sp>
        <p:nvSpPr>
          <p:cNvPr id="4" name="caja-haplo"/>
          <p:cNvSpPr/>
          <p:nvPr/>
        </p:nvSpPr>
        <p:spPr>
          <a:xfrm>
            <a:off x="685800" y="4572000"/>
            <a:ext cx="10789920" cy="1280160"/>
          </a:xfrm>
          <a:prstGeom prst="roundRect">
            <a:avLst>
              <a:gd name="adj" fmla="val 7143"/>
            </a:avLst>
          </a:prstGeom>
          <a:solidFill>
            <a:schemeClr val="bg2"/>
          </a:solidFill>
          <a:ln w="6350">
            <a:solidFill>
              <a:srgbClr val="E2E2DE"/>
            </a:solidFill>
            <a:prstDash val="solid"/>
          </a:ln>
        </p:spPr>
      </p:sp>
      <p:sp>
        <p:nvSpPr>
          <p:cNvPr id="5" name="Text 3"/>
          <p:cNvSpPr txBox="1"/>
          <p:nvPr/>
        </p:nvSpPr>
        <p:spPr>
          <a:xfrm>
            <a:off x="914400" y="4754880"/>
            <a:ext cx="10332720" cy="914400"/>
          </a:xfrm>
          <a:prstGeom prst="rect">
            <a:avLst/>
          </a:prstGeom>
          <a:noFill/>
          <a:ln/>
        </p:spPr>
        <p:txBody>
          <a:bodyPr wrap="square" rtlCol="0" anchor="ctr"/>
          <a:lstStyle/>
          <a:p>
            <a:pPr indent="0" marL="0">
              <a:buNone/>
            </a:pPr>
            <a:r>
              <a:rPr lang="en-US" sz="1600" dirty="0">
                <a:solidFill>
                  <a:schemeClr val="tx1"/>
                </a:solidFill>
              </a:rPr>
              <a:t>Esta es la idea que hace posible la ancestría local: si una persona mezclada heredó un tramo entero de un ancestro africano, ese tramo sigue siendo reconociblemente africano hoy.</a:t>
            </a:r>
            <a:endParaRPr lang="en-US" sz="1600" dirty="0"/>
          </a:p>
        </p:txBody>
      </p:sp>
      <p:sp>
        <p:nvSpPr>
          <p:cNvPr id="7" name="Text 0"/>
          <p:cNvSpPr/>
          <p:nvPr>
            <p:ph idx="101" type="body" hasCustomPrompt="1"/>
          </p:nvPr>
        </p:nvSpPr>
        <p:spPr>
          <a:xfrm>
            <a:off x="685800" y="1508760"/>
            <a:ext cx="10789920" cy="4663440"/>
          </a:xfrm>
          <a:prstGeom prst="rect">
            <a:avLst/>
          </a:prstGeom>
          <a:noFill/>
          <a:ln/>
        </p:spPr>
        <p:txBody>
          <a:bodyPr wrap="square" rtlCol="0" anchor="t"/>
          <a:lstStyle/>
          <a:p>
            <a:pPr indent="0" marL="0">
              <a:buNone/>
            </a:pPr>
            <a:endParaRPr lang="en-US" sz="1700" dirty="0"/>
          </a:p>
        </p:txBody>
      </p:sp>
      <p:sp>
        <p:nvSpPr>
          <p:cNvPr id="25" name="Slide Number Placeholder 0"/>
          <p:cNvSpPr>
            <a:spLocks noGrp="1"/>
          </p:cNvSpPr>
          <p:nvPr>
            <p:ph type="sldNum" sz="quarter" idx="4294967295"/>
          </p:nvPr>
        </p:nvSpPr>
        <p:spPr>
          <a:xfrm>
            <a:off x="1152144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9A9A"/>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68680"/>
          </a:xfrm>
          <a:prstGeom prst="rect">
            <a:avLst/>
          </a:prstGeom>
          <a:noFill/>
          <a:ln/>
        </p:spPr>
        <p:txBody>
          <a:bodyPr wrap="square" rtlCol="0" anchor="ctr"/>
          <a:lstStyle/>
          <a:p>
            <a:pPr indent="0" marL="0">
              <a:buNone/>
            </a:pPr>
            <a:r>
              <a:rPr lang="en-US" sz="3200" b="1" dirty="0">
                <a:solidFill>
                  <a:schemeClr val="tx2"/>
                </a:solidFill>
              </a:rPr>
              <a:t>Desequilibrio de ligamiento (LD)</a:t>
            </a:r>
            <a:endParaRPr lang="en-US" sz="3200" dirty="0"/>
          </a:p>
        </p:txBody>
      </p:sp>
      <p:sp>
        <p:nvSpPr>
          <p:cNvPr id="3" name="Text 1"/>
          <p:cNvSpPr txBox="1"/>
          <p:nvPr/>
        </p:nvSpPr>
        <p:spPr>
          <a:xfrm>
            <a:off x="685800" y="1508760"/>
            <a:ext cx="10789920" cy="4572000"/>
          </a:xfrm>
          <a:prstGeom prst="rect">
            <a:avLst/>
          </a:prstGeom>
          <a:noFill/>
          <a:ln/>
        </p:spPr>
        <p:txBody>
          <a:bodyPr wrap="square" rtlCol="0" anchor="t"/>
          <a:lstStyle/>
          <a:p>
            <a:pPr marL="342900" indent="-342900">
              <a:spcAft>
                <a:spcPts val="1000"/>
              </a:spcAft>
              <a:buSzPct val="100000"/>
              <a:buChar char="•"/>
            </a:pPr>
            <a:r>
              <a:rPr lang="en-US" sz="1700" dirty="0">
                <a:solidFill>
                  <a:schemeClr val="tx1"/>
                </a:solidFill>
              </a:rPr>
              <a:t>Si dos variantes vecinas se heredan casi siempre juntas, conocer el alelo de una predice el de la otra. Eso es desequilibrio de ligamiento.</a:t>
            </a:r>
            <a:endParaRPr lang="en-US" sz="1700" dirty="0"/>
          </a:p>
          <a:p>
            <a:pPr marL="342900" indent="-342900">
              <a:spcAft>
                <a:spcPts val="1000"/>
              </a:spcAft>
              <a:buSzPct val="100000"/>
              <a:buChar char="•"/>
            </a:pPr>
            <a:r>
              <a:rPr lang="en-US" sz="1700" dirty="0">
                <a:solidFill>
                  <a:schemeClr val="tx1"/>
                </a:solidFill>
              </a:rPr>
              <a:t>Se mide con r²: va de 0 (independientes) a 1 (una predice perfectamente a la otra).</a:t>
            </a:r>
            <a:endParaRPr lang="en-US" sz="1700" dirty="0"/>
          </a:p>
          <a:p>
            <a:pPr marL="342900" indent="-342900">
              <a:spcAft>
                <a:spcPts val="1000"/>
              </a:spcAft>
              <a:buSzPct val="100000"/>
              <a:buChar char="•"/>
            </a:pPr>
            <a:r>
              <a:rPr lang="en-US" sz="1700" dirty="0">
                <a:solidFill>
                  <a:schemeClr val="tx1"/>
                </a:solidFill>
              </a:rPr>
              <a:t>El LD decae con la distancia física, pero no de forma uniforme: hay zonas del genoma con mucha recombinación y zonas con muy poca.</a:t>
            </a:r>
            <a:endParaRPr lang="en-US" sz="1700" dirty="0"/>
          </a:p>
          <a:p>
            <a:pPr marL="342900" indent="-342900">
              <a:spcAft>
                <a:spcPts val="1000"/>
              </a:spcAft>
              <a:buSzPct val="100000"/>
              <a:buChar char="•"/>
            </a:pPr>
            <a:r>
              <a:rPr lang="en-US" sz="1700" dirty="0">
                <a:solidFill>
                  <a:schemeClr val="tx1"/>
                </a:solidFill>
              </a:rPr>
              <a:t>Consecuencia práctica: muchas variantes vecinas son información repetida.</a:t>
            </a:r>
            <a:endParaRPr lang="en-US" sz="1700" dirty="0"/>
          </a:p>
        </p:txBody>
      </p:sp>
      <p:sp>
        <p:nvSpPr>
          <p:cNvPr id="4" name="caja-ld"/>
          <p:cNvSpPr/>
          <p:nvPr/>
        </p:nvSpPr>
        <p:spPr>
          <a:xfrm>
            <a:off x="685800" y="4480560"/>
            <a:ext cx="10789920" cy="1463040"/>
          </a:xfrm>
          <a:prstGeom prst="roundRect">
            <a:avLst>
              <a:gd name="adj" fmla="val 6250"/>
            </a:avLst>
          </a:prstGeom>
          <a:solidFill>
            <a:schemeClr val="bg2"/>
          </a:solidFill>
          <a:ln w="6350">
            <a:solidFill>
              <a:srgbClr val="E2E2DE"/>
            </a:solidFill>
            <a:prstDash val="solid"/>
          </a:ln>
        </p:spPr>
      </p:sp>
      <p:sp>
        <p:nvSpPr>
          <p:cNvPr id="5" name="Text 3"/>
          <p:cNvSpPr txBox="1"/>
          <p:nvPr/>
        </p:nvSpPr>
        <p:spPr>
          <a:xfrm>
            <a:off x="914400" y="4663440"/>
            <a:ext cx="10332720" cy="1097280"/>
          </a:xfrm>
          <a:prstGeom prst="rect">
            <a:avLst/>
          </a:prstGeom>
          <a:noFill/>
          <a:ln/>
        </p:spPr>
        <p:txBody>
          <a:bodyPr wrap="square" rtlCol="0" anchor="ctr"/>
          <a:lstStyle/>
          <a:p>
            <a:pPr indent="0" marL="0">
              <a:buNone/>
            </a:pPr>
            <a:r>
              <a:rPr lang="en-US" sz="1600" dirty="0">
                <a:solidFill>
                  <a:schemeClr val="tx1"/>
                </a:solidFill>
              </a:rPr>
              <a:t>El PCA y ADMIXTURE suponen que las variantes son independientes. Por eso, antes de correrlos, se hace una poda por LD: se descartan las variantes que repiten información, para que ninguna región del genoma pese de más. Lo haremos el sábado con --indep-pairwise.</a:t>
            </a:r>
            <a:endParaRPr lang="en-US" sz="1600" dirty="0"/>
          </a:p>
        </p:txBody>
      </p:sp>
      <p:sp>
        <p:nvSpPr>
          <p:cNvPr id="7" name="Text 0"/>
          <p:cNvSpPr/>
          <p:nvPr>
            <p:ph idx="101" type="body" hasCustomPrompt="1"/>
          </p:nvPr>
        </p:nvSpPr>
        <p:spPr>
          <a:xfrm>
            <a:off x="685800" y="1508760"/>
            <a:ext cx="10789920" cy="4663440"/>
          </a:xfrm>
          <a:prstGeom prst="rect">
            <a:avLst/>
          </a:prstGeom>
          <a:noFill/>
          <a:ln/>
        </p:spPr>
        <p:txBody>
          <a:bodyPr wrap="square" rtlCol="0" anchor="t"/>
          <a:lstStyle/>
          <a:p>
            <a:pPr indent="0" marL="0">
              <a:buNone/>
            </a:pPr>
            <a:endParaRPr lang="en-US" sz="1700" dirty="0"/>
          </a:p>
        </p:txBody>
      </p:sp>
      <p:sp>
        <p:nvSpPr>
          <p:cNvPr id="25" name="Slide Number Placeholder 0"/>
          <p:cNvSpPr>
            <a:spLocks noGrp="1"/>
          </p:cNvSpPr>
          <p:nvPr>
            <p:ph type="sldNum" sz="quarter" idx="4294967295"/>
          </p:nvPr>
        </p:nvSpPr>
        <p:spPr>
          <a:xfrm>
            <a:off x="1152144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9A9A"/>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68680"/>
          </a:xfrm>
          <a:prstGeom prst="rect">
            <a:avLst/>
          </a:prstGeom>
          <a:noFill/>
          <a:ln/>
        </p:spPr>
        <p:txBody>
          <a:bodyPr wrap="square" rtlCol="0" anchor="ctr"/>
          <a:lstStyle/>
          <a:p>
            <a:pPr indent="0" marL="0">
              <a:buNone/>
            </a:pPr>
            <a:r>
              <a:rPr lang="en-US" sz="3200" b="1" dirty="0">
                <a:solidFill>
                  <a:schemeClr val="tx2"/>
                </a:solidFill>
              </a:rPr>
              <a:t>¿Por qué difieren las frecuencias entre poblaciones?</a:t>
            </a:r>
            <a:endParaRPr lang="en-US" sz="3200" dirty="0"/>
          </a:p>
        </p:txBody>
      </p:sp>
      <p:sp>
        <p:nvSpPr>
          <p:cNvPr id="3" name="causa-0"/>
          <p:cNvSpPr/>
          <p:nvPr/>
        </p:nvSpPr>
        <p:spPr>
          <a:xfrm>
            <a:off x="685800" y="1755648"/>
            <a:ext cx="384048" cy="384048"/>
          </a:xfrm>
          <a:prstGeom prst="ellipse">
            <a:avLst/>
          </a:prstGeom>
          <a:solidFill>
            <a:schemeClr val="accent1"/>
          </a:solidFill>
          <a:ln w="12700">
            <a:solidFill>
              <a:schemeClr val="accent1"/>
            </a:solidFill>
            <a:prstDash val="solid"/>
          </a:ln>
        </p:spPr>
      </p:sp>
      <p:sp>
        <p:nvSpPr>
          <p:cNvPr id="4" name="Text 2"/>
          <p:cNvSpPr txBox="1"/>
          <p:nvPr/>
        </p:nvSpPr>
        <p:spPr>
          <a:xfrm>
            <a:off x="1252728" y="1691640"/>
            <a:ext cx="4462272" cy="347472"/>
          </a:xfrm>
          <a:prstGeom prst="rect">
            <a:avLst/>
          </a:prstGeom>
          <a:noFill/>
          <a:ln/>
        </p:spPr>
        <p:txBody>
          <a:bodyPr wrap="square" lIns="0" tIns="0" rIns="0" bIns="0" rtlCol="0" anchor="ctr"/>
          <a:lstStyle/>
          <a:p>
            <a:pPr indent="0" marL="0">
              <a:buNone/>
            </a:pPr>
            <a:r>
              <a:rPr lang="en-US" sz="1700" b="1" dirty="0">
                <a:solidFill>
                  <a:schemeClr val="tx2"/>
                </a:solidFill>
              </a:rPr>
              <a:t>Deriva genética</a:t>
            </a:r>
            <a:endParaRPr lang="en-US" sz="1700" dirty="0"/>
          </a:p>
        </p:txBody>
      </p:sp>
      <p:sp>
        <p:nvSpPr>
          <p:cNvPr id="5" name="Text 3"/>
          <p:cNvSpPr txBox="1"/>
          <p:nvPr/>
        </p:nvSpPr>
        <p:spPr>
          <a:xfrm>
            <a:off x="1252728" y="2075688"/>
            <a:ext cx="4462272" cy="777240"/>
          </a:xfrm>
          <a:prstGeom prst="rect">
            <a:avLst/>
          </a:prstGeom>
          <a:noFill/>
          <a:ln/>
        </p:spPr>
        <p:txBody>
          <a:bodyPr wrap="square" lIns="0" tIns="0" rIns="0" bIns="0" rtlCol="0" anchor="t"/>
          <a:lstStyle/>
          <a:p>
            <a:pPr indent="0" marL="0">
              <a:buNone/>
            </a:pPr>
            <a:r>
              <a:rPr lang="en-US" sz="1400" dirty="0">
                <a:solidFill>
                  <a:schemeClr val="tx1"/>
                </a:solidFill>
              </a:rPr>
              <a:t>En cada generación las frecuencias cambian un poco por azar. En poblaciones pequeñas, mucho.</a:t>
            </a:r>
            <a:endParaRPr lang="en-US" sz="1400" dirty="0"/>
          </a:p>
        </p:txBody>
      </p:sp>
      <p:sp>
        <p:nvSpPr>
          <p:cNvPr id="6" name="causa-1"/>
          <p:cNvSpPr/>
          <p:nvPr/>
        </p:nvSpPr>
        <p:spPr>
          <a:xfrm>
            <a:off x="6172200" y="1755648"/>
            <a:ext cx="384048" cy="384048"/>
          </a:xfrm>
          <a:prstGeom prst="ellipse">
            <a:avLst/>
          </a:prstGeom>
          <a:solidFill>
            <a:schemeClr val="accent3"/>
          </a:solidFill>
          <a:ln w="12700">
            <a:solidFill>
              <a:schemeClr val="accent3"/>
            </a:solidFill>
            <a:prstDash val="solid"/>
          </a:ln>
        </p:spPr>
      </p:sp>
      <p:sp>
        <p:nvSpPr>
          <p:cNvPr id="7" name="Text 5"/>
          <p:cNvSpPr txBox="1"/>
          <p:nvPr/>
        </p:nvSpPr>
        <p:spPr>
          <a:xfrm>
            <a:off x="6739128" y="1691640"/>
            <a:ext cx="4462272" cy="347472"/>
          </a:xfrm>
          <a:prstGeom prst="rect">
            <a:avLst/>
          </a:prstGeom>
          <a:noFill/>
          <a:ln/>
        </p:spPr>
        <p:txBody>
          <a:bodyPr wrap="square" lIns="0" tIns="0" rIns="0" bIns="0" rtlCol="0" anchor="ctr"/>
          <a:lstStyle/>
          <a:p>
            <a:pPr indent="0" marL="0">
              <a:buNone/>
            </a:pPr>
            <a:r>
              <a:rPr lang="en-US" sz="1700" b="1" dirty="0">
                <a:solidFill>
                  <a:schemeClr val="tx2"/>
                </a:solidFill>
              </a:rPr>
              <a:t>Aislamiento y migración</a:t>
            </a:r>
            <a:endParaRPr lang="en-US" sz="1700" dirty="0"/>
          </a:p>
        </p:txBody>
      </p:sp>
      <p:sp>
        <p:nvSpPr>
          <p:cNvPr id="8" name="Text 6"/>
          <p:cNvSpPr txBox="1"/>
          <p:nvPr/>
        </p:nvSpPr>
        <p:spPr>
          <a:xfrm>
            <a:off x="6739128" y="2075688"/>
            <a:ext cx="4462272" cy="777240"/>
          </a:xfrm>
          <a:prstGeom prst="rect">
            <a:avLst/>
          </a:prstGeom>
          <a:noFill/>
          <a:ln/>
        </p:spPr>
        <p:txBody>
          <a:bodyPr wrap="square" lIns="0" tIns="0" rIns="0" bIns="0" rtlCol="0" anchor="t"/>
          <a:lstStyle/>
          <a:p>
            <a:pPr indent="0" marL="0">
              <a:buNone/>
            </a:pPr>
            <a:r>
              <a:rPr lang="en-US" sz="1400" dirty="0">
                <a:solidFill>
                  <a:schemeClr val="tx1"/>
                </a:solidFill>
              </a:rPr>
              <a:t>Poblaciones separadas acumulan diferencias; el flujo de personas las vuelve a acercar.</a:t>
            </a:r>
            <a:endParaRPr lang="en-US" sz="1400" dirty="0"/>
          </a:p>
        </p:txBody>
      </p:sp>
      <p:sp>
        <p:nvSpPr>
          <p:cNvPr id="9" name="causa-2"/>
          <p:cNvSpPr/>
          <p:nvPr/>
        </p:nvSpPr>
        <p:spPr>
          <a:xfrm>
            <a:off x="685800" y="3355848"/>
            <a:ext cx="384048" cy="384048"/>
          </a:xfrm>
          <a:prstGeom prst="ellipse">
            <a:avLst/>
          </a:prstGeom>
          <a:solidFill>
            <a:schemeClr val="accent5"/>
          </a:solidFill>
          <a:ln w="12700">
            <a:solidFill>
              <a:schemeClr val="accent5"/>
            </a:solidFill>
            <a:prstDash val="solid"/>
          </a:ln>
        </p:spPr>
      </p:sp>
      <p:sp>
        <p:nvSpPr>
          <p:cNvPr id="10" name="Text 8"/>
          <p:cNvSpPr txBox="1"/>
          <p:nvPr/>
        </p:nvSpPr>
        <p:spPr>
          <a:xfrm>
            <a:off x="1252728" y="3291840"/>
            <a:ext cx="4462272" cy="347472"/>
          </a:xfrm>
          <a:prstGeom prst="rect">
            <a:avLst/>
          </a:prstGeom>
          <a:noFill/>
          <a:ln/>
        </p:spPr>
        <p:txBody>
          <a:bodyPr wrap="square" lIns="0" tIns="0" rIns="0" bIns="0" rtlCol="0" anchor="ctr"/>
          <a:lstStyle/>
          <a:p>
            <a:pPr indent="0" marL="0">
              <a:buNone/>
            </a:pPr>
            <a:r>
              <a:rPr lang="en-US" sz="1700" b="1" dirty="0">
                <a:solidFill>
                  <a:schemeClr val="tx2"/>
                </a:solidFill>
              </a:rPr>
              <a:t>Efecto fundador</a:t>
            </a:r>
            <a:endParaRPr lang="en-US" sz="1700" dirty="0"/>
          </a:p>
        </p:txBody>
      </p:sp>
      <p:sp>
        <p:nvSpPr>
          <p:cNvPr id="11" name="Text 9"/>
          <p:cNvSpPr txBox="1"/>
          <p:nvPr/>
        </p:nvSpPr>
        <p:spPr>
          <a:xfrm>
            <a:off x="1252728" y="3675888"/>
            <a:ext cx="4462272" cy="777240"/>
          </a:xfrm>
          <a:prstGeom prst="rect">
            <a:avLst/>
          </a:prstGeom>
          <a:noFill/>
          <a:ln/>
        </p:spPr>
        <p:txBody>
          <a:bodyPr wrap="square" lIns="0" tIns="0" rIns="0" bIns="0" rtlCol="0" anchor="t"/>
          <a:lstStyle/>
          <a:p>
            <a:pPr indent="0" marL="0">
              <a:buNone/>
            </a:pPr>
            <a:r>
              <a:rPr lang="en-US" sz="1400" dirty="0">
                <a:solidFill>
                  <a:schemeClr val="tx1"/>
                </a:solidFill>
              </a:rPr>
              <a:t>Un grupo pequeño que funda una población nueva lleva solo una parte de la variación original.</a:t>
            </a:r>
            <a:endParaRPr lang="en-US" sz="1400" dirty="0"/>
          </a:p>
        </p:txBody>
      </p:sp>
      <p:sp>
        <p:nvSpPr>
          <p:cNvPr id="12" name="causa-3"/>
          <p:cNvSpPr/>
          <p:nvPr/>
        </p:nvSpPr>
        <p:spPr>
          <a:xfrm>
            <a:off x="6172200" y="3355848"/>
            <a:ext cx="384048" cy="384048"/>
          </a:xfrm>
          <a:prstGeom prst="ellipse">
            <a:avLst/>
          </a:prstGeom>
          <a:solidFill>
            <a:schemeClr val="accent2"/>
          </a:solidFill>
          <a:ln w="12700">
            <a:solidFill>
              <a:schemeClr val="accent2"/>
            </a:solidFill>
            <a:prstDash val="solid"/>
          </a:ln>
        </p:spPr>
      </p:sp>
      <p:sp>
        <p:nvSpPr>
          <p:cNvPr id="13" name="Text 11"/>
          <p:cNvSpPr txBox="1"/>
          <p:nvPr/>
        </p:nvSpPr>
        <p:spPr>
          <a:xfrm>
            <a:off x="6739128" y="3291840"/>
            <a:ext cx="4462272" cy="347472"/>
          </a:xfrm>
          <a:prstGeom prst="rect">
            <a:avLst/>
          </a:prstGeom>
          <a:noFill/>
          <a:ln/>
        </p:spPr>
        <p:txBody>
          <a:bodyPr wrap="square" lIns="0" tIns="0" rIns="0" bIns="0" rtlCol="0" anchor="ctr"/>
          <a:lstStyle/>
          <a:p>
            <a:pPr indent="0" marL="0">
              <a:buNone/>
            </a:pPr>
            <a:r>
              <a:rPr lang="en-US" sz="1700" b="1" dirty="0">
                <a:solidFill>
                  <a:schemeClr val="tx2"/>
                </a:solidFill>
              </a:rPr>
              <a:t>Selección natural</a:t>
            </a:r>
            <a:endParaRPr lang="en-US" sz="1700" dirty="0"/>
          </a:p>
        </p:txBody>
      </p:sp>
      <p:sp>
        <p:nvSpPr>
          <p:cNvPr id="14" name="Text 12"/>
          <p:cNvSpPr txBox="1"/>
          <p:nvPr/>
        </p:nvSpPr>
        <p:spPr>
          <a:xfrm>
            <a:off x="6739128" y="3675888"/>
            <a:ext cx="4462272" cy="777240"/>
          </a:xfrm>
          <a:prstGeom prst="rect">
            <a:avLst/>
          </a:prstGeom>
          <a:noFill/>
          <a:ln/>
        </p:spPr>
        <p:txBody>
          <a:bodyPr wrap="square" lIns="0" tIns="0" rIns="0" bIns="0" rtlCol="0" anchor="t"/>
          <a:lstStyle/>
          <a:p>
            <a:pPr indent="0" marL="0">
              <a:buNone/>
            </a:pPr>
            <a:r>
              <a:rPr lang="en-US" sz="1400" dirty="0">
                <a:solidFill>
                  <a:schemeClr val="tx1"/>
                </a:solidFill>
              </a:rPr>
              <a:t>Explica diferencias en unas pocas regiones del genoma, no el patrón general.</a:t>
            </a:r>
            <a:endParaRPr lang="en-US" sz="1400" dirty="0"/>
          </a:p>
        </p:txBody>
      </p:sp>
      <p:sp>
        <p:nvSpPr>
          <p:cNvPr id="15" name="Text 13"/>
          <p:cNvSpPr txBox="1"/>
          <p:nvPr/>
        </p:nvSpPr>
        <p:spPr>
          <a:xfrm>
            <a:off x="685800" y="5074920"/>
            <a:ext cx="10789920" cy="1005840"/>
          </a:xfrm>
          <a:prstGeom prst="rect">
            <a:avLst/>
          </a:prstGeom>
          <a:noFill/>
          <a:ln/>
        </p:spPr>
        <p:txBody>
          <a:bodyPr wrap="square" rtlCol="0" anchor="t"/>
          <a:lstStyle/>
          <a:p>
            <a:pPr indent="0" marL="0">
              <a:buNone/>
            </a:pPr>
            <a:r>
              <a:rPr lang="en-US" sz="1600" i="1" dirty="0">
                <a:solidFill>
                  <a:schemeClr val="tx2"/>
                </a:solidFill>
              </a:rPr>
              <a:t>Casi toda la variación genética humana está dentro de las poblaciones, no entre ellas. Las diferencias entre continentes son reales y medibles, pero pequeñas comparadas con la variación entre dos personas de la misma población.</a:t>
            </a:r>
            <a:endParaRPr lang="en-US" sz="1600" dirty="0"/>
          </a:p>
        </p:txBody>
      </p:sp>
      <p:sp>
        <p:nvSpPr>
          <p:cNvPr id="25" name="Slide Number Placeholder 0"/>
          <p:cNvSpPr>
            <a:spLocks noGrp="1"/>
          </p:cNvSpPr>
          <p:nvPr>
            <p:ph type="sldNum" sz="quarter" idx="4294967295"/>
          </p:nvPr>
        </p:nvSpPr>
        <p:spPr>
          <a:xfrm>
            <a:off x="1152144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9A9A"/>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68680"/>
          </a:xfrm>
          <a:prstGeom prst="rect">
            <a:avLst/>
          </a:prstGeom>
          <a:noFill/>
          <a:ln/>
        </p:spPr>
        <p:txBody>
          <a:bodyPr wrap="square" rtlCol="0" anchor="ctr"/>
          <a:lstStyle/>
          <a:p>
            <a:pPr indent="0" marL="0">
              <a:buNone/>
            </a:pPr>
            <a:r>
              <a:rPr lang="en-US" sz="3200" b="1" dirty="0">
                <a:solidFill>
                  <a:schemeClr val="tx2"/>
                </a:solidFill>
              </a:rPr>
              <a:t>Poblaciones mezcladas: el caso latinoamericano</a:t>
            </a:r>
            <a:endParaRPr lang="en-US" sz="3200" dirty="0"/>
          </a:p>
        </p:txBody>
      </p:sp>
      <p:sp>
        <p:nvSpPr>
          <p:cNvPr id="3" name="Text 1"/>
          <p:cNvSpPr txBox="1"/>
          <p:nvPr/>
        </p:nvSpPr>
        <p:spPr>
          <a:xfrm>
            <a:off x="685800" y="1508760"/>
            <a:ext cx="10789920" cy="4572000"/>
          </a:xfrm>
          <a:prstGeom prst="rect">
            <a:avLst/>
          </a:prstGeom>
          <a:noFill/>
          <a:ln/>
        </p:spPr>
        <p:txBody>
          <a:bodyPr wrap="square" rtlCol="0" anchor="t"/>
          <a:lstStyle/>
          <a:p>
            <a:pPr marL="342900" indent="-342900">
              <a:spcAft>
                <a:spcPts val="1000"/>
              </a:spcAft>
              <a:buSzPct val="100000"/>
              <a:buChar char="•"/>
            </a:pPr>
            <a:r>
              <a:rPr lang="en-US" sz="1700" dirty="0">
                <a:solidFill>
                  <a:schemeClr val="tx1"/>
                </a:solidFill>
              </a:rPr>
              <a:t>Desde el siglo XVI confluyen en América tres grupos que llevaban milenios separados: pueblos nativos americanos, europeos y africanos.</a:t>
            </a:r>
            <a:endParaRPr lang="en-US" sz="1700" dirty="0"/>
          </a:p>
          <a:p>
            <a:pPr marL="342900" indent="-342900">
              <a:spcAft>
                <a:spcPts val="1000"/>
              </a:spcAft>
              <a:buSzPct val="100000"/>
              <a:buChar char="•"/>
            </a:pPr>
            <a:r>
              <a:rPr lang="en-US" sz="1700" dirty="0">
                <a:solidFill>
                  <a:schemeClr val="tx1"/>
                </a:solidFill>
              </a:rPr>
              <a:t>La mezcla fue reciente en términos evolutivos: unas 15 a 20 generaciones. Los bloques de ancestría todavía son largos y fáciles de reconocer.</a:t>
            </a:r>
            <a:endParaRPr lang="en-US" sz="1700" dirty="0"/>
          </a:p>
          <a:p>
            <a:pPr marL="342900" indent="-342900">
              <a:spcAft>
                <a:spcPts val="1000"/>
              </a:spcAft>
              <a:buSzPct val="100000"/>
              <a:buChar char="•"/>
            </a:pPr>
            <a:r>
              <a:rPr lang="en-US" sz="1700" dirty="0">
                <a:solidFill>
                  <a:schemeClr val="tx1"/>
                </a:solidFill>
              </a:rPr>
              <a:t>Fue también una mezcla sesgada por sexo: en Colombia, la ancestría europea entra sobre todo por vía paterna y la nativa americana por vía materna.</a:t>
            </a:r>
            <a:endParaRPr lang="en-US" sz="1700" dirty="0"/>
          </a:p>
          <a:p>
            <a:pPr marL="342900" indent="-342900">
              <a:spcAft>
                <a:spcPts val="1000"/>
              </a:spcAft>
              <a:buSzPct val="100000"/>
              <a:buChar char="•"/>
            </a:pPr>
            <a:r>
              <a:rPr lang="en-US" sz="1700" dirty="0">
                <a:solidFill>
                  <a:schemeClr val="tx1"/>
                </a:solidFill>
              </a:rPr>
              <a:t>En 60 genomas de Medellín, el promedio es 74,6 % de ancestría europea, 18,1 % nativa americana y 7,3 % africana, con mucha variación entre personas.</a:t>
            </a:r>
            <a:endParaRPr lang="en-US" sz="1700" dirty="0"/>
          </a:p>
        </p:txBody>
      </p:sp>
      <p:sp>
        <p:nvSpPr>
          <p:cNvPr id="4" name="caja-clm"/>
          <p:cNvSpPr/>
          <p:nvPr/>
        </p:nvSpPr>
        <p:spPr>
          <a:xfrm>
            <a:off x="685800" y="4663440"/>
            <a:ext cx="10789920" cy="1188720"/>
          </a:xfrm>
          <a:prstGeom prst="roundRect">
            <a:avLst>
              <a:gd name="adj" fmla="val 7692"/>
            </a:avLst>
          </a:prstGeom>
          <a:solidFill>
            <a:schemeClr val="bg2"/>
          </a:solidFill>
          <a:ln w="6350">
            <a:solidFill>
              <a:srgbClr val="E2E2DE"/>
            </a:solidFill>
            <a:prstDash val="solid"/>
          </a:ln>
        </p:spPr>
      </p:sp>
      <p:sp>
        <p:nvSpPr>
          <p:cNvPr id="5" name="Text 3"/>
          <p:cNvSpPr txBox="1"/>
          <p:nvPr/>
        </p:nvSpPr>
        <p:spPr>
          <a:xfrm>
            <a:off x="914400" y="4846320"/>
            <a:ext cx="10332720" cy="822960"/>
          </a:xfrm>
          <a:prstGeom prst="rect">
            <a:avLst/>
          </a:prstGeom>
          <a:noFill/>
          <a:ln/>
        </p:spPr>
        <p:txBody>
          <a:bodyPr wrap="square" rtlCol="0" anchor="ctr"/>
          <a:lstStyle/>
          <a:p>
            <a:pPr indent="0" marL="0">
              <a:buNone/>
            </a:pPr>
            <a:r>
              <a:rPr lang="en-US" sz="1600" b="1" dirty="0">
                <a:solidFill>
                  <a:schemeClr val="tx2"/>
                </a:solidFill>
              </a:rPr>
              <a:t>Esas 60 personas de Medellín son exactamente las que vamos a analizar en las sesiones 3 y 4 del curso.</a:t>
            </a:r>
            <a:endParaRPr lang="en-US" sz="1600" dirty="0"/>
          </a:p>
        </p:txBody>
      </p:sp>
      <p:sp>
        <p:nvSpPr>
          <p:cNvPr id="6" name="Text 4"/>
          <p:cNvSpPr txBox="1"/>
          <p:nvPr/>
        </p:nvSpPr>
        <p:spPr>
          <a:xfrm>
            <a:off x="685800" y="6199632"/>
            <a:ext cx="10424160" cy="365760"/>
          </a:xfrm>
          <a:prstGeom prst="rect">
            <a:avLst/>
          </a:prstGeom>
          <a:noFill/>
          <a:ln/>
        </p:spPr>
        <p:txBody>
          <a:bodyPr wrap="square" lIns="0" tIns="0" rIns="0" bIns="0" rtlCol="0" anchor="ctr"/>
          <a:lstStyle/>
          <a:p>
            <a:pPr indent="0" marL="0">
              <a:buNone/>
            </a:pPr>
            <a:r>
              <a:rPr lang="en-US" sz="1100" i="1" dirty="0">
                <a:solidFill>
                  <a:srgbClr val="6B6B6B"/>
                </a:solidFill>
              </a:rPr>
              <a:t>Fuente: Rishishwar et al., Scientific Reports 2015;5:12376. doi:10.1038/srep12376</a:t>
            </a:r>
            <a:endParaRPr lang="en-US" sz="1100" dirty="0"/>
          </a:p>
        </p:txBody>
      </p:sp>
      <p:sp>
        <p:nvSpPr>
          <p:cNvPr id="8" name="Text 0"/>
          <p:cNvSpPr/>
          <p:nvPr>
            <p:ph idx="101" type="body" hasCustomPrompt="1"/>
          </p:nvPr>
        </p:nvSpPr>
        <p:spPr>
          <a:xfrm>
            <a:off x="685800" y="1508760"/>
            <a:ext cx="10789920" cy="4663440"/>
          </a:xfrm>
          <a:prstGeom prst="rect">
            <a:avLst/>
          </a:prstGeom>
          <a:noFill/>
          <a:ln/>
        </p:spPr>
        <p:txBody>
          <a:bodyPr wrap="square" rtlCol="0" anchor="t"/>
          <a:lstStyle/>
          <a:p>
            <a:pPr indent="0" marL="0">
              <a:buNone/>
            </a:pPr>
            <a:endParaRPr lang="en-US" sz="1700" dirty="0"/>
          </a:p>
        </p:txBody>
      </p:sp>
      <p:sp>
        <p:nvSpPr>
          <p:cNvPr id="25" name="Slide Number Placeholder 0"/>
          <p:cNvSpPr>
            <a:spLocks noGrp="1"/>
          </p:cNvSpPr>
          <p:nvPr>
            <p:ph type="sldNum" sz="quarter" idx="4294967295"/>
          </p:nvPr>
        </p:nvSpPr>
        <p:spPr>
          <a:xfrm>
            <a:off x="1152144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9A9A"/>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68680"/>
          </a:xfrm>
          <a:prstGeom prst="rect">
            <a:avLst/>
          </a:prstGeom>
          <a:noFill/>
          <a:ln/>
        </p:spPr>
        <p:txBody>
          <a:bodyPr wrap="square" rtlCol="0" anchor="ctr"/>
          <a:lstStyle/>
          <a:p>
            <a:pPr indent="0" marL="0">
              <a:buNone/>
            </a:pPr>
            <a:r>
              <a:rPr lang="en-US" sz="3200" b="1" dirty="0">
                <a:solidFill>
                  <a:schemeClr val="tx2"/>
                </a:solidFill>
              </a:rPr>
              <a:t>Ancestría genética: qué es y qué no es</a:t>
            </a:r>
            <a:endParaRPr lang="en-US" sz="3200" dirty="0"/>
          </a:p>
        </p:txBody>
      </p:sp>
      <p:sp>
        <p:nvSpPr>
          <p:cNvPr id="3" name="caja-es"/>
          <p:cNvSpPr/>
          <p:nvPr/>
        </p:nvSpPr>
        <p:spPr>
          <a:xfrm>
            <a:off x="685800" y="1691640"/>
            <a:ext cx="5120640" cy="3931920"/>
          </a:xfrm>
          <a:prstGeom prst="roundRect">
            <a:avLst>
              <a:gd name="adj" fmla="val 2326"/>
            </a:avLst>
          </a:prstGeom>
          <a:solidFill>
            <a:schemeClr val="bg2"/>
          </a:solidFill>
          <a:ln w="6350">
            <a:solidFill>
              <a:srgbClr val="E2E2DE"/>
            </a:solidFill>
            <a:prstDash val="solid"/>
          </a:ln>
        </p:spPr>
      </p:sp>
      <p:sp>
        <p:nvSpPr>
          <p:cNvPr id="4" name="Text 2"/>
          <p:cNvSpPr txBox="1"/>
          <p:nvPr/>
        </p:nvSpPr>
        <p:spPr>
          <a:xfrm>
            <a:off x="960120" y="1920240"/>
            <a:ext cx="4572000" cy="457200"/>
          </a:xfrm>
          <a:prstGeom prst="rect">
            <a:avLst/>
          </a:prstGeom>
          <a:noFill/>
          <a:ln/>
        </p:spPr>
        <p:txBody>
          <a:bodyPr wrap="square" lIns="0" tIns="0" rIns="0" bIns="0" rtlCol="0" anchor="ctr"/>
          <a:lstStyle/>
          <a:p>
            <a:pPr indent="0" marL="0">
              <a:buNone/>
            </a:pPr>
            <a:r>
              <a:rPr lang="en-US" sz="2000" b="1" dirty="0">
                <a:solidFill>
                  <a:schemeClr val="accent3"/>
                </a:solidFill>
              </a:rPr>
              <a:t>Qué sí es</a:t>
            </a:r>
            <a:endParaRPr lang="en-US" sz="2000" dirty="0"/>
          </a:p>
        </p:txBody>
      </p:sp>
      <p:sp>
        <p:nvSpPr>
          <p:cNvPr id="5" name="Text 3"/>
          <p:cNvSpPr txBox="1"/>
          <p:nvPr/>
        </p:nvSpPr>
        <p:spPr>
          <a:xfrm>
            <a:off x="960120" y="2468880"/>
            <a:ext cx="4572000" cy="2926080"/>
          </a:xfrm>
          <a:prstGeom prst="rect">
            <a:avLst/>
          </a:prstGeom>
          <a:noFill/>
          <a:ln/>
        </p:spPr>
        <p:txBody>
          <a:bodyPr wrap="square" rtlCol="0" anchor="t"/>
          <a:lstStyle/>
          <a:p>
            <a:pPr marL="342900" indent="-342900">
              <a:spcAft>
                <a:spcPts val="800"/>
              </a:spcAft>
              <a:buSzPct val="100000"/>
              <a:buChar char="•"/>
            </a:pPr>
            <a:r>
              <a:rPr lang="en-US" sz="1500" dirty="0">
                <a:solidFill>
                  <a:schemeClr val="tx1"/>
                </a:solidFill>
              </a:rPr>
              <a:t>Una estimación estadística de qué proporción del genoma de una persona se parece más a unas poblaciones de referencia que a otras.</a:t>
            </a:r>
            <a:endParaRPr lang="en-US" sz="1500" dirty="0"/>
          </a:p>
          <a:p>
            <a:pPr marL="342900" indent="-342900">
              <a:spcAft>
                <a:spcPts val="800"/>
              </a:spcAft>
              <a:buSzPct val="100000"/>
              <a:buChar char="•"/>
            </a:pPr>
            <a:r>
              <a:rPr lang="en-US" sz="1500" dirty="0">
                <a:solidFill>
                  <a:schemeClr val="tx1"/>
                </a:solidFill>
              </a:rPr>
              <a:t>Un número continuo, no una categoría.</a:t>
            </a:r>
            <a:endParaRPr lang="en-US" sz="1500" dirty="0"/>
          </a:p>
          <a:p>
            <a:pPr marL="342900" indent="-342900">
              <a:spcAft>
                <a:spcPts val="800"/>
              </a:spcAft>
              <a:buSzPct val="100000"/>
              <a:buChar char="•"/>
            </a:pPr>
            <a:r>
              <a:rPr lang="en-US" sz="1500" dirty="0">
                <a:solidFill>
                  <a:schemeClr val="tx1"/>
                </a:solidFill>
              </a:rPr>
              <a:t>Algo que depende por completo de qué referencias elegimos.</a:t>
            </a:r>
            <a:endParaRPr lang="en-US" sz="1500" dirty="0"/>
          </a:p>
          <a:p>
            <a:pPr marL="342900" indent="-342900">
              <a:spcAft>
                <a:spcPts val="800"/>
              </a:spcAft>
              <a:buSzPct val="100000"/>
              <a:buChar char="•"/>
            </a:pPr>
            <a:r>
              <a:rPr lang="en-US" sz="1500" dirty="0">
                <a:solidFill>
                  <a:schemeClr val="tx1"/>
                </a:solidFill>
              </a:rPr>
              <a:t>Una variable útil para controlar confusión en estudios genéticos.</a:t>
            </a:r>
            <a:endParaRPr lang="en-US" sz="1500" dirty="0"/>
          </a:p>
        </p:txBody>
      </p:sp>
      <p:sp>
        <p:nvSpPr>
          <p:cNvPr id="6" name="caja-noes"/>
          <p:cNvSpPr/>
          <p:nvPr/>
        </p:nvSpPr>
        <p:spPr>
          <a:xfrm>
            <a:off x="6355080" y="1691640"/>
            <a:ext cx="5120640" cy="3931920"/>
          </a:xfrm>
          <a:prstGeom prst="roundRect">
            <a:avLst>
              <a:gd name="adj" fmla="val 2326"/>
            </a:avLst>
          </a:prstGeom>
          <a:solidFill>
            <a:schemeClr val="bg2"/>
          </a:solidFill>
          <a:ln w="6350">
            <a:solidFill>
              <a:srgbClr val="E2E2DE"/>
            </a:solidFill>
            <a:prstDash val="solid"/>
          </a:ln>
        </p:spPr>
      </p:sp>
      <p:sp>
        <p:nvSpPr>
          <p:cNvPr id="7" name="Text 5"/>
          <p:cNvSpPr txBox="1"/>
          <p:nvPr/>
        </p:nvSpPr>
        <p:spPr>
          <a:xfrm>
            <a:off x="6629400" y="1920240"/>
            <a:ext cx="4572000" cy="457200"/>
          </a:xfrm>
          <a:prstGeom prst="rect">
            <a:avLst/>
          </a:prstGeom>
          <a:noFill/>
          <a:ln/>
        </p:spPr>
        <p:txBody>
          <a:bodyPr wrap="square" lIns="0" tIns="0" rIns="0" bIns="0" rtlCol="0" anchor="ctr"/>
          <a:lstStyle/>
          <a:p>
            <a:pPr indent="0" marL="0">
              <a:buNone/>
            </a:pPr>
            <a:r>
              <a:rPr lang="en-US" sz="2000" b="1" dirty="0">
                <a:solidFill>
                  <a:schemeClr val="accent2"/>
                </a:solidFill>
              </a:rPr>
              <a:t>Qué no es</a:t>
            </a:r>
            <a:endParaRPr lang="en-US" sz="2000" dirty="0"/>
          </a:p>
        </p:txBody>
      </p:sp>
      <p:sp>
        <p:nvSpPr>
          <p:cNvPr id="8" name="Text 6"/>
          <p:cNvSpPr txBox="1"/>
          <p:nvPr/>
        </p:nvSpPr>
        <p:spPr>
          <a:xfrm>
            <a:off x="6629400" y="2468880"/>
            <a:ext cx="4572000" cy="2926080"/>
          </a:xfrm>
          <a:prstGeom prst="rect">
            <a:avLst/>
          </a:prstGeom>
          <a:noFill/>
          <a:ln/>
        </p:spPr>
        <p:txBody>
          <a:bodyPr wrap="square" rtlCol="0" anchor="t"/>
          <a:lstStyle/>
          <a:p>
            <a:pPr marL="342900" indent="-342900">
              <a:spcAft>
                <a:spcPts val="800"/>
              </a:spcAft>
              <a:buSzPct val="100000"/>
              <a:buChar char="•"/>
            </a:pPr>
            <a:r>
              <a:rPr lang="en-US" sz="1500" dirty="0">
                <a:solidFill>
                  <a:schemeClr val="tx1"/>
                </a:solidFill>
              </a:rPr>
              <a:t>No es raza: las categorías raciales son construcciones sociales y no se corresponden con la variación genética.</a:t>
            </a:r>
            <a:endParaRPr lang="en-US" sz="1500" dirty="0"/>
          </a:p>
          <a:p>
            <a:pPr marL="342900" indent="-342900">
              <a:spcAft>
                <a:spcPts val="800"/>
              </a:spcAft>
              <a:buSzPct val="100000"/>
              <a:buChar char="•"/>
            </a:pPr>
            <a:r>
              <a:rPr lang="en-US" sz="1500" dirty="0">
                <a:solidFill>
                  <a:schemeClr val="tx1"/>
                </a:solidFill>
              </a:rPr>
              <a:t>No es nacionalidad ni identidad: una persona puede sentirse de un lugar y tener otra composición genética.</a:t>
            </a:r>
            <a:endParaRPr lang="en-US" sz="1500" dirty="0"/>
          </a:p>
          <a:p>
            <a:pPr marL="342900" indent="-342900">
              <a:spcAft>
                <a:spcPts val="800"/>
              </a:spcAft>
              <a:buSzPct val="100000"/>
              <a:buChar char="•"/>
            </a:pPr>
            <a:r>
              <a:rPr lang="en-US" sz="1500" dirty="0">
                <a:solidFill>
                  <a:schemeClr val="tx1"/>
                </a:solidFill>
              </a:rPr>
              <a:t>No es un árbol genealógico: no dice de qué personas desciende, sino a qué poblaciones se parece.</a:t>
            </a:r>
            <a:endParaRPr lang="en-US" sz="1500" dirty="0"/>
          </a:p>
        </p:txBody>
      </p:sp>
      <p:sp>
        <p:nvSpPr>
          <p:cNvPr id="25" name="Slide Number Placeholder 0"/>
          <p:cNvSpPr>
            <a:spLocks noGrp="1"/>
          </p:cNvSpPr>
          <p:nvPr>
            <p:ph type="sldNum" sz="quarter" idx="4294967295"/>
          </p:nvPr>
        </p:nvSpPr>
        <p:spPr>
          <a:xfrm>
            <a:off x="1152144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9A9A"/>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68680"/>
          </a:xfrm>
          <a:prstGeom prst="rect">
            <a:avLst/>
          </a:prstGeom>
          <a:noFill/>
          <a:ln/>
        </p:spPr>
        <p:txBody>
          <a:bodyPr wrap="square" rtlCol="0" anchor="ctr"/>
          <a:lstStyle/>
          <a:p>
            <a:pPr indent="0" marL="0">
              <a:buNone/>
            </a:pPr>
            <a:r>
              <a:rPr lang="en-US" sz="3200" b="1" dirty="0">
                <a:solidFill>
                  <a:schemeClr val="tx2"/>
                </a:solidFill>
              </a:rPr>
              <a:t>Dos preguntas distintas: global y local</a:t>
            </a:r>
            <a:endParaRPr lang="en-US" sz="3200" dirty="0"/>
          </a:p>
        </p:txBody>
      </p:sp>
      <p:sp>
        <p:nvSpPr>
          <p:cNvPr id="3" name="caja-global"/>
          <p:cNvSpPr/>
          <p:nvPr/>
        </p:nvSpPr>
        <p:spPr>
          <a:xfrm>
            <a:off x="685800" y="1737360"/>
            <a:ext cx="5120640" cy="3291840"/>
          </a:xfrm>
          <a:prstGeom prst="roundRect">
            <a:avLst>
              <a:gd name="adj" fmla="val 2778"/>
            </a:avLst>
          </a:prstGeom>
          <a:solidFill>
            <a:schemeClr val="bg2"/>
          </a:solidFill>
          <a:ln w="6350">
            <a:solidFill>
              <a:srgbClr val="E2E2DE"/>
            </a:solidFill>
            <a:prstDash val="solid"/>
          </a:ln>
        </p:spPr>
      </p:sp>
      <p:sp>
        <p:nvSpPr>
          <p:cNvPr id="4" name="Text 2"/>
          <p:cNvSpPr txBox="1"/>
          <p:nvPr/>
        </p:nvSpPr>
        <p:spPr>
          <a:xfrm>
            <a:off x="960120" y="1965960"/>
            <a:ext cx="4572000" cy="457200"/>
          </a:xfrm>
          <a:prstGeom prst="rect">
            <a:avLst/>
          </a:prstGeom>
          <a:noFill/>
          <a:ln/>
        </p:spPr>
        <p:txBody>
          <a:bodyPr wrap="square" lIns="0" tIns="0" rIns="0" bIns="0" rtlCol="0" anchor="ctr"/>
          <a:lstStyle/>
          <a:p>
            <a:pPr indent="0" marL="0">
              <a:buNone/>
            </a:pPr>
            <a:r>
              <a:rPr lang="en-US" sz="2100" b="1" dirty="0">
                <a:solidFill>
                  <a:schemeClr val="accent1"/>
                </a:solidFill>
              </a:rPr>
              <a:t>Ancestría global</a:t>
            </a:r>
            <a:endParaRPr lang="en-US" sz="2100" dirty="0"/>
          </a:p>
        </p:txBody>
      </p:sp>
      <p:sp>
        <p:nvSpPr>
          <p:cNvPr id="5" name="Text 3"/>
          <p:cNvSpPr txBox="1"/>
          <p:nvPr/>
        </p:nvSpPr>
        <p:spPr>
          <a:xfrm>
            <a:off x="960120" y="2514600"/>
            <a:ext cx="4572000" cy="2286000"/>
          </a:xfrm>
          <a:prstGeom prst="rect">
            <a:avLst/>
          </a:prstGeom>
          <a:noFill/>
          <a:ln/>
        </p:spPr>
        <p:txBody>
          <a:bodyPr wrap="square" rtlCol="0" anchor="t"/>
          <a:lstStyle/>
          <a:p>
            <a:pPr indent="0" marL="0">
              <a:buNone/>
            </a:pPr>
            <a:r>
              <a:rPr lang="en-US" sz="1500" dirty="0">
                <a:solidFill>
                  <a:schemeClr val="tx1"/>
                </a:solidFill>
              </a:rPr>
              <a:t>¿Qué proporción del genoma de esta persona viene de cada población ancestral?</a:t>
            </a:r>
            <a:endParaRPr lang="en-US" sz="1500" dirty="0"/>
          </a:p>
          <a:p>
            <a:pPr indent="0" marL="0">
              <a:buNone/>
            </a:pPr>
            <a:endParaRPr lang="en-US" sz="1500" dirty="0"/>
          </a:p>
          <a:p>
            <a:pPr indent="0" marL="0">
              <a:buNone/>
            </a:pPr>
            <a:r>
              <a:rPr lang="en-US" sz="1500" dirty="0">
                <a:solidFill>
                  <a:schemeClr val="tx1"/>
                </a:solidFill>
              </a:rPr>
              <a:t>Un número por persona y por componente. Lo veremos con PCA y ADMIXTURE en el módulo 2 y la sesión 2.</a:t>
            </a:r>
            <a:endParaRPr lang="en-US" sz="1500" dirty="0"/>
          </a:p>
        </p:txBody>
      </p:sp>
      <p:sp>
        <p:nvSpPr>
          <p:cNvPr id="6" name="caja-local"/>
          <p:cNvSpPr/>
          <p:nvPr/>
        </p:nvSpPr>
        <p:spPr>
          <a:xfrm>
            <a:off x="6355080" y="1737360"/>
            <a:ext cx="5120640" cy="3291840"/>
          </a:xfrm>
          <a:prstGeom prst="roundRect">
            <a:avLst>
              <a:gd name="adj" fmla="val 2778"/>
            </a:avLst>
          </a:prstGeom>
          <a:solidFill>
            <a:schemeClr val="bg2"/>
          </a:solidFill>
          <a:ln w="6350">
            <a:solidFill>
              <a:srgbClr val="E2E2DE"/>
            </a:solidFill>
            <a:prstDash val="solid"/>
          </a:ln>
        </p:spPr>
      </p:sp>
      <p:sp>
        <p:nvSpPr>
          <p:cNvPr id="7" name="Text 5"/>
          <p:cNvSpPr txBox="1"/>
          <p:nvPr/>
        </p:nvSpPr>
        <p:spPr>
          <a:xfrm>
            <a:off x="6629400" y="1965960"/>
            <a:ext cx="4572000" cy="457200"/>
          </a:xfrm>
          <a:prstGeom prst="rect">
            <a:avLst/>
          </a:prstGeom>
          <a:noFill/>
          <a:ln/>
        </p:spPr>
        <p:txBody>
          <a:bodyPr wrap="square" lIns="0" tIns="0" rIns="0" bIns="0" rtlCol="0" anchor="ctr"/>
          <a:lstStyle/>
          <a:p>
            <a:pPr indent="0" marL="0">
              <a:buNone/>
            </a:pPr>
            <a:r>
              <a:rPr lang="en-US" sz="2100" b="1" dirty="0">
                <a:solidFill>
                  <a:schemeClr val="accent3"/>
                </a:solidFill>
              </a:rPr>
              <a:t>Ancestría local</a:t>
            </a:r>
            <a:endParaRPr lang="en-US" sz="2100" dirty="0"/>
          </a:p>
        </p:txBody>
      </p:sp>
      <p:sp>
        <p:nvSpPr>
          <p:cNvPr id="8" name="Text 6"/>
          <p:cNvSpPr txBox="1"/>
          <p:nvPr/>
        </p:nvSpPr>
        <p:spPr>
          <a:xfrm>
            <a:off x="6629400" y="2514600"/>
            <a:ext cx="4572000" cy="2286000"/>
          </a:xfrm>
          <a:prstGeom prst="rect">
            <a:avLst/>
          </a:prstGeom>
          <a:noFill/>
          <a:ln/>
        </p:spPr>
        <p:txBody>
          <a:bodyPr wrap="square" rtlCol="0" anchor="t"/>
          <a:lstStyle/>
          <a:p>
            <a:pPr indent="0" marL="0">
              <a:buNone/>
            </a:pPr>
            <a:r>
              <a:rPr lang="en-US" sz="1500" dirty="0">
                <a:solidFill>
                  <a:schemeClr val="tx1"/>
                </a:solidFill>
              </a:rPr>
              <a:t>¿De qué población viene cada tramo de cada cromosoma de esta persona?</a:t>
            </a:r>
            <a:endParaRPr lang="en-US" sz="1500" dirty="0"/>
          </a:p>
          <a:p>
            <a:pPr indent="0" marL="0">
              <a:buNone/>
            </a:pPr>
            <a:endParaRPr lang="en-US" sz="1500" dirty="0"/>
          </a:p>
          <a:p>
            <a:pPr indent="0" marL="0">
              <a:buNone/>
            </a:pPr>
            <a:r>
              <a:rPr lang="en-US" sz="1500" dirty="0">
                <a:solidFill>
                  <a:schemeClr val="tx1"/>
                </a:solidFill>
              </a:rPr>
              <a:t>Un mosaico por cada uno de sus dos juegos de cromosomas. Lo veremos con RFMix en el módulo 3 y la sesión 3.</a:t>
            </a:r>
            <a:endParaRPr lang="en-US" sz="1500" dirty="0"/>
          </a:p>
        </p:txBody>
      </p:sp>
      <p:sp>
        <p:nvSpPr>
          <p:cNvPr id="9" name="Text 7"/>
          <p:cNvSpPr txBox="1"/>
          <p:nvPr/>
        </p:nvSpPr>
        <p:spPr>
          <a:xfrm>
            <a:off x="685800" y="5212080"/>
            <a:ext cx="10789920" cy="914400"/>
          </a:xfrm>
          <a:prstGeom prst="rect">
            <a:avLst/>
          </a:prstGeom>
          <a:noFill/>
          <a:ln/>
        </p:spPr>
        <p:txBody>
          <a:bodyPr wrap="square" rtlCol="0" anchor="t"/>
          <a:lstStyle/>
          <a:p>
            <a:pPr indent="0" marL="0">
              <a:buNone/>
            </a:pPr>
            <a:r>
              <a:rPr lang="en-US" sz="1600" i="1" dirty="0">
                <a:solidFill>
                  <a:schemeClr val="tx2"/>
                </a:solidFill>
              </a:rPr>
              <a:t>La global es el promedio de la local. Pero el promedio esconde justo lo que importa en clínica: saber que alguien tiene 7 % de ancestría africana no dice si esa ancestría está, o no, en el gen que te interesa.</a:t>
            </a:r>
            <a:endParaRPr lang="en-US" sz="1600" dirty="0"/>
          </a:p>
        </p:txBody>
      </p:sp>
      <p:sp>
        <p:nvSpPr>
          <p:cNvPr id="25" name="Slide Number Placeholder 0"/>
          <p:cNvSpPr>
            <a:spLocks noGrp="1"/>
          </p:cNvSpPr>
          <p:nvPr>
            <p:ph type="sldNum" sz="quarter" idx="4294967295"/>
          </p:nvPr>
        </p:nvSpPr>
        <p:spPr>
          <a:xfrm>
            <a:off x="1152144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9A9A"/>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68680"/>
          </a:xfrm>
          <a:prstGeom prst="rect">
            <a:avLst/>
          </a:prstGeom>
          <a:noFill/>
          <a:ln/>
        </p:spPr>
        <p:txBody>
          <a:bodyPr wrap="square" rtlCol="0" anchor="ctr"/>
          <a:lstStyle/>
          <a:p>
            <a:pPr indent="0" marL="0">
              <a:buNone/>
            </a:pPr>
            <a:r>
              <a:rPr lang="en-US" sz="3200" b="1" dirty="0">
                <a:solidFill>
                  <a:schemeClr val="tx2"/>
                </a:solidFill>
              </a:rPr>
              <a:t>Para la sesión 1 del sábado</a:t>
            </a:r>
            <a:endParaRPr lang="en-US" sz="3200" dirty="0"/>
          </a:p>
        </p:txBody>
      </p:sp>
      <p:sp>
        <p:nvSpPr>
          <p:cNvPr id="3" name="Text 1"/>
          <p:cNvSpPr txBox="1"/>
          <p:nvPr/>
        </p:nvSpPr>
        <p:spPr>
          <a:xfrm>
            <a:off x="685800" y="1508760"/>
            <a:ext cx="10789920" cy="4572000"/>
          </a:xfrm>
          <a:prstGeom prst="rect">
            <a:avLst/>
          </a:prstGeom>
          <a:noFill/>
          <a:ln/>
        </p:spPr>
        <p:txBody>
          <a:bodyPr wrap="square" rtlCol="0" anchor="t"/>
          <a:lstStyle/>
          <a:p>
            <a:pPr marL="342900" indent="-342900">
              <a:spcAft>
                <a:spcPts val="1000"/>
              </a:spcAft>
              <a:buSzPct val="100000"/>
              <a:buChar char="•"/>
            </a:pPr>
            <a:r>
              <a:rPr lang="en-US" sz="1700" dirty="0">
                <a:solidFill>
                  <a:schemeClr val="tx1"/>
                </a:solidFill>
              </a:rPr>
              <a:t>Vamos a trabajar con 969 personas de 15 poblaciones del Proyecto 1000 Genomas y del HGDP.</a:t>
            </a:r>
            <a:endParaRPr lang="en-US" sz="1700" dirty="0"/>
          </a:p>
          <a:p>
            <a:pPr marL="342900" indent="-342900">
              <a:spcAft>
                <a:spcPts val="1000"/>
              </a:spcAft>
              <a:buSzPct val="100000"/>
              <a:buChar char="•"/>
            </a:pPr>
            <a:r>
              <a:rPr lang="en-US" sz="1700" dirty="0">
                <a:solidFill>
                  <a:schemeClr val="tx1"/>
                </a:solidFill>
              </a:rPr>
              <a:t>Veremos por dentro un archivo VCF y los archivos .bed, .bim y .fam de PLINK.</a:t>
            </a:r>
            <a:endParaRPr lang="en-US" sz="1700" dirty="0"/>
          </a:p>
          <a:p>
            <a:pPr marL="342900" indent="-342900">
              <a:spcAft>
                <a:spcPts val="1000"/>
              </a:spcAft>
              <a:buSzPct val="100000"/>
              <a:buChar char="•"/>
            </a:pPr>
            <a:r>
              <a:rPr lang="en-US" sz="1700" dirty="0">
                <a:solidFill>
                  <a:schemeClr val="tx1"/>
                </a:solidFill>
              </a:rPr>
              <a:t>Aplicaremos los filtros de calidad y la poda por LD de la que hablamos hoy.</a:t>
            </a:r>
            <a:endParaRPr lang="en-US" sz="1700" dirty="0"/>
          </a:p>
          <a:p>
            <a:pPr marL="342900" indent="-342900">
              <a:spcAft>
                <a:spcPts val="1000"/>
              </a:spcAft>
              <a:buSzPct val="100000"/>
              <a:buChar char="•"/>
            </a:pPr>
            <a:r>
              <a:rPr lang="en-US" sz="1700" dirty="0">
                <a:solidFill>
                  <a:schemeClr val="tx1"/>
                </a:solidFill>
              </a:rPr>
              <a:t>Todo corre en el navegador con Google Colab. Solo necesitas una cuenta de Google.</a:t>
            </a:r>
            <a:endParaRPr lang="en-US" sz="1700" dirty="0"/>
          </a:p>
        </p:txBody>
      </p:sp>
      <p:sp>
        <p:nvSpPr>
          <p:cNvPr id="4" name="caja-lecturas"/>
          <p:cNvSpPr/>
          <p:nvPr/>
        </p:nvSpPr>
        <p:spPr>
          <a:xfrm>
            <a:off x="685800" y="4206240"/>
            <a:ext cx="10789920" cy="1737360"/>
          </a:xfrm>
          <a:prstGeom prst="roundRect">
            <a:avLst>
              <a:gd name="adj" fmla="val 5263"/>
            </a:avLst>
          </a:prstGeom>
          <a:solidFill>
            <a:schemeClr val="bg2"/>
          </a:solidFill>
          <a:ln w="6350">
            <a:solidFill>
              <a:srgbClr val="E2E2DE"/>
            </a:solidFill>
            <a:prstDash val="solid"/>
          </a:ln>
        </p:spPr>
      </p:sp>
      <p:sp>
        <p:nvSpPr>
          <p:cNvPr id="5" name="Text 3"/>
          <p:cNvSpPr txBox="1"/>
          <p:nvPr/>
        </p:nvSpPr>
        <p:spPr>
          <a:xfrm>
            <a:off x="960120" y="4370832"/>
            <a:ext cx="10241280" cy="365760"/>
          </a:xfrm>
          <a:prstGeom prst="rect">
            <a:avLst/>
          </a:prstGeom>
          <a:noFill/>
          <a:ln/>
        </p:spPr>
        <p:txBody>
          <a:bodyPr wrap="square" lIns="0" tIns="0" rIns="0" bIns="0" rtlCol="0" anchor="ctr"/>
          <a:lstStyle/>
          <a:p>
            <a:pPr indent="0" marL="0">
              <a:buNone/>
            </a:pPr>
            <a:r>
              <a:rPr lang="en-US" sz="1600" b="1" dirty="0">
                <a:solidFill>
                  <a:schemeClr val="tx2"/>
                </a:solidFill>
              </a:rPr>
              <a:t>Lecturas de este módulo</a:t>
            </a:r>
            <a:endParaRPr lang="en-US" sz="1600" dirty="0"/>
          </a:p>
        </p:txBody>
      </p:sp>
      <p:sp>
        <p:nvSpPr>
          <p:cNvPr id="6" name="Text 4"/>
          <p:cNvSpPr txBox="1"/>
          <p:nvPr/>
        </p:nvSpPr>
        <p:spPr>
          <a:xfrm>
            <a:off x="960120" y="4754880"/>
            <a:ext cx="10241280" cy="1097280"/>
          </a:xfrm>
          <a:prstGeom prst="rect">
            <a:avLst/>
          </a:prstGeom>
          <a:noFill/>
          <a:ln/>
        </p:spPr>
        <p:txBody>
          <a:bodyPr wrap="square" rtlCol="0" anchor="t"/>
          <a:lstStyle/>
          <a:p>
            <a:pPr marL="342900" indent="-342900">
              <a:spcAft>
                <a:spcPts val="400"/>
              </a:spcAft>
              <a:buSzPct val="100000"/>
              <a:buChar char="•"/>
            </a:pPr>
            <a:r>
              <a:rPr lang="en-US" sz="1300" dirty="0">
                <a:solidFill>
                  <a:schemeClr val="tx1"/>
                </a:solidFill>
              </a:rPr>
              <a:t>Rishishwar et al. Ancestry, admixture and fitness in Colombian genomes. Sci Rep 2015;5:12376 (principal)</a:t>
            </a:r>
            <a:endParaRPr lang="en-US" sz="1300" dirty="0"/>
          </a:p>
          <a:p>
            <a:pPr marL="342900" indent="-342900">
              <a:spcAft>
                <a:spcPts val="400"/>
              </a:spcAft>
              <a:buSzPct val="100000"/>
              <a:buChar char="•"/>
            </a:pPr>
            <a:r>
              <a:rPr lang="en-US" sz="1300" dirty="0">
                <a:solidFill>
                  <a:schemeClr val="tx1"/>
                </a:solidFill>
              </a:rPr>
              <a:t>1000 Genomes Project Consortium. A global reference for human genetic variation. Nature 2015;526:68–74</a:t>
            </a:r>
            <a:endParaRPr lang="en-US" sz="1300" dirty="0"/>
          </a:p>
          <a:p>
            <a:pPr marL="342900" indent="-342900">
              <a:spcAft>
                <a:spcPts val="400"/>
              </a:spcAft>
              <a:buSzPct val="100000"/>
              <a:buChar char="•"/>
            </a:pPr>
            <a:r>
              <a:rPr lang="en-US" sz="1300" dirty="0">
                <a:solidFill>
                  <a:schemeClr val="tx1"/>
                </a:solidFill>
              </a:rPr>
              <a:t>Bergström et al. Insights into human genetic variation... Science 2020;367:eaay5012</a:t>
            </a:r>
            <a:endParaRPr lang="en-US" sz="1300" dirty="0"/>
          </a:p>
        </p:txBody>
      </p:sp>
      <p:sp>
        <p:nvSpPr>
          <p:cNvPr id="8" name="Text 0"/>
          <p:cNvSpPr/>
          <p:nvPr>
            <p:ph idx="101" type="body" hasCustomPrompt="1"/>
          </p:nvPr>
        </p:nvSpPr>
        <p:spPr>
          <a:xfrm>
            <a:off x="685800" y="1508760"/>
            <a:ext cx="10789920" cy="4663440"/>
          </a:xfrm>
          <a:prstGeom prst="rect">
            <a:avLst/>
          </a:prstGeom>
          <a:noFill/>
          <a:ln/>
        </p:spPr>
        <p:txBody>
          <a:bodyPr wrap="square" rtlCol="0" anchor="t"/>
          <a:lstStyle/>
          <a:p>
            <a:pPr indent="0" marL="0">
              <a:buNone/>
            </a:pPr>
            <a:endParaRPr lang="en-US" sz="1700" dirty="0"/>
          </a:p>
        </p:txBody>
      </p:sp>
      <p:sp>
        <p:nvSpPr>
          <p:cNvPr id="25" name="Slide Number Placeholder 0"/>
          <p:cNvSpPr>
            <a:spLocks noGrp="1"/>
          </p:cNvSpPr>
          <p:nvPr>
            <p:ph type="sldNum" sz="quarter" idx="4294967295"/>
          </p:nvPr>
        </p:nvSpPr>
        <p:spPr>
          <a:xfrm>
            <a:off x="1152144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9A9A"/>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914400" y="2560320"/>
            <a:ext cx="10332720" cy="1280160"/>
          </a:xfrm>
          <a:prstGeom prst="rect">
            <a:avLst/>
          </a:prstGeom>
          <a:noFill/>
          <a:ln/>
        </p:spPr>
        <p:txBody>
          <a:bodyPr wrap="square" rtlCol="0" anchor="b"/>
          <a:lstStyle/>
          <a:p>
            <a:pPr indent="0" marL="0">
              <a:buNone/>
            </a:pPr>
            <a:r>
              <a:rPr lang="en-US" sz="3600" b="1" dirty="0">
                <a:solidFill>
                  <a:schemeClr val="bg1"/>
                </a:solidFill>
              </a:rPr>
              <a:t>Módulo 2. Ancestría global</a:t>
            </a:r>
            <a:endParaRPr lang="en-US" sz="3600" dirty="0"/>
          </a:p>
        </p:txBody>
      </p:sp>
      <p:sp>
        <p:nvSpPr>
          <p:cNvPr id="3" name="Text 0"/>
          <p:cNvSpPr/>
          <p:nvPr>
            <p:ph idx="101" type="body" hasCustomPrompt="1"/>
          </p:nvPr>
        </p:nvSpPr>
        <p:spPr>
          <a:xfrm>
            <a:off x="914400" y="3886200"/>
            <a:ext cx="10332720" cy="1188720"/>
          </a:xfrm>
          <a:prstGeom prst="rect">
            <a:avLst/>
          </a:prstGeom>
          <a:noFill/>
          <a:ln/>
        </p:spPr>
        <p:txBody>
          <a:bodyPr wrap="square" rtlCol="0" anchor="t"/>
          <a:lstStyle/>
          <a:p>
            <a:pPr indent="0" marL="0">
              <a:buNone/>
            </a:pPr>
            <a:r>
              <a:rPr lang="en-US" sz="1700" dirty="0">
                <a:solidFill>
                  <a:srgbClr val="C3C2B7"/>
                </a:solidFill>
              </a:rPr>
              <a:t>Antes de la sesión 2 · PCA, métodos de clustering, ADMIXTURE e interpretación de los componentes</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68680"/>
          </a:xfrm>
          <a:prstGeom prst="rect">
            <a:avLst/>
          </a:prstGeom>
          <a:noFill/>
          <a:ln/>
        </p:spPr>
        <p:txBody>
          <a:bodyPr wrap="square" rtlCol="0" anchor="ctr"/>
          <a:lstStyle/>
          <a:p>
            <a:pPr indent="0" marL="0">
              <a:buNone/>
            </a:pPr>
            <a:r>
              <a:rPr lang="en-US" sz="3200" b="1" dirty="0">
                <a:solidFill>
                  <a:schemeClr val="tx2"/>
                </a:solidFill>
              </a:rPr>
              <a:t>El problema: 60.000 variantes por persona</a:t>
            </a:r>
            <a:endParaRPr lang="en-US" sz="3200" dirty="0"/>
          </a:p>
        </p:txBody>
      </p:sp>
      <p:sp>
        <p:nvSpPr>
          <p:cNvPr id="3" name="Text 1"/>
          <p:cNvSpPr txBox="1"/>
          <p:nvPr/>
        </p:nvSpPr>
        <p:spPr>
          <a:xfrm>
            <a:off x="685800" y="1508760"/>
            <a:ext cx="10789920" cy="4572000"/>
          </a:xfrm>
          <a:prstGeom prst="rect">
            <a:avLst/>
          </a:prstGeom>
          <a:noFill/>
          <a:ln/>
        </p:spPr>
        <p:txBody>
          <a:bodyPr wrap="square" rtlCol="0" anchor="t"/>
          <a:lstStyle/>
          <a:p>
            <a:pPr marL="342900" indent="-342900">
              <a:spcAft>
                <a:spcPts val="1000"/>
              </a:spcAft>
              <a:buSzPct val="100000"/>
              <a:buChar char="•"/>
            </a:pPr>
            <a:r>
              <a:rPr lang="en-US" sz="1700" dirty="0">
                <a:solidFill>
                  <a:schemeClr val="tx1"/>
                </a:solidFill>
              </a:rPr>
              <a:t>Después del control de calidad nos quedan decenas de miles de variantes en cada una de las 969 personas.</a:t>
            </a:r>
            <a:endParaRPr lang="en-US" sz="1700" dirty="0"/>
          </a:p>
          <a:p>
            <a:pPr marL="342900" indent="-342900">
              <a:spcAft>
                <a:spcPts val="1000"/>
              </a:spcAft>
              <a:buSzPct val="100000"/>
              <a:buChar char="•"/>
            </a:pPr>
            <a:r>
              <a:rPr lang="en-US" sz="1700" dirty="0">
                <a:solidFill>
                  <a:schemeClr val="tx1"/>
                </a:solidFill>
              </a:rPr>
              <a:t>Nadie puede mirar esa tabla y ver estructura poblacional. Hace falta resumirla.</a:t>
            </a:r>
            <a:endParaRPr lang="en-US" sz="1700" dirty="0"/>
          </a:p>
          <a:p>
            <a:pPr marL="342900" indent="-342900">
              <a:spcAft>
                <a:spcPts val="1000"/>
              </a:spcAft>
              <a:buSzPct val="100000"/>
              <a:buChar char="•"/>
            </a:pPr>
            <a:r>
              <a:rPr lang="en-US" sz="1700" dirty="0">
                <a:solidFill>
                  <a:schemeClr val="tx1"/>
                </a:solidFill>
              </a:rPr>
              <a:t>Hay dos familias de métodos, y conviene usar las dos porque responden cosas distintas.</a:t>
            </a:r>
            <a:endParaRPr lang="en-US" sz="1700" dirty="0"/>
          </a:p>
        </p:txBody>
      </p:sp>
      <p:sp>
        <p:nvSpPr>
          <p:cNvPr id="4" name="caja-pca"/>
          <p:cNvSpPr/>
          <p:nvPr/>
        </p:nvSpPr>
        <p:spPr>
          <a:xfrm>
            <a:off x="685800" y="3657600"/>
            <a:ext cx="5120640" cy="2103120"/>
          </a:xfrm>
          <a:prstGeom prst="roundRect">
            <a:avLst>
              <a:gd name="adj" fmla="val 4348"/>
            </a:avLst>
          </a:prstGeom>
          <a:solidFill>
            <a:schemeClr val="bg2"/>
          </a:solidFill>
          <a:ln w="6350">
            <a:solidFill>
              <a:srgbClr val="E2E2DE"/>
            </a:solidFill>
            <a:prstDash val="solid"/>
          </a:ln>
        </p:spPr>
      </p:sp>
      <p:sp>
        <p:nvSpPr>
          <p:cNvPr id="5" name="Text 3"/>
          <p:cNvSpPr txBox="1"/>
          <p:nvPr/>
        </p:nvSpPr>
        <p:spPr>
          <a:xfrm>
            <a:off x="960120" y="3840480"/>
            <a:ext cx="4572000" cy="411480"/>
          </a:xfrm>
          <a:prstGeom prst="rect">
            <a:avLst/>
          </a:prstGeom>
          <a:noFill/>
          <a:ln/>
        </p:spPr>
        <p:txBody>
          <a:bodyPr wrap="square" lIns="0" tIns="0" rIns="0" bIns="0" rtlCol="0" anchor="ctr"/>
          <a:lstStyle/>
          <a:p>
            <a:pPr indent="0" marL="0">
              <a:buNone/>
            </a:pPr>
            <a:r>
              <a:rPr lang="en-US" sz="1900" b="1" dirty="0">
                <a:solidFill>
                  <a:schemeClr val="accent1"/>
                </a:solidFill>
              </a:rPr>
              <a:t>PCA</a:t>
            </a:r>
            <a:endParaRPr lang="en-US" sz="1900" dirty="0"/>
          </a:p>
        </p:txBody>
      </p:sp>
      <p:sp>
        <p:nvSpPr>
          <p:cNvPr id="6" name="Text 4"/>
          <p:cNvSpPr txBox="1"/>
          <p:nvPr/>
        </p:nvSpPr>
        <p:spPr>
          <a:xfrm>
            <a:off x="960120" y="4297680"/>
            <a:ext cx="4572000" cy="1280160"/>
          </a:xfrm>
          <a:prstGeom prst="rect">
            <a:avLst/>
          </a:prstGeom>
          <a:noFill/>
          <a:ln/>
        </p:spPr>
        <p:txBody>
          <a:bodyPr wrap="square" rtlCol="0" anchor="t"/>
          <a:lstStyle/>
          <a:p>
            <a:pPr indent="0" marL="0">
              <a:buNone/>
            </a:pPr>
            <a:r>
              <a:rPr lang="en-US" sz="1500" dirty="0">
                <a:solidFill>
                  <a:schemeClr val="tx1"/>
                </a:solidFill>
              </a:rPr>
              <a:t>Resume sin suponer nada. No hay que decirle cuántas poblaciones ancestrales hay. Muestra la estructura tal como está en los datos.</a:t>
            </a:r>
            <a:endParaRPr lang="en-US" sz="1500" dirty="0"/>
          </a:p>
        </p:txBody>
      </p:sp>
      <p:sp>
        <p:nvSpPr>
          <p:cNvPr id="7" name="caja-adm"/>
          <p:cNvSpPr/>
          <p:nvPr/>
        </p:nvSpPr>
        <p:spPr>
          <a:xfrm>
            <a:off x="6355080" y="3657600"/>
            <a:ext cx="5120640" cy="2103120"/>
          </a:xfrm>
          <a:prstGeom prst="roundRect">
            <a:avLst>
              <a:gd name="adj" fmla="val 4348"/>
            </a:avLst>
          </a:prstGeom>
          <a:solidFill>
            <a:schemeClr val="bg2"/>
          </a:solidFill>
          <a:ln w="6350">
            <a:solidFill>
              <a:srgbClr val="E2E2DE"/>
            </a:solidFill>
            <a:prstDash val="solid"/>
          </a:ln>
        </p:spPr>
      </p:sp>
      <p:sp>
        <p:nvSpPr>
          <p:cNvPr id="8" name="Text 6"/>
          <p:cNvSpPr txBox="1"/>
          <p:nvPr/>
        </p:nvSpPr>
        <p:spPr>
          <a:xfrm>
            <a:off x="6629400" y="3840480"/>
            <a:ext cx="4572000" cy="411480"/>
          </a:xfrm>
          <a:prstGeom prst="rect">
            <a:avLst/>
          </a:prstGeom>
          <a:noFill/>
          <a:ln/>
        </p:spPr>
        <p:txBody>
          <a:bodyPr wrap="square" lIns="0" tIns="0" rIns="0" bIns="0" rtlCol="0" anchor="ctr"/>
          <a:lstStyle/>
          <a:p>
            <a:pPr indent="0" marL="0">
              <a:buNone/>
            </a:pPr>
            <a:r>
              <a:rPr lang="en-US" sz="1900" b="1" dirty="0">
                <a:solidFill>
                  <a:schemeClr val="accent3"/>
                </a:solidFill>
              </a:rPr>
              <a:t>ADMIXTURE</a:t>
            </a:r>
            <a:endParaRPr lang="en-US" sz="1900" dirty="0"/>
          </a:p>
        </p:txBody>
      </p:sp>
      <p:sp>
        <p:nvSpPr>
          <p:cNvPr id="9" name="Text 7"/>
          <p:cNvSpPr txBox="1"/>
          <p:nvPr/>
        </p:nvSpPr>
        <p:spPr>
          <a:xfrm>
            <a:off x="6629400" y="4297680"/>
            <a:ext cx="4572000" cy="1280160"/>
          </a:xfrm>
          <a:prstGeom prst="rect">
            <a:avLst/>
          </a:prstGeom>
          <a:noFill/>
          <a:ln/>
        </p:spPr>
        <p:txBody>
          <a:bodyPr wrap="square" rtlCol="0" anchor="t"/>
          <a:lstStyle/>
          <a:p>
            <a:pPr indent="0" marL="0">
              <a:buNone/>
            </a:pPr>
            <a:r>
              <a:rPr lang="en-US" sz="1500" dirty="0">
                <a:solidFill>
                  <a:schemeClr val="tx1"/>
                </a:solidFill>
              </a:rPr>
              <a:t>Supone un modelo: K poblaciones ancestrales. A cambio, da un número interpretable: el porcentaje de cada ancestría.</a:t>
            </a:r>
            <a:endParaRPr lang="en-US" sz="1500" dirty="0"/>
          </a:p>
        </p:txBody>
      </p:sp>
      <p:sp>
        <p:nvSpPr>
          <p:cNvPr id="11" name="Text 0"/>
          <p:cNvSpPr/>
          <p:nvPr>
            <p:ph idx="101" type="body" hasCustomPrompt="1"/>
          </p:nvPr>
        </p:nvSpPr>
        <p:spPr>
          <a:xfrm>
            <a:off x="685800" y="1508760"/>
            <a:ext cx="10789920" cy="4663440"/>
          </a:xfrm>
          <a:prstGeom prst="rect">
            <a:avLst/>
          </a:prstGeom>
          <a:noFill/>
          <a:ln/>
        </p:spPr>
        <p:txBody>
          <a:bodyPr wrap="square" rtlCol="0" anchor="t"/>
          <a:lstStyle/>
          <a:p>
            <a:pPr indent="0" marL="0">
              <a:buNone/>
            </a:pPr>
            <a:endParaRPr lang="en-US" sz="1700" dirty="0"/>
          </a:p>
        </p:txBody>
      </p:sp>
      <p:sp>
        <p:nvSpPr>
          <p:cNvPr id="25" name="Slide Number Placeholder 0"/>
          <p:cNvSpPr>
            <a:spLocks noGrp="1"/>
          </p:cNvSpPr>
          <p:nvPr>
            <p:ph type="sldNum" sz="quarter" idx="4294967295"/>
          </p:nvPr>
        </p:nvSpPr>
        <p:spPr>
          <a:xfrm>
            <a:off x="1152144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9A9A"/>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68680"/>
          </a:xfrm>
          <a:prstGeom prst="rect">
            <a:avLst/>
          </a:prstGeom>
          <a:noFill/>
          <a:ln/>
        </p:spPr>
        <p:txBody>
          <a:bodyPr wrap="square" rtlCol="0" anchor="ctr"/>
          <a:lstStyle/>
          <a:p>
            <a:pPr indent="0" marL="0">
              <a:buNone/>
            </a:pPr>
            <a:r>
              <a:rPr lang="en-US" sz="3200" b="1" dirty="0">
                <a:solidFill>
                  <a:schemeClr val="tx2"/>
                </a:solidFill>
              </a:rPr>
              <a:t>PCA: buscar los ejes donde la gente más se separa</a:t>
            </a:r>
            <a:endParaRPr lang="en-US" sz="3200" dirty="0"/>
          </a:p>
        </p:txBody>
      </p:sp>
      <p:sp>
        <p:nvSpPr>
          <p:cNvPr id="3" name="Text 1"/>
          <p:cNvSpPr txBox="1"/>
          <p:nvPr/>
        </p:nvSpPr>
        <p:spPr>
          <a:xfrm>
            <a:off x="685800" y="1645920"/>
            <a:ext cx="5486400" cy="2743200"/>
          </a:xfrm>
          <a:prstGeom prst="rect">
            <a:avLst/>
          </a:prstGeom>
          <a:noFill/>
          <a:ln/>
        </p:spPr>
        <p:txBody>
          <a:bodyPr wrap="square" rtlCol="0" anchor="t"/>
          <a:lstStyle/>
          <a:p>
            <a:pPr indent="0" marL="0">
              <a:buNone/>
            </a:pPr>
            <a:r>
              <a:rPr lang="en-US" sz="1600" dirty="0">
                <a:solidFill>
                  <a:schemeClr val="tx1"/>
                </a:solidFill>
              </a:rPr>
              <a:t>La idea en una frase: entre todas las formas posibles de proyectar a las personas sobre un eje, el PCA busca aquella en la que quedan lo más separadas posible. Ese es el primer componente (PC1). El segundo hace lo mismo con lo que queda, y así sucesivamente.
</a:t>
            </a:r>
            <a:endParaRPr lang="en-US" sz="1600" dirty="0"/>
          </a:p>
          <a:p>
            <a:pPr indent="0" marL="0">
              <a:buNone/>
            </a:pPr>
            <a:r>
              <a:rPr lang="en-US" sz="1600" dirty="0">
                <a:solidFill>
                  <a:schemeClr val="tx1"/>
                </a:solidFill>
              </a:rPr>
              <a:t>No usa las etiquetas de población: no sabe de dónde es nadie. Si las personas se agrupan por continente en el gráfico, es porque esa estructura está en los genomas.</a:t>
            </a:r>
            <a:endParaRPr lang="en-US" sz="1600" dirty="0"/>
          </a:p>
        </p:txBody>
      </p:sp>
      <p:pic>
        <p:nvPicPr>
          <p:cNvPr id="4" name="figura-pca" descr="/tmp/claude-0/-home-claude/e238050a-ce3c-58bd-bb86-9554df59862c/scratchpad/figs/pca.png">    </p:cNvPr>
          <p:cNvPicPr>
            <a:picLocks noChangeAspect="1"/>
          </p:cNvPicPr>
          <p:nvPr/>
        </p:nvPicPr>
        <p:blipFill>
          <a:blip r:embed="rId1"/>
          <a:stretch>
            <a:fillRect/>
          </a:stretch>
        </p:blipFill>
        <p:spPr>
          <a:xfrm>
            <a:off x="6583680" y="1554480"/>
            <a:ext cx="4846320" cy="4361688"/>
          </a:xfrm>
          <a:prstGeom prst="rect">
            <a:avLst/>
          </a:prstGeom>
        </p:spPr>
      </p:pic>
      <p:sp>
        <p:nvSpPr>
          <p:cNvPr id="5" name="Text 2"/>
          <p:cNvSpPr txBox="1"/>
          <p:nvPr/>
        </p:nvSpPr>
        <p:spPr>
          <a:xfrm>
            <a:off x="685800" y="4572000"/>
            <a:ext cx="5486400" cy="1188720"/>
          </a:xfrm>
          <a:prstGeom prst="rect">
            <a:avLst/>
          </a:prstGeom>
          <a:noFill/>
          <a:ln/>
        </p:spPr>
        <p:txBody>
          <a:bodyPr wrap="square" rtlCol="0" anchor="t"/>
          <a:lstStyle/>
          <a:p>
            <a:pPr indent="0" marL="0">
              <a:buNone/>
            </a:pPr>
            <a:r>
              <a:rPr lang="en-US" sz="1400" i="1" dirty="0">
                <a:solidFill>
                  <a:srgbClr val="52514E"/>
                </a:solidFill>
              </a:rPr>
              <a:t>Resultado real del curso: las referencias forman tres grupos y cada población mezclada (en negro) cae entre los grupos de los que proviene.</a:t>
            </a:r>
            <a:endParaRPr lang="en-US" sz="1400" dirty="0"/>
          </a:p>
        </p:txBody>
      </p:sp>
      <p:sp>
        <p:nvSpPr>
          <p:cNvPr id="25" name="Slide Number Placeholder 0"/>
          <p:cNvSpPr>
            <a:spLocks noGrp="1"/>
          </p:cNvSpPr>
          <p:nvPr>
            <p:ph type="sldNum" sz="quarter" idx="4294967295"/>
          </p:nvPr>
        </p:nvSpPr>
        <p:spPr>
          <a:xfrm>
            <a:off x="1152144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9A9A"/>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68680"/>
          </a:xfrm>
          <a:prstGeom prst="rect">
            <a:avLst/>
          </a:prstGeom>
          <a:noFill/>
          <a:ln/>
        </p:spPr>
        <p:txBody>
          <a:bodyPr wrap="square" rtlCol="0" anchor="ctr"/>
          <a:lstStyle/>
          <a:p>
            <a:pPr indent="0" marL="0">
              <a:buNone/>
            </a:pPr>
            <a:r>
              <a:rPr lang="en-US" sz="3200" b="1" dirty="0">
                <a:solidFill>
                  <a:schemeClr val="tx2"/>
                </a:solidFill>
              </a:rPr>
              <a:t>¿Cuántos componentes principales importan?</a:t>
            </a:r>
            <a:endParaRPr lang="en-US" sz="3200" dirty="0"/>
          </a:p>
        </p:txBody>
      </p:sp>
      <p:pic>
        <p:nvPicPr>
          <p:cNvPr id="3" name="figura-eigen" descr="/tmp/claude-0/-home-claude/e238050a-ce3c-58bd-bb86-9554df59862c/scratchpad/figs/eigen.png">    </p:cNvPr>
          <p:cNvPicPr>
            <a:picLocks noChangeAspect="1"/>
          </p:cNvPicPr>
          <p:nvPr/>
        </p:nvPicPr>
        <p:blipFill>
          <a:blip r:embed="rId1"/>
          <a:stretch>
            <a:fillRect/>
          </a:stretch>
        </p:blipFill>
        <p:spPr>
          <a:xfrm>
            <a:off x="685800" y="1737360"/>
            <a:ext cx="5669280" cy="2834640"/>
          </a:xfrm>
          <a:prstGeom prst="rect">
            <a:avLst/>
          </a:prstGeom>
        </p:spPr>
      </p:pic>
      <p:sp>
        <p:nvSpPr>
          <p:cNvPr id="4" name="Text 1"/>
          <p:cNvSpPr txBox="1"/>
          <p:nvPr/>
        </p:nvSpPr>
        <p:spPr>
          <a:xfrm>
            <a:off x="6766560" y="1783080"/>
            <a:ext cx="4663440" cy="2926080"/>
          </a:xfrm>
          <a:prstGeom prst="rect">
            <a:avLst/>
          </a:prstGeom>
          <a:noFill/>
          <a:ln/>
        </p:spPr>
        <p:txBody>
          <a:bodyPr wrap="square" rtlCol="0" anchor="t"/>
          <a:lstStyle/>
          <a:p>
            <a:pPr indent="0" marL="0">
              <a:buNone/>
            </a:pPr>
            <a:r>
              <a:rPr lang="en-US" sz="1600" dirty="0">
                <a:solidFill>
                  <a:schemeClr val="tx1"/>
                </a:solidFill>
              </a:rPr>
              <a:t>Con K grupos bien separados, basta con K − 1 ejes para distinguirlos: con 3 grupos continentales, 2 componentes.
</a:t>
            </a:r>
            <a:endParaRPr lang="en-US" sz="1600" dirty="0"/>
          </a:p>
          <a:p>
            <a:pPr indent="0" marL="0">
              <a:buNone/>
            </a:pPr>
            <a:r>
              <a:rPr lang="en-US" sz="1600" dirty="0">
                <a:solidFill>
                  <a:schemeClr val="tx1"/>
                </a:solidFill>
              </a:rPr>
              <a:t>En nuestros datos los dos primeros eigenvalores son 67,8 y 18,7; el tercero cae a 3,9 y de ahí en adelante se aplana. Es exactamente lo que predice la teoría.</a:t>
            </a:r>
            <a:endParaRPr lang="en-US" sz="1600" dirty="0"/>
          </a:p>
        </p:txBody>
      </p:sp>
      <p:sp>
        <p:nvSpPr>
          <p:cNvPr id="5" name="Text 2"/>
          <p:cNvSpPr txBox="1"/>
          <p:nvPr/>
        </p:nvSpPr>
        <p:spPr>
          <a:xfrm>
            <a:off x="685800" y="4937760"/>
            <a:ext cx="10789920" cy="914400"/>
          </a:xfrm>
          <a:prstGeom prst="rect">
            <a:avLst/>
          </a:prstGeom>
          <a:noFill/>
          <a:ln/>
        </p:spPr>
        <p:txBody>
          <a:bodyPr wrap="square" rtlCol="0" anchor="t"/>
          <a:lstStyle/>
          <a:p>
            <a:pPr indent="0" marL="0">
              <a:buNone/>
            </a:pPr>
            <a:r>
              <a:rPr lang="en-US" sz="1500" i="1" dirty="0">
                <a:solidFill>
                  <a:schemeClr val="tx2"/>
                </a:solidFill>
              </a:rPr>
              <a:t>Los componentes que siguen no son ruido puro: suelen recoger estructura más fina, parentesco entre individuos o artefactos técnicos del genotipado.</a:t>
            </a:r>
            <a:endParaRPr lang="en-US" sz="1500" dirty="0"/>
          </a:p>
        </p:txBody>
      </p:sp>
      <p:sp>
        <p:nvSpPr>
          <p:cNvPr id="6" name="Text 3"/>
          <p:cNvSpPr txBox="1"/>
          <p:nvPr/>
        </p:nvSpPr>
        <p:spPr>
          <a:xfrm>
            <a:off x="685800" y="6199632"/>
            <a:ext cx="10424160" cy="365760"/>
          </a:xfrm>
          <a:prstGeom prst="rect">
            <a:avLst/>
          </a:prstGeom>
          <a:noFill/>
          <a:ln/>
        </p:spPr>
        <p:txBody>
          <a:bodyPr wrap="square" lIns="0" tIns="0" rIns="0" bIns="0" rtlCol="0" anchor="ctr"/>
          <a:lstStyle/>
          <a:p>
            <a:pPr indent="0" marL="0">
              <a:buNone/>
            </a:pPr>
            <a:r>
              <a:rPr lang="en-US" sz="1100" i="1" dirty="0">
                <a:solidFill>
                  <a:srgbClr val="6B6B6B"/>
                </a:solidFill>
              </a:rPr>
              <a:t>Base teórica: Patterson, Price y Reich, PLoS Genetics 2006. doi:10.1371/journal.pgen.0020190</a:t>
            </a:r>
            <a:endParaRPr lang="en-US" sz="1100" dirty="0"/>
          </a:p>
        </p:txBody>
      </p:sp>
      <p:sp>
        <p:nvSpPr>
          <p:cNvPr id="25" name="Slide Number Placeholder 0"/>
          <p:cNvSpPr>
            <a:spLocks noGrp="1"/>
          </p:cNvSpPr>
          <p:nvPr>
            <p:ph type="sldNum" sz="quarter" idx="4294967295"/>
          </p:nvPr>
        </p:nvSpPr>
        <p:spPr>
          <a:xfrm>
            <a:off x="1152144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9A9A"/>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68680"/>
          </a:xfrm>
          <a:prstGeom prst="rect">
            <a:avLst/>
          </a:prstGeom>
          <a:noFill/>
          <a:ln/>
        </p:spPr>
        <p:txBody>
          <a:bodyPr wrap="square" rtlCol="0" anchor="ctr"/>
          <a:lstStyle/>
          <a:p>
            <a:pPr indent="0" marL="0">
              <a:buNone/>
            </a:pPr>
            <a:r>
              <a:rPr lang="en-US" sz="3200" b="1" dirty="0">
                <a:solidFill>
                  <a:schemeClr val="tx2"/>
                </a:solidFill>
              </a:rPr>
              <a:t>ADMIXTURE: el modelo de K poblaciones ancestrales</a:t>
            </a:r>
            <a:endParaRPr lang="en-US" sz="3200" dirty="0"/>
          </a:p>
        </p:txBody>
      </p:sp>
      <p:sp>
        <p:nvSpPr>
          <p:cNvPr id="3" name="Text 1"/>
          <p:cNvSpPr txBox="1"/>
          <p:nvPr/>
        </p:nvSpPr>
        <p:spPr>
          <a:xfrm>
            <a:off x="685800" y="1508760"/>
            <a:ext cx="10789920" cy="4572000"/>
          </a:xfrm>
          <a:prstGeom prst="rect">
            <a:avLst/>
          </a:prstGeom>
          <a:noFill/>
          <a:ln/>
        </p:spPr>
        <p:txBody>
          <a:bodyPr wrap="square" rtlCol="0" anchor="t"/>
          <a:lstStyle/>
          <a:p>
            <a:pPr marL="342900" indent="-342900">
              <a:spcAft>
                <a:spcPts val="1000"/>
              </a:spcAft>
              <a:buSzPct val="100000"/>
              <a:buChar char="•"/>
            </a:pPr>
            <a:r>
              <a:rPr lang="en-US" sz="1700" dirty="0">
                <a:solidFill>
                  <a:schemeClr val="tx1"/>
                </a:solidFill>
              </a:rPr>
              <a:t>Supone que existieron K poblaciones ancestrales, cada una con sus propias frecuencias alélicas.</a:t>
            </a:r>
            <a:endParaRPr lang="en-US" sz="1700" dirty="0"/>
          </a:p>
          <a:p>
            <a:pPr marL="342900" indent="-342900">
              <a:spcAft>
                <a:spcPts val="1000"/>
              </a:spcAft>
              <a:buSzPct val="100000"/>
              <a:buChar char="•"/>
            </a:pPr>
            <a:r>
              <a:rPr lang="en-US" sz="1700" dirty="0">
                <a:solidFill>
                  <a:schemeClr val="tx1"/>
                </a:solidFill>
              </a:rPr>
              <a:t>Supone que cada persona actual es una mezcla de esas K poblaciones, en proporciones que hay que estimar.</a:t>
            </a:r>
            <a:endParaRPr lang="en-US" sz="1700" dirty="0"/>
          </a:p>
          <a:p>
            <a:pPr marL="342900" indent="-342900">
              <a:spcAft>
                <a:spcPts val="1000"/>
              </a:spcAft>
              <a:buSzPct val="100000"/>
              <a:buChar char="•"/>
            </a:pPr>
            <a:r>
              <a:rPr lang="en-US" sz="1700" dirty="0">
                <a:solidFill>
                  <a:schemeClr val="tx1"/>
                </a:solidFill>
              </a:rPr>
              <a:t>Con esos supuestos, busca los valores que hacen más probables los genotipos observados.</a:t>
            </a:r>
            <a:endParaRPr lang="en-US" sz="1700" dirty="0"/>
          </a:p>
          <a:p>
            <a:pPr marL="342900" indent="-342900">
              <a:spcAft>
                <a:spcPts val="1000"/>
              </a:spcAft>
              <a:buSzPct val="100000"/>
              <a:buChar char="•"/>
            </a:pPr>
            <a:r>
              <a:rPr lang="en-US" sz="1700" dirty="0">
                <a:solidFill>
                  <a:schemeClr val="tx1"/>
                </a:solidFill>
              </a:rPr>
              <a:t>Nosotros elegimos K. El programa no lo descubre: lo recibe como dato de entrada.</a:t>
            </a:r>
            <a:endParaRPr lang="en-US" sz="1700" dirty="0"/>
          </a:p>
        </p:txBody>
      </p:sp>
      <p:sp>
        <p:nvSpPr>
          <p:cNvPr id="4" name="caja-q"/>
          <p:cNvSpPr/>
          <p:nvPr/>
        </p:nvSpPr>
        <p:spPr>
          <a:xfrm>
            <a:off x="685800" y="4206240"/>
            <a:ext cx="5120640" cy="1645920"/>
          </a:xfrm>
          <a:prstGeom prst="roundRect">
            <a:avLst>
              <a:gd name="adj" fmla="val 5556"/>
            </a:avLst>
          </a:prstGeom>
          <a:solidFill>
            <a:schemeClr val="bg2"/>
          </a:solidFill>
          <a:ln w="6350">
            <a:solidFill>
              <a:srgbClr val="E2E2DE"/>
            </a:solidFill>
            <a:prstDash val="solid"/>
          </a:ln>
        </p:spPr>
      </p:sp>
      <p:sp>
        <p:nvSpPr>
          <p:cNvPr id="5" name="Text 3"/>
          <p:cNvSpPr txBox="1"/>
          <p:nvPr/>
        </p:nvSpPr>
        <p:spPr>
          <a:xfrm>
            <a:off x="960120" y="4370832"/>
            <a:ext cx="4572000" cy="365760"/>
          </a:xfrm>
          <a:prstGeom prst="rect">
            <a:avLst/>
          </a:prstGeom>
          <a:noFill/>
          <a:ln/>
        </p:spPr>
        <p:txBody>
          <a:bodyPr wrap="square" lIns="0" tIns="0" rIns="0" bIns="0" rtlCol="0" anchor="ctr"/>
          <a:lstStyle/>
          <a:p>
            <a:pPr indent="0" marL="0">
              <a:buNone/>
            </a:pPr>
            <a:r>
              <a:rPr lang="en-US" sz="1700" b="1" dirty="0">
                <a:solidFill>
                  <a:schemeClr val="accent1"/>
                </a:solidFill>
              </a:rPr>
              <a:t>Archivo .Q</a:t>
            </a:r>
            <a:endParaRPr lang="en-US" sz="1700" dirty="0"/>
          </a:p>
        </p:txBody>
      </p:sp>
      <p:sp>
        <p:nvSpPr>
          <p:cNvPr id="6" name="Text 4"/>
          <p:cNvSpPr txBox="1"/>
          <p:nvPr/>
        </p:nvSpPr>
        <p:spPr>
          <a:xfrm>
            <a:off x="960120" y="4754880"/>
            <a:ext cx="4572000" cy="914400"/>
          </a:xfrm>
          <a:prstGeom prst="rect">
            <a:avLst/>
          </a:prstGeom>
          <a:noFill/>
          <a:ln/>
        </p:spPr>
        <p:txBody>
          <a:bodyPr wrap="square" rtlCol="0" anchor="t"/>
          <a:lstStyle/>
          <a:p>
            <a:pPr indent="0" marL="0">
              <a:buNone/>
            </a:pPr>
            <a:r>
              <a:rPr lang="en-US" sz="1400" dirty="0">
                <a:solidFill>
                  <a:schemeClr val="tx1"/>
                </a:solidFill>
              </a:rPr>
              <a:t>Una fila por persona, una columna por componente. Cada fila suma 1. Es lo que graficamos.</a:t>
            </a:r>
            <a:endParaRPr lang="en-US" sz="1400" dirty="0"/>
          </a:p>
        </p:txBody>
      </p:sp>
      <p:sp>
        <p:nvSpPr>
          <p:cNvPr id="7" name="caja-p"/>
          <p:cNvSpPr/>
          <p:nvPr/>
        </p:nvSpPr>
        <p:spPr>
          <a:xfrm>
            <a:off x="6355080" y="4206240"/>
            <a:ext cx="5120640" cy="1645920"/>
          </a:xfrm>
          <a:prstGeom prst="roundRect">
            <a:avLst>
              <a:gd name="adj" fmla="val 5556"/>
            </a:avLst>
          </a:prstGeom>
          <a:solidFill>
            <a:schemeClr val="bg2"/>
          </a:solidFill>
          <a:ln w="6350">
            <a:solidFill>
              <a:srgbClr val="E2E2DE"/>
            </a:solidFill>
            <a:prstDash val="solid"/>
          </a:ln>
        </p:spPr>
      </p:sp>
      <p:sp>
        <p:nvSpPr>
          <p:cNvPr id="8" name="Text 6"/>
          <p:cNvSpPr txBox="1"/>
          <p:nvPr/>
        </p:nvSpPr>
        <p:spPr>
          <a:xfrm>
            <a:off x="6629400" y="4370832"/>
            <a:ext cx="4572000" cy="365760"/>
          </a:xfrm>
          <a:prstGeom prst="rect">
            <a:avLst/>
          </a:prstGeom>
          <a:noFill/>
          <a:ln/>
        </p:spPr>
        <p:txBody>
          <a:bodyPr wrap="square" lIns="0" tIns="0" rIns="0" bIns="0" rtlCol="0" anchor="ctr"/>
          <a:lstStyle/>
          <a:p>
            <a:pPr indent="0" marL="0">
              <a:buNone/>
            </a:pPr>
            <a:r>
              <a:rPr lang="en-US" sz="1700" b="1" dirty="0">
                <a:solidFill>
                  <a:schemeClr val="accent3"/>
                </a:solidFill>
              </a:rPr>
              <a:t>Archivo .P</a:t>
            </a:r>
            <a:endParaRPr lang="en-US" sz="1700" dirty="0"/>
          </a:p>
        </p:txBody>
      </p:sp>
      <p:sp>
        <p:nvSpPr>
          <p:cNvPr id="9" name="Text 7"/>
          <p:cNvSpPr txBox="1"/>
          <p:nvPr/>
        </p:nvSpPr>
        <p:spPr>
          <a:xfrm>
            <a:off x="6629400" y="4754880"/>
            <a:ext cx="4572000" cy="914400"/>
          </a:xfrm>
          <a:prstGeom prst="rect">
            <a:avLst/>
          </a:prstGeom>
          <a:noFill/>
          <a:ln/>
        </p:spPr>
        <p:txBody>
          <a:bodyPr wrap="square" rtlCol="0" anchor="t"/>
          <a:lstStyle/>
          <a:p>
            <a:pPr indent="0" marL="0">
              <a:buNone/>
            </a:pPr>
            <a:r>
              <a:rPr lang="en-US" sz="1400" dirty="0">
                <a:solidFill>
                  <a:schemeClr val="tx1"/>
                </a:solidFill>
              </a:rPr>
              <a:t>Una fila por variante: la frecuencia estimada de esa variante en cada componente ancestral.</a:t>
            </a:r>
            <a:endParaRPr lang="en-US" sz="1400" dirty="0"/>
          </a:p>
        </p:txBody>
      </p:sp>
      <p:sp>
        <p:nvSpPr>
          <p:cNvPr id="10" name="Text 8"/>
          <p:cNvSpPr txBox="1"/>
          <p:nvPr/>
        </p:nvSpPr>
        <p:spPr>
          <a:xfrm>
            <a:off x="685800" y="6199632"/>
            <a:ext cx="10424160" cy="365760"/>
          </a:xfrm>
          <a:prstGeom prst="rect">
            <a:avLst/>
          </a:prstGeom>
          <a:noFill/>
          <a:ln/>
        </p:spPr>
        <p:txBody>
          <a:bodyPr wrap="square" lIns="0" tIns="0" rIns="0" bIns="0" rtlCol="0" anchor="ctr"/>
          <a:lstStyle/>
          <a:p>
            <a:pPr indent="0" marL="0">
              <a:buNone/>
            </a:pPr>
            <a:r>
              <a:rPr lang="en-US" sz="1100" i="1" dirty="0">
                <a:solidFill>
                  <a:srgbClr val="6B6B6B"/>
                </a:solidFill>
              </a:rPr>
              <a:t>Alexander, Novembre y Lange, Genome Research 2009. doi:10.1101/gr.094052.109</a:t>
            </a:r>
            <a:endParaRPr lang="en-US" sz="1100" dirty="0"/>
          </a:p>
        </p:txBody>
      </p:sp>
      <p:sp>
        <p:nvSpPr>
          <p:cNvPr id="12" name="Text 0"/>
          <p:cNvSpPr/>
          <p:nvPr>
            <p:ph idx="101" type="body" hasCustomPrompt="1"/>
          </p:nvPr>
        </p:nvSpPr>
        <p:spPr>
          <a:xfrm>
            <a:off x="685800" y="1508760"/>
            <a:ext cx="10789920" cy="4663440"/>
          </a:xfrm>
          <a:prstGeom prst="rect">
            <a:avLst/>
          </a:prstGeom>
          <a:noFill/>
          <a:ln/>
        </p:spPr>
        <p:txBody>
          <a:bodyPr wrap="square" rtlCol="0" anchor="t"/>
          <a:lstStyle/>
          <a:p>
            <a:pPr indent="0" marL="0">
              <a:buNone/>
            </a:pPr>
            <a:endParaRPr lang="en-US" sz="1700" dirty="0"/>
          </a:p>
        </p:txBody>
      </p:sp>
      <p:sp>
        <p:nvSpPr>
          <p:cNvPr id="25" name="Slide Number Placeholder 0"/>
          <p:cNvSpPr>
            <a:spLocks noGrp="1"/>
          </p:cNvSpPr>
          <p:nvPr>
            <p:ph type="sldNum" sz="quarter" idx="4294967295"/>
          </p:nvPr>
        </p:nvSpPr>
        <p:spPr>
          <a:xfrm>
            <a:off x="1152144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9A9A"/>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68680"/>
          </a:xfrm>
          <a:prstGeom prst="rect">
            <a:avLst/>
          </a:prstGeom>
          <a:noFill/>
          <a:ln/>
        </p:spPr>
        <p:txBody>
          <a:bodyPr wrap="square" rtlCol="0" anchor="ctr"/>
          <a:lstStyle/>
          <a:p>
            <a:pPr indent="0" marL="0">
              <a:buNone/>
            </a:pPr>
            <a:r>
              <a:rPr lang="en-US" sz="3200" b="1" dirty="0">
                <a:solidFill>
                  <a:schemeClr val="tx2"/>
                </a:solidFill>
              </a:rPr>
              <a:t>Cómo leer el gráfico de barras</a:t>
            </a:r>
            <a:endParaRPr lang="en-US" sz="3200" dirty="0"/>
          </a:p>
        </p:txBody>
      </p:sp>
      <p:pic>
        <p:nvPicPr>
          <p:cNvPr id="3" name="figura-admixture" descr="/tmp/claude-0/-home-claude/e238050a-ce3c-58bd-bb86-9554df59862c/scratchpad/figs/admixture.png">    </p:cNvPr>
          <p:cNvPicPr>
            <a:picLocks noChangeAspect="1"/>
          </p:cNvPicPr>
          <p:nvPr/>
        </p:nvPicPr>
        <p:blipFill>
          <a:blip r:embed="rId1"/>
          <a:stretch>
            <a:fillRect/>
          </a:stretch>
        </p:blipFill>
        <p:spPr>
          <a:xfrm>
            <a:off x="685800" y="1600200"/>
            <a:ext cx="10789920" cy="2697480"/>
          </a:xfrm>
          <a:prstGeom prst="rect">
            <a:avLst/>
          </a:prstGeom>
        </p:spPr>
      </p:pic>
      <p:sp>
        <p:nvSpPr>
          <p:cNvPr id="4" name="Text 1"/>
          <p:cNvSpPr txBox="1"/>
          <p:nvPr/>
        </p:nvSpPr>
        <p:spPr>
          <a:xfrm>
            <a:off x="685800" y="4526280"/>
            <a:ext cx="10789920" cy="822960"/>
          </a:xfrm>
          <a:prstGeom prst="rect">
            <a:avLst/>
          </a:prstGeom>
          <a:noFill/>
          <a:ln/>
        </p:spPr>
        <p:txBody>
          <a:bodyPr wrap="square" rtlCol="0" anchor="t"/>
          <a:lstStyle/>
          <a:p>
            <a:pPr indent="0" marL="0">
              <a:buNone/>
            </a:pPr>
            <a:r>
              <a:rPr lang="en-US" sz="1600" b="1" dirty="0">
                <a:solidFill>
                  <a:schemeClr val="tx1"/>
                </a:solidFill>
              </a:rPr>
              <a:t>Cada barra vertical es una persona. </a:t>
            </a:r>
            <a:pPr indent="0" marL="0">
              <a:buNone/>
            </a:pPr>
            <a:r>
              <a:rPr lang="en-US" sz="1600" dirty="0">
                <a:solidFill>
                  <a:schemeClr val="tx1"/>
                </a:solidFill>
              </a:rPr>
              <a:t>La altura de cada color es la proporción de su genoma asignada a ese componente. Las poblaciones de referencia (izquierda) salen casi de un solo color; las mezcladas (derecha) combinan varios.</a:t>
            </a:r>
            <a:endParaRPr lang="en-US" sz="1600" dirty="0"/>
          </a:p>
        </p:txBody>
      </p:sp>
      <p:sp>
        <p:nvSpPr>
          <p:cNvPr id="5" name="Text 2"/>
          <p:cNvSpPr txBox="1"/>
          <p:nvPr/>
        </p:nvSpPr>
        <p:spPr>
          <a:xfrm>
            <a:off x="685800" y="5349240"/>
            <a:ext cx="10789920" cy="822960"/>
          </a:xfrm>
          <a:prstGeom prst="rect">
            <a:avLst/>
          </a:prstGeom>
          <a:noFill/>
          <a:ln/>
        </p:spPr>
        <p:txBody>
          <a:bodyPr wrap="square" rtlCol="0" anchor="t"/>
          <a:lstStyle/>
          <a:p>
            <a:pPr indent="0" marL="0">
              <a:buNone/>
            </a:pPr>
            <a:r>
              <a:rPr lang="en-US" sz="1500" i="1" dirty="0">
                <a:solidFill>
                  <a:schemeClr val="tx2"/>
                </a:solidFill>
              </a:rPr>
              <a:t>ADMIXTURE no sabe que un componente es "africano": solo los numera. Los nombres se los ponemos nosotros mirando en qué población de referencia es más alto cada uno.</a:t>
            </a:r>
            <a:endParaRPr lang="en-US" sz="1500" dirty="0"/>
          </a:p>
        </p:txBody>
      </p:sp>
      <p:sp>
        <p:nvSpPr>
          <p:cNvPr id="25" name="Slide Number Placeholder 0"/>
          <p:cNvSpPr>
            <a:spLocks noGrp="1"/>
          </p:cNvSpPr>
          <p:nvPr>
            <p:ph type="sldNum" sz="quarter" idx="4294967295"/>
          </p:nvPr>
        </p:nvSpPr>
        <p:spPr>
          <a:xfrm>
            <a:off x="1152144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9A9A"/>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68680"/>
          </a:xfrm>
          <a:prstGeom prst="rect">
            <a:avLst/>
          </a:prstGeom>
          <a:noFill/>
          <a:ln/>
        </p:spPr>
        <p:txBody>
          <a:bodyPr wrap="square" rtlCol="0" anchor="ctr"/>
          <a:lstStyle/>
          <a:p>
            <a:pPr indent="0" marL="0">
              <a:buNone/>
            </a:pPr>
            <a:r>
              <a:rPr lang="en-US" sz="3200" b="1" dirty="0">
                <a:solidFill>
                  <a:schemeClr val="tx2"/>
                </a:solidFill>
              </a:rPr>
              <a:t>Tres formas de equivocarse al interpretar</a:t>
            </a:r>
            <a:endParaRPr lang="en-US" sz="3200" dirty="0"/>
          </a:p>
        </p:txBody>
      </p:sp>
      <p:sp>
        <p:nvSpPr>
          <p:cNvPr id="3" name="trampa-0"/>
          <p:cNvSpPr/>
          <p:nvPr/>
        </p:nvSpPr>
        <p:spPr>
          <a:xfrm>
            <a:off x="685800" y="1801368"/>
            <a:ext cx="384048" cy="384048"/>
          </a:xfrm>
          <a:prstGeom prst="ellipse">
            <a:avLst/>
          </a:prstGeom>
          <a:solidFill>
            <a:schemeClr val="accent2"/>
          </a:solidFill>
          <a:ln w="12700">
            <a:solidFill>
              <a:schemeClr val="accent2"/>
            </a:solidFill>
            <a:prstDash val="solid"/>
          </a:ln>
        </p:spPr>
      </p:sp>
      <p:sp>
        <p:nvSpPr>
          <p:cNvPr id="4" name="Text 2"/>
          <p:cNvSpPr txBox="1"/>
          <p:nvPr/>
        </p:nvSpPr>
        <p:spPr>
          <a:xfrm>
            <a:off x="1252728" y="1737360"/>
            <a:ext cx="10040112" cy="347472"/>
          </a:xfrm>
          <a:prstGeom prst="rect">
            <a:avLst/>
          </a:prstGeom>
          <a:noFill/>
          <a:ln/>
        </p:spPr>
        <p:txBody>
          <a:bodyPr wrap="square" lIns="0" tIns="0" rIns="0" bIns="0" rtlCol="0" anchor="ctr"/>
          <a:lstStyle/>
          <a:p>
            <a:pPr indent="0" marL="0">
              <a:buNone/>
            </a:pPr>
            <a:r>
              <a:rPr lang="en-US" sz="1700" b="1" dirty="0">
                <a:solidFill>
                  <a:schemeClr val="tx2"/>
                </a:solidFill>
              </a:rPr>
              <a:t>Creer que los componentes son poblaciones reales</a:t>
            </a:r>
            <a:endParaRPr lang="en-US" sz="1700" dirty="0"/>
          </a:p>
        </p:txBody>
      </p:sp>
      <p:sp>
        <p:nvSpPr>
          <p:cNvPr id="5" name="Text 3"/>
          <p:cNvSpPr txBox="1"/>
          <p:nvPr/>
        </p:nvSpPr>
        <p:spPr>
          <a:xfrm>
            <a:off x="1252728" y="2121408"/>
            <a:ext cx="10040112" cy="777240"/>
          </a:xfrm>
          <a:prstGeom prst="rect">
            <a:avLst/>
          </a:prstGeom>
          <a:noFill/>
          <a:ln/>
        </p:spPr>
        <p:txBody>
          <a:bodyPr wrap="square" lIns="0" tIns="0" rIns="0" bIns="0" rtlCol="0" anchor="t"/>
          <a:lstStyle/>
          <a:p>
            <a:pPr indent="0" marL="0">
              <a:buNone/>
            </a:pPr>
            <a:r>
              <a:rPr lang="en-US" sz="1400" dirty="0">
                <a:solidFill>
                  <a:schemeClr val="tx1"/>
                </a:solidFill>
              </a:rPr>
              <a:t>Son grupos estadísticos. Historias demográficas muy distintas pueden producir el mismo gráfico de barras.</a:t>
            </a:r>
            <a:endParaRPr lang="en-US" sz="1400" dirty="0"/>
          </a:p>
        </p:txBody>
      </p:sp>
      <p:sp>
        <p:nvSpPr>
          <p:cNvPr id="6" name="trampa-1"/>
          <p:cNvSpPr/>
          <p:nvPr/>
        </p:nvSpPr>
        <p:spPr>
          <a:xfrm>
            <a:off x="685800" y="3264408"/>
            <a:ext cx="384048" cy="384048"/>
          </a:xfrm>
          <a:prstGeom prst="ellipse">
            <a:avLst/>
          </a:prstGeom>
          <a:solidFill>
            <a:schemeClr val="accent5"/>
          </a:solidFill>
          <a:ln w="12700">
            <a:solidFill>
              <a:schemeClr val="accent5"/>
            </a:solidFill>
            <a:prstDash val="solid"/>
          </a:ln>
        </p:spPr>
      </p:sp>
      <p:sp>
        <p:nvSpPr>
          <p:cNvPr id="7" name="Text 5"/>
          <p:cNvSpPr txBox="1"/>
          <p:nvPr/>
        </p:nvSpPr>
        <p:spPr>
          <a:xfrm>
            <a:off x="1252728" y="3200400"/>
            <a:ext cx="10040112" cy="347472"/>
          </a:xfrm>
          <a:prstGeom prst="rect">
            <a:avLst/>
          </a:prstGeom>
          <a:noFill/>
          <a:ln/>
        </p:spPr>
        <p:txBody>
          <a:bodyPr wrap="square" lIns="0" tIns="0" rIns="0" bIns="0" rtlCol="0" anchor="ctr"/>
          <a:lstStyle/>
          <a:p>
            <a:pPr indent="0" marL="0">
              <a:buNone/>
            </a:pPr>
            <a:r>
              <a:rPr lang="en-US" sz="1700" b="1" dirty="0">
                <a:solidFill>
                  <a:schemeClr val="tx2"/>
                </a:solidFill>
              </a:rPr>
              <a:t>Creer que el mejor K es el verdadero</a:t>
            </a:r>
            <a:endParaRPr lang="en-US" sz="1700" dirty="0"/>
          </a:p>
        </p:txBody>
      </p:sp>
      <p:sp>
        <p:nvSpPr>
          <p:cNvPr id="8" name="Text 6"/>
          <p:cNvSpPr txBox="1"/>
          <p:nvPr/>
        </p:nvSpPr>
        <p:spPr>
          <a:xfrm>
            <a:off x="1252728" y="3584448"/>
            <a:ext cx="10040112" cy="777240"/>
          </a:xfrm>
          <a:prstGeom prst="rect">
            <a:avLst/>
          </a:prstGeom>
          <a:noFill/>
          <a:ln/>
        </p:spPr>
        <p:txBody>
          <a:bodyPr wrap="square" lIns="0" tIns="0" rIns="0" bIns="0" rtlCol="0" anchor="t"/>
          <a:lstStyle/>
          <a:p>
            <a:pPr indent="0" marL="0">
              <a:buNone/>
            </a:pPr>
            <a:r>
              <a:rPr lang="en-US" sz="1400" dirty="0">
                <a:solidFill>
                  <a:schemeClr val="tx1"/>
                </a:solidFill>
              </a:rPr>
              <a:t>La validación cruzada dice qué K ajusta mejor los datos, no cuántas poblaciones ancestrales hubo. A menudo el K más interpretable no es el mejor estadísticamente.</a:t>
            </a:r>
            <a:endParaRPr lang="en-US" sz="1400" dirty="0"/>
          </a:p>
        </p:txBody>
      </p:sp>
      <p:sp>
        <p:nvSpPr>
          <p:cNvPr id="9" name="trampa-2"/>
          <p:cNvSpPr/>
          <p:nvPr/>
        </p:nvSpPr>
        <p:spPr>
          <a:xfrm>
            <a:off x="685800" y="4727448"/>
            <a:ext cx="384048" cy="384048"/>
          </a:xfrm>
          <a:prstGeom prst="ellipse">
            <a:avLst/>
          </a:prstGeom>
          <a:solidFill>
            <a:schemeClr val="accent1"/>
          </a:solidFill>
          <a:ln w="12700">
            <a:solidFill>
              <a:schemeClr val="accent1"/>
            </a:solidFill>
            <a:prstDash val="solid"/>
          </a:ln>
        </p:spPr>
      </p:sp>
      <p:sp>
        <p:nvSpPr>
          <p:cNvPr id="10" name="Text 8"/>
          <p:cNvSpPr txBox="1"/>
          <p:nvPr/>
        </p:nvSpPr>
        <p:spPr>
          <a:xfrm>
            <a:off x="1252728" y="4663440"/>
            <a:ext cx="10040112" cy="347472"/>
          </a:xfrm>
          <a:prstGeom prst="rect">
            <a:avLst/>
          </a:prstGeom>
          <a:noFill/>
          <a:ln/>
        </p:spPr>
        <p:txBody>
          <a:bodyPr wrap="square" lIns="0" tIns="0" rIns="0" bIns="0" rtlCol="0" anchor="ctr"/>
          <a:lstStyle/>
          <a:p>
            <a:pPr indent="0" marL="0">
              <a:buNone/>
            </a:pPr>
            <a:r>
              <a:rPr lang="en-US" sz="1700" b="1" dirty="0">
                <a:solidFill>
                  <a:schemeClr val="tx2"/>
                </a:solidFill>
              </a:rPr>
              <a:t>Olvidar que el resultado depende de a quién incluimos</a:t>
            </a:r>
            <a:endParaRPr lang="en-US" sz="1700" dirty="0"/>
          </a:p>
        </p:txBody>
      </p:sp>
      <p:sp>
        <p:nvSpPr>
          <p:cNvPr id="11" name="Text 9"/>
          <p:cNvSpPr txBox="1"/>
          <p:nvPr/>
        </p:nvSpPr>
        <p:spPr>
          <a:xfrm>
            <a:off x="1252728" y="5047488"/>
            <a:ext cx="10040112" cy="777240"/>
          </a:xfrm>
          <a:prstGeom prst="rect">
            <a:avLst/>
          </a:prstGeom>
          <a:noFill/>
          <a:ln/>
        </p:spPr>
        <p:txBody>
          <a:bodyPr wrap="square" lIns="0" tIns="0" rIns="0" bIns="0" rtlCol="0" anchor="t"/>
          <a:lstStyle/>
          <a:p>
            <a:pPr indent="0" marL="0">
              <a:buNone/>
            </a:pPr>
            <a:r>
              <a:rPr lang="en-US" sz="1400" dirty="0">
                <a:solidFill>
                  <a:schemeClr val="tx1"/>
                </a:solidFill>
              </a:rPr>
              <a:t>Si agregamos o quitamos poblaciones de referencia, las proporciones de todos cambian. El resultado es relativo al panel, siempre.</a:t>
            </a:r>
            <a:endParaRPr lang="en-US" sz="1400" dirty="0"/>
          </a:p>
        </p:txBody>
      </p:sp>
      <p:sp>
        <p:nvSpPr>
          <p:cNvPr id="12" name="Text 10"/>
          <p:cNvSpPr txBox="1"/>
          <p:nvPr/>
        </p:nvSpPr>
        <p:spPr>
          <a:xfrm>
            <a:off x="685800" y="6199632"/>
            <a:ext cx="10424160" cy="365760"/>
          </a:xfrm>
          <a:prstGeom prst="rect">
            <a:avLst/>
          </a:prstGeom>
          <a:noFill/>
          <a:ln/>
        </p:spPr>
        <p:txBody>
          <a:bodyPr wrap="square" lIns="0" tIns="0" rIns="0" bIns="0" rtlCol="0" anchor="ctr"/>
          <a:lstStyle/>
          <a:p>
            <a:pPr indent="0" marL="0">
              <a:buNone/>
            </a:pPr>
            <a:r>
              <a:rPr lang="en-US" sz="1100" i="1" dirty="0">
                <a:solidFill>
                  <a:srgbClr val="6B6B6B"/>
                </a:solidFill>
              </a:rPr>
              <a:t>Lectura principal del módulo: Lawson, van Dorp y Falush, Nature Communications 2018;9:3258. doi:10.1038/s41467-018-05257-7</a:t>
            </a:r>
            <a:endParaRPr lang="en-US" sz="1100" dirty="0"/>
          </a:p>
        </p:txBody>
      </p:sp>
      <p:sp>
        <p:nvSpPr>
          <p:cNvPr id="25" name="Slide Number Placeholder 0"/>
          <p:cNvSpPr>
            <a:spLocks noGrp="1"/>
          </p:cNvSpPr>
          <p:nvPr>
            <p:ph type="sldNum" sz="quarter" idx="4294967295"/>
          </p:nvPr>
        </p:nvSpPr>
        <p:spPr>
          <a:xfrm>
            <a:off x="1152144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9A9A"/>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68680"/>
          </a:xfrm>
          <a:prstGeom prst="rect">
            <a:avLst/>
          </a:prstGeom>
          <a:noFill/>
          <a:ln/>
        </p:spPr>
        <p:txBody>
          <a:bodyPr wrap="square" rtlCol="0" anchor="ctr"/>
          <a:lstStyle/>
          <a:p>
            <a:pPr indent="0" marL="0">
              <a:buNone/>
            </a:pPr>
            <a:r>
              <a:rPr lang="en-US" sz="3200" b="1" dirty="0">
                <a:solidFill>
                  <a:schemeClr val="tx2"/>
                </a:solidFill>
              </a:rPr>
              <a:t>Para la sesión 2 del sábado</a:t>
            </a:r>
            <a:endParaRPr lang="en-US" sz="3200" dirty="0"/>
          </a:p>
        </p:txBody>
      </p:sp>
      <p:sp>
        <p:nvSpPr>
          <p:cNvPr id="3" name="Text 1"/>
          <p:cNvSpPr txBox="1"/>
          <p:nvPr/>
        </p:nvSpPr>
        <p:spPr>
          <a:xfrm>
            <a:off x="685800" y="1508760"/>
            <a:ext cx="10789920" cy="4572000"/>
          </a:xfrm>
          <a:prstGeom prst="rect">
            <a:avLst/>
          </a:prstGeom>
          <a:noFill/>
          <a:ln/>
        </p:spPr>
        <p:txBody>
          <a:bodyPr wrap="square" rtlCol="0" anchor="t"/>
          <a:lstStyle/>
          <a:p>
            <a:pPr marL="342900" indent="-342900">
              <a:spcAft>
                <a:spcPts val="1000"/>
              </a:spcAft>
              <a:buSzPct val="100000"/>
              <a:buChar char="•"/>
            </a:pPr>
            <a:r>
              <a:rPr lang="en-US" sz="1700" dirty="0">
                <a:solidFill>
                  <a:schemeClr val="tx1"/>
                </a:solidFill>
              </a:rPr>
              <a:t>Rehacemos en una celda los datos de la sesión 1 y corremos el PCA.</a:t>
            </a:r>
            <a:endParaRPr lang="en-US" sz="1700" dirty="0"/>
          </a:p>
          <a:p>
            <a:pPr marL="342900" indent="-342900">
              <a:spcAft>
                <a:spcPts val="1000"/>
              </a:spcAft>
              <a:buSzPct val="100000"/>
              <a:buChar char="•"/>
            </a:pPr>
            <a:r>
              <a:rPr lang="en-US" sz="1700" dirty="0">
                <a:solidFill>
                  <a:schemeClr val="tx1"/>
                </a:solidFill>
              </a:rPr>
              <a:t>Graficamos los eigenvalores y PC1 contra PC2.</a:t>
            </a:r>
            <a:endParaRPr lang="en-US" sz="1700" dirty="0"/>
          </a:p>
          <a:p>
            <a:pPr marL="342900" indent="-342900">
              <a:spcAft>
                <a:spcPts val="1000"/>
              </a:spcAft>
              <a:buSzPct val="100000"/>
              <a:buChar char="•"/>
            </a:pPr>
            <a:r>
              <a:rPr lang="en-US" sz="1700" dirty="0">
                <a:solidFill>
                  <a:schemeClr val="tx1"/>
                </a:solidFill>
              </a:rPr>
              <a:t>Corremos ADMIXTURE con K = 3 y nombramos los componentes de forma automática.</a:t>
            </a:r>
            <a:endParaRPr lang="en-US" sz="1700" dirty="0"/>
          </a:p>
          <a:p>
            <a:pPr marL="342900" indent="-342900">
              <a:spcAft>
                <a:spcPts val="1000"/>
              </a:spcAft>
              <a:buSzPct val="100000"/>
              <a:buChar char="•"/>
            </a:pPr>
            <a:r>
              <a:rPr lang="en-US" sz="1700" dirty="0">
                <a:solidFill>
                  <a:schemeClr val="tx1"/>
                </a:solidFill>
              </a:rPr>
              <a:t>Construimos el gráfico de barras y discutimos qué se puede y qué no se puede concluir de él.</a:t>
            </a:r>
            <a:endParaRPr lang="en-US" sz="1700" dirty="0"/>
          </a:p>
        </p:txBody>
      </p:sp>
      <p:sp>
        <p:nvSpPr>
          <p:cNvPr id="4" name="caja-lect2"/>
          <p:cNvSpPr/>
          <p:nvPr/>
        </p:nvSpPr>
        <p:spPr>
          <a:xfrm>
            <a:off x="685800" y="4206240"/>
            <a:ext cx="10789920" cy="1737360"/>
          </a:xfrm>
          <a:prstGeom prst="roundRect">
            <a:avLst>
              <a:gd name="adj" fmla="val 5263"/>
            </a:avLst>
          </a:prstGeom>
          <a:solidFill>
            <a:schemeClr val="bg2"/>
          </a:solidFill>
          <a:ln w="6350">
            <a:solidFill>
              <a:srgbClr val="E2E2DE"/>
            </a:solidFill>
            <a:prstDash val="solid"/>
          </a:ln>
        </p:spPr>
      </p:sp>
      <p:sp>
        <p:nvSpPr>
          <p:cNvPr id="5" name="Text 3"/>
          <p:cNvSpPr txBox="1"/>
          <p:nvPr/>
        </p:nvSpPr>
        <p:spPr>
          <a:xfrm>
            <a:off x="960120" y="4370832"/>
            <a:ext cx="10241280" cy="365760"/>
          </a:xfrm>
          <a:prstGeom prst="rect">
            <a:avLst/>
          </a:prstGeom>
          <a:noFill/>
          <a:ln/>
        </p:spPr>
        <p:txBody>
          <a:bodyPr wrap="square" lIns="0" tIns="0" rIns="0" bIns="0" rtlCol="0" anchor="ctr"/>
          <a:lstStyle/>
          <a:p>
            <a:pPr indent="0" marL="0">
              <a:buNone/>
            </a:pPr>
            <a:r>
              <a:rPr lang="en-US" sz="1600" b="1" dirty="0">
                <a:solidFill>
                  <a:schemeClr val="tx2"/>
                </a:solidFill>
              </a:rPr>
              <a:t>Lecturas de este módulo</a:t>
            </a:r>
            <a:endParaRPr lang="en-US" sz="1600" dirty="0"/>
          </a:p>
        </p:txBody>
      </p:sp>
      <p:sp>
        <p:nvSpPr>
          <p:cNvPr id="6" name="Text 4"/>
          <p:cNvSpPr txBox="1"/>
          <p:nvPr/>
        </p:nvSpPr>
        <p:spPr>
          <a:xfrm>
            <a:off x="960120" y="4754880"/>
            <a:ext cx="10241280" cy="1097280"/>
          </a:xfrm>
          <a:prstGeom prst="rect">
            <a:avLst/>
          </a:prstGeom>
          <a:noFill/>
          <a:ln/>
        </p:spPr>
        <p:txBody>
          <a:bodyPr wrap="square" rtlCol="0" anchor="t"/>
          <a:lstStyle/>
          <a:p>
            <a:pPr marL="342900" indent="-342900">
              <a:spcAft>
                <a:spcPts val="400"/>
              </a:spcAft>
              <a:buSzPct val="100000"/>
              <a:buChar char="•"/>
            </a:pPr>
            <a:r>
              <a:rPr lang="en-US" sz="1300" dirty="0">
                <a:solidFill>
                  <a:schemeClr val="tx1"/>
                </a:solidFill>
              </a:rPr>
              <a:t>Lawson, van Dorp y Falush. A tutorial on how not to over-interpret STRUCTURE and ADMIXTURE bar plots. Nat Commun 2018;9:3258 (principal)</a:t>
            </a:r>
            <a:endParaRPr lang="en-US" sz="1300" dirty="0"/>
          </a:p>
          <a:p>
            <a:pPr marL="342900" indent="-342900">
              <a:spcAft>
                <a:spcPts val="400"/>
              </a:spcAft>
              <a:buSzPct val="100000"/>
              <a:buChar char="•"/>
            </a:pPr>
            <a:r>
              <a:rPr lang="en-US" sz="1300" dirty="0">
                <a:solidFill>
                  <a:schemeClr val="tx1"/>
                </a:solidFill>
              </a:rPr>
              <a:t>Patterson, Price y Reich. Population structure and eigenanalysis. PLoS Genet 2006;2(12):e190</a:t>
            </a:r>
            <a:endParaRPr lang="en-US" sz="1300" dirty="0"/>
          </a:p>
          <a:p>
            <a:pPr marL="342900" indent="-342900">
              <a:spcAft>
                <a:spcPts val="400"/>
              </a:spcAft>
              <a:buSzPct val="100000"/>
              <a:buChar char="•"/>
            </a:pPr>
            <a:r>
              <a:rPr lang="en-US" sz="1300" dirty="0">
                <a:solidFill>
                  <a:schemeClr val="tx1"/>
                </a:solidFill>
              </a:rPr>
              <a:t>McVean. A genealogical interpretation of principal components analysis. PLoS Genet 2009;5(10):e1000686</a:t>
            </a:r>
            <a:endParaRPr lang="en-US" sz="1300" dirty="0"/>
          </a:p>
        </p:txBody>
      </p:sp>
      <p:sp>
        <p:nvSpPr>
          <p:cNvPr id="8" name="Text 0"/>
          <p:cNvSpPr/>
          <p:nvPr>
            <p:ph idx="101" type="body" hasCustomPrompt="1"/>
          </p:nvPr>
        </p:nvSpPr>
        <p:spPr>
          <a:xfrm>
            <a:off x="685800" y="1508760"/>
            <a:ext cx="10789920" cy="4663440"/>
          </a:xfrm>
          <a:prstGeom prst="rect">
            <a:avLst/>
          </a:prstGeom>
          <a:noFill/>
          <a:ln/>
        </p:spPr>
        <p:txBody>
          <a:bodyPr wrap="square" rtlCol="0" anchor="t"/>
          <a:lstStyle/>
          <a:p>
            <a:pPr indent="0" marL="0">
              <a:buNone/>
            </a:pPr>
            <a:endParaRPr lang="en-US" sz="1700" dirty="0"/>
          </a:p>
        </p:txBody>
      </p:sp>
      <p:sp>
        <p:nvSpPr>
          <p:cNvPr id="25" name="Slide Number Placeholder 0"/>
          <p:cNvSpPr>
            <a:spLocks noGrp="1"/>
          </p:cNvSpPr>
          <p:nvPr>
            <p:ph type="sldNum" sz="quarter" idx="4294967295"/>
          </p:nvPr>
        </p:nvSpPr>
        <p:spPr>
          <a:xfrm>
            <a:off x="1152144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9A9A"/>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914400" y="2560320"/>
            <a:ext cx="10332720" cy="1280160"/>
          </a:xfrm>
          <a:prstGeom prst="rect">
            <a:avLst/>
          </a:prstGeom>
          <a:noFill/>
          <a:ln/>
        </p:spPr>
        <p:txBody>
          <a:bodyPr wrap="square" rtlCol="0" anchor="b"/>
          <a:lstStyle/>
          <a:p>
            <a:pPr indent="0" marL="0">
              <a:buNone/>
            </a:pPr>
            <a:r>
              <a:rPr lang="en-US" sz="3600" b="1" dirty="0">
                <a:solidFill>
                  <a:schemeClr val="bg1"/>
                </a:solidFill>
              </a:rPr>
              <a:t>Módulo 3. Ancestría local</a:t>
            </a:r>
            <a:endParaRPr lang="en-US" sz="3600" dirty="0"/>
          </a:p>
        </p:txBody>
      </p:sp>
      <p:sp>
        <p:nvSpPr>
          <p:cNvPr id="3" name="Text 0"/>
          <p:cNvSpPr/>
          <p:nvPr>
            <p:ph idx="101" type="body" hasCustomPrompt="1"/>
          </p:nvPr>
        </p:nvSpPr>
        <p:spPr>
          <a:xfrm>
            <a:off x="914400" y="3886200"/>
            <a:ext cx="10332720" cy="1188720"/>
          </a:xfrm>
          <a:prstGeom prst="rect">
            <a:avLst/>
          </a:prstGeom>
          <a:noFill/>
          <a:ln/>
        </p:spPr>
        <p:txBody>
          <a:bodyPr wrap="square" rtlCol="0" anchor="t"/>
          <a:lstStyle/>
          <a:p>
            <a:pPr indent="0" marL="0">
              <a:buNone/>
            </a:pPr>
            <a:r>
              <a:rPr lang="en-US" sz="1700" dirty="0">
                <a:solidFill>
                  <a:srgbClr val="C3C2B7"/>
                </a:solidFill>
              </a:rPr>
              <a:t>Antes de la sesión 3 · Phasing, haplotipos, modelos ocultos de Markov y RFMix</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68680"/>
          </a:xfrm>
          <a:prstGeom prst="rect">
            <a:avLst/>
          </a:prstGeom>
          <a:noFill/>
          <a:ln/>
        </p:spPr>
        <p:txBody>
          <a:bodyPr wrap="square" rtlCol="0" anchor="ctr"/>
          <a:lstStyle/>
          <a:p>
            <a:pPr indent="0" marL="0">
              <a:buNone/>
            </a:pPr>
            <a:r>
              <a:rPr lang="en-US" sz="3200" b="1" dirty="0">
                <a:solidFill>
                  <a:schemeClr val="tx2"/>
                </a:solidFill>
              </a:rPr>
              <a:t>El genoma de una persona mezclada es un mosaico</a:t>
            </a:r>
            <a:endParaRPr lang="en-US" sz="3200" dirty="0"/>
          </a:p>
        </p:txBody>
      </p:sp>
      <p:pic>
        <p:nvPicPr>
          <p:cNvPr id="3" name="figura-karyo" descr="/tmp/claude-0/-home-claude/e238050a-ce3c-58bd-bb86-9554df59862c/scratchpad/figs/karyograma.png">    </p:cNvPr>
          <p:cNvPicPr>
            <a:picLocks noChangeAspect="1"/>
          </p:cNvPicPr>
          <p:nvPr/>
        </p:nvPicPr>
        <p:blipFill>
          <a:blip r:embed="rId1"/>
          <a:stretch>
            <a:fillRect/>
          </a:stretch>
        </p:blipFill>
        <p:spPr>
          <a:xfrm>
            <a:off x="1463040" y="1508760"/>
            <a:ext cx="7863840" cy="4754880"/>
          </a:xfrm>
          <a:prstGeom prst="rect">
            <a:avLst/>
          </a:prstGeom>
        </p:spPr>
      </p:pic>
      <p:sp>
        <p:nvSpPr>
          <p:cNvPr id="4" name="Text 1"/>
          <p:cNvSpPr txBox="1"/>
          <p:nvPr/>
        </p:nvSpPr>
        <p:spPr>
          <a:xfrm>
            <a:off x="9509760" y="1737360"/>
            <a:ext cx="2286000" cy="4114800"/>
          </a:xfrm>
          <a:prstGeom prst="rect">
            <a:avLst/>
          </a:prstGeom>
          <a:noFill/>
          <a:ln/>
        </p:spPr>
        <p:txBody>
          <a:bodyPr wrap="square" rtlCol="0" anchor="t"/>
          <a:lstStyle/>
          <a:p>
            <a:pPr indent="0" marL="0">
              <a:buNone/>
            </a:pPr>
            <a:r>
              <a:rPr lang="en-US" sz="1300" dirty="0">
                <a:solidFill>
                  <a:schemeClr val="tx1"/>
                </a:solidFill>
              </a:rPr>
              <a:t>Cada par de barras es una persona: sus dos copias del cromosoma 22.
</a:t>
            </a:r>
            <a:endParaRPr lang="en-US" sz="1300" dirty="0"/>
          </a:p>
          <a:p>
            <a:pPr indent="0" marL="0">
              <a:buNone/>
            </a:pPr>
            <a:r>
              <a:rPr lang="en-US" sz="1300" dirty="0">
                <a:solidFill>
                  <a:schemeClr val="tx1"/>
                </a:solidFill>
              </a:rPr>
              <a:t>Los colores son la ancestría de cada tramo. Esto es lo que vamos a calcular el sábado, con personas reales de Medellín.
</a:t>
            </a:r>
            <a:endParaRPr lang="en-US" sz="1300" dirty="0"/>
          </a:p>
          <a:p>
            <a:pPr indent="0" marL="0">
              <a:buNone/>
            </a:pPr>
            <a:r>
              <a:rPr lang="en-US" sz="1300" dirty="0">
                <a:solidFill>
                  <a:schemeClr val="tx1"/>
                </a:solidFill>
              </a:rPr>
              <a:t>La zona gris de arriba es el brazo corto: secuencia repetitiva, sin SNPs utilizables.</a:t>
            </a:r>
            <a:endParaRPr lang="en-US" sz="1300" dirty="0"/>
          </a:p>
        </p:txBody>
      </p:sp>
      <p:sp>
        <p:nvSpPr>
          <p:cNvPr id="25" name="Slide Number Placeholder 0"/>
          <p:cNvSpPr>
            <a:spLocks noGrp="1"/>
          </p:cNvSpPr>
          <p:nvPr>
            <p:ph type="sldNum" sz="quarter" idx="4294967295"/>
          </p:nvPr>
        </p:nvSpPr>
        <p:spPr>
          <a:xfrm>
            <a:off x="1152144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9A9A"/>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68680"/>
          </a:xfrm>
          <a:prstGeom prst="rect">
            <a:avLst/>
          </a:prstGeom>
          <a:noFill/>
          <a:ln/>
        </p:spPr>
        <p:txBody>
          <a:bodyPr wrap="square" rtlCol="0" anchor="ctr"/>
          <a:lstStyle/>
          <a:p>
            <a:pPr indent="0" marL="0">
              <a:buNone/>
            </a:pPr>
            <a:r>
              <a:rPr lang="en-US" sz="3200" b="1" dirty="0">
                <a:solidFill>
                  <a:schemeClr val="tx2"/>
                </a:solidFill>
              </a:rPr>
              <a:t>Phasing: separar las dos copias de cada cromosoma</a:t>
            </a:r>
            <a:endParaRPr lang="en-US" sz="3200" dirty="0"/>
          </a:p>
        </p:txBody>
      </p:sp>
      <p:sp>
        <p:nvSpPr>
          <p:cNvPr id="3" name="Text 1"/>
          <p:cNvSpPr txBox="1"/>
          <p:nvPr/>
        </p:nvSpPr>
        <p:spPr>
          <a:xfrm>
            <a:off x="685800" y="1508760"/>
            <a:ext cx="10789920" cy="4572000"/>
          </a:xfrm>
          <a:prstGeom prst="rect">
            <a:avLst/>
          </a:prstGeom>
          <a:noFill/>
          <a:ln/>
        </p:spPr>
        <p:txBody>
          <a:bodyPr wrap="square" rtlCol="0" anchor="t"/>
          <a:lstStyle/>
          <a:p>
            <a:pPr marL="342900" indent="-342900">
              <a:spcAft>
                <a:spcPts val="1000"/>
              </a:spcAft>
              <a:buSzPct val="100000"/>
              <a:buChar char="•"/>
            </a:pPr>
            <a:r>
              <a:rPr lang="en-US" sz="1700" dirty="0">
                <a:solidFill>
                  <a:schemeClr val="tx1"/>
                </a:solidFill>
              </a:rPr>
              <a:t>El genotipado nos dice que en una posición una persona tiene A y G, pero no en cuál de sus dos cromosomas está cada uno.</a:t>
            </a:r>
            <a:endParaRPr lang="en-US" sz="1700" dirty="0"/>
          </a:p>
          <a:p>
            <a:pPr marL="342900" indent="-342900">
              <a:spcAft>
                <a:spcPts val="1000"/>
              </a:spcAft>
              <a:buSzPct val="100000"/>
              <a:buChar char="•"/>
            </a:pPr>
            <a:r>
              <a:rPr lang="en-US" sz="1700" dirty="0">
                <a:solidFill>
                  <a:schemeClr val="tx1"/>
                </a:solidFill>
              </a:rPr>
              <a:t>Con una sola posición eso da igual. Con muchas posiciones seguidas, importa mucho: determina cuáles son sus dos haplotipos.</a:t>
            </a:r>
            <a:endParaRPr lang="en-US" sz="1700" dirty="0"/>
          </a:p>
          <a:p>
            <a:pPr marL="342900" indent="-342900">
              <a:spcAft>
                <a:spcPts val="1000"/>
              </a:spcAft>
              <a:buSzPct val="100000"/>
              <a:buChar char="•"/>
            </a:pPr>
            <a:r>
              <a:rPr lang="en-US" sz="1700" dirty="0">
                <a:solidFill>
                  <a:schemeClr val="tx1"/>
                </a:solidFill>
              </a:rPr>
              <a:t>Resolver esa ambigüedad a lo largo del cromosoma es el phasing.</a:t>
            </a:r>
            <a:endParaRPr lang="en-US" sz="1700" dirty="0"/>
          </a:p>
          <a:p>
            <a:pPr marL="342900" indent="-342900">
              <a:spcAft>
                <a:spcPts val="1000"/>
              </a:spcAft>
              <a:buSzPct val="100000"/>
              <a:buChar char="•"/>
            </a:pPr>
            <a:r>
              <a:rPr lang="en-US" sz="1700" dirty="0">
                <a:solidFill>
                  <a:schemeClr val="tx1"/>
                </a:solidFill>
              </a:rPr>
              <a:t>Se resuelve estadísticamente: los haplotipos frecuentes en la población son más probables que las combinaciones raras. Lo hacen programas como SHAPEIT o Beagle.</a:t>
            </a:r>
            <a:endParaRPr lang="en-US" sz="1700" dirty="0"/>
          </a:p>
        </p:txBody>
      </p:sp>
      <p:sp>
        <p:nvSpPr>
          <p:cNvPr id="4" name="caja-sinfase"/>
          <p:cNvSpPr/>
          <p:nvPr/>
        </p:nvSpPr>
        <p:spPr>
          <a:xfrm>
            <a:off x="685800" y="4480560"/>
            <a:ext cx="5120640" cy="1371600"/>
          </a:xfrm>
          <a:prstGeom prst="roundRect">
            <a:avLst>
              <a:gd name="adj" fmla="val 6667"/>
            </a:avLst>
          </a:prstGeom>
          <a:solidFill>
            <a:schemeClr val="bg2"/>
          </a:solidFill>
          <a:ln w="6350">
            <a:solidFill>
              <a:srgbClr val="E2E2DE"/>
            </a:solidFill>
            <a:prstDash val="solid"/>
          </a:ln>
        </p:spPr>
      </p:sp>
      <p:sp>
        <p:nvSpPr>
          <p:cNvPr id="5" name="Text 3"/>
          <p:cNvSpPr txBox="1"/>
          <p:nvPr/>
        </p:nvSpPr>
        <p:spPr>
          <a:xfrm>
            <a:off x="960120" y="4617720"/>
            <a:ext cx="4572000" cy="365760"/>
          </a:xfrm>
          <a:prstGeom prst="rect">
            <a:avLst/>
          </a:prstGeom>
          <a:noFill/>
          <a:ln/>
        </p:spPr>
        <p:txBody>
          <a:bodyPr wrap="square" lIns="0" tIns="0" rIns="0" bIns="0" rtlCol="0" anchor="ctr"/>
          <a:lstStyle/>
          <a:p>
            <a:pPr indent="0" marL="0">
              <a:buNone/>
            </a:pPr>
            <a:r>
              <a:rPr lang="en-US" sz="1600" b="1" dirty="0">
                <a:solidFill>
                  <a:srgbClr val="6B6B6B"/>
                </a:solidFill>
              </a:rPr>
              <a:t>Sin fasear</a:t>
            </a:r>
            <a:endParaRPr lang="en-US" sz="1600" dirty="0"/>
          </a:p>
        </p:txBody>
      </p:sp>
      <p:sp>
        <p:nvSpPr>
          <p:cNvPr id="6" name="Text 4"/>
          <p:cNvSpPr txBox="1"/>
          <p:nvPr/>
        </p:nvSpPr>
        <p:spPr>
          <a:xfrm>
            <a:off x="960120" y="4983480"/>
            <a:ext cx="4572000" cy="731520"/>
          </a:xfrm>
          <a:prstGeom prst="rect">
            <a:avLst/>
          </a:prstGeom>
          <a:noFill/>
          <a:ln/>
        </p:spPr>
        <p:txBody>
          <a:bodyPr wrap="square" rtlCol="0" anchor="t"/>
          <a:lstStyle/>
          <a:p>
            <a:pPr indent="0" marL="0">
              <a:buNone/>
            </a:pPr>
            <a:r>
              <a:rPr lang="en-US" sz="1400" dirty="0">
                <a:solidFill>
                  <a:schemeClr val="tx1"/>
                </a:solidFill>
              </a:rPr>
              <a:t>0/1   — la barra inclinada dice "no sé en qué copia va cada alelo"</a:t>
            </a:r>
            <a:endParaRPr lang="en-US" sz="1400" dirty="0"/>
          </a:p>
        </p:txBody>
      </p:sp>
      <p:sp>
        <p:nvSpPr>
          <p:cNvPr id="7" name="caja-faseado"/>
          <p:cNvSpPr/>
          <p:nvPr/>
        </p:nvSpPr>
        <p:spPr>
          <a:xfrm>
            <a:off x="6355080" y="4480560"/>
            <a:ext cx="5120640" cy="1371600"/>
          </a:xfrm>
          <a:prstGeom prst="roundRect">
            <a:avLst>
              <a:gd name="adj" fmla="val 6667"/>
            </a:avLst>
          </a:prstGeom>
          <a:solidFill>
            <a:schemeClr val="bg2"/>
          </a:solidFill>
          <a:ln w="6350">
            <a:solidFill>
              <a:srgbClr val="E2E2DE"/>
            </a:solidFill>
            <a:prstDash val="solid"/>
          </a:ln>
        </p:spPr>
      </p:sp>
      <p:sp>
        <p:nvSpPr>
          <p:cNvPr id="8" name="Text 6"/>
          <p:cNvSpPr txBox="1"/>
          <p:nvPr/>
        </p:nvSpPr>
        <p:spPr>
          <a:xfrm>
            <a:off x="6629400" y="4617720"/>
            <a:ext cx="4572000" cy="365760"/>
          </a:xfrm>
          <a:prstGeom prst="rect">
            <a:avLst/>
          </a:prstGeom>
          <a:noFill/>
          <a:ln/>
        </p:spPr>
        <p:txBody>
          <a:bodyPr wrap="square" lIns="0" tIns="0" rIns="0" bIns="0" rtlCol="0" anchor="ctr"/>
          <a:lstStyle/>
          <a:p>
            <a:pPr indent="0" marL="0">
              <a:buNone/>
            </a:pPr>
            <a:r>
              <a:rPr lang="en-US" sz="1600" b="1" dirty="0">
                <a:solidFill>
                  <a:schemeClr val="accent3"/>
                </a:solidFill>
              </a:rPr>
              <a:t>Faseado</a:t>
            </a:r>
            <a:endParaRPr lang="en-US" sz="1600" dirty="0"/>
          </a:p>
        </p:txBody>
      </p:sp>
      <p:sp>
        <p:nvSpPr>
          <p:cNvPr id="9" name="Text 7"/>
          <p:cNvSpPr txBox="1"/>
          <p:nvPr/>
        </p:nvSpPr>
        <p:spPr>
          <a:xfrm>
            <a:off x="6629400" y="4983480"/>
            <a:ext cx="4572000" cy="731520"/>
          </a:xfrm>
          <a:prstGeom prst="rect">
            <a:avLst/>
          </a:prstGeom>
          <a:noFill/>
          <a:ln/>
        </p:spPr>
        <p:txBody>
          <a:bodyPr wrap="square" rtlCol="0" anchor="t"/>
          <a:lstStyle/>
          <a:p>
            <a:pPr indent="0" marL="0">
              <a:buNone/>
            </a:pPr>
            <a:r>
              <a:rPr lang="en-US" sz="1400" dirty="0">
                <a:solidFill>
                  <a:schemeClr val="tx1"/>
                </a:solidFill>
              </a:rPr>
              <a:t>0|1   — la barra vertical dice "el 0 va en una copia y el 1 en la otra"</a:t>
            </a:r>
            <a:endParaRPr lang="en-US" sz="1400" dirty="0"/>
          </a:p>
        </p:txBody>
      </p:sp>
      <p:sp>
        <p:nvSpPr>
          <p:cNvPr id="11" name="Text 0"/>
          <p:cNvSpPr/>
          <p:nvPr>
            <p:ph idx="101" type="body" hasCustomPrompt="1"/>
          </p:nvPr>
        </p:nvSpPr>
        <p:spPr>
          <a:xfrm>
            <a:off x="685800" y="1508760"/>
            <a:ext cx="10789920" cy="4663440"/>
          </a:xfrm>
          <a:prstGeom prst="rect">
            <a:avLst/>
          </a:prstGeom>
          <a:noFill/>
          <a:ln/>
        </p:spPr>
        <p:txBody>
          <a:bodyPr wrap="square" rtlCol="0" anchor="t"/>
          <a:lstStyle/>
          <a:p>
            <a:pPr indent="0" marL="0">
              <a:buNone/>
            </a:pPr>
            <a:endParaRPr lang="en-US" sz="1700" dirty="0"/>
          </a:p>
        </p:txBody>
      </p:sp>
      <p:sp>
        <p:nvSpPr>
          <p:cNvPr id="25" name="Slide Number Placeholder 0"/>
          <p:cNvSpPr>
            <a:spLocks noGrp="1"/>
          </p:cNvSpPr>
          <p:nvPr>
            <p:ph type="sldNum" sz="quarter" idx="4294967295"/>
          </p:nvPr>
        </p:nvSpPr>
        <p:spPr>
          <a:xfrm>
            <a:off x="1152144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9A9A"/>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68680"/>
          </a:xfrm>
          <a:prstGeom prst="rect">
            <a:avLst/>
          </a:prstGeom>
          <a:noFill/>
          <a:ln/>
        </p:spPr>
        <p:txBody>
          <a:bodyPr wrap="square" rtlCol="0" anchor="ctr"/>
          <a:lstStyle/>
          <a:p>
            <a:pPr indent="0" marL="0">
              <a:buNone/>
            </a:pPr>
            <a:r>
              <a:rPr lang="en-US" sz="3200" b="1" dirty="0">
                <a:solidFill>
                  <a:schemeClr val="tx2"/>
                </a:solidFill>
              </a:rPr>
              <a:t>El mapa genético: medir en centimorgans, no en bases</a:t>
            </a:r>
            <a:endParaRPr lang="en-US" sz="3200" dirty="0"/>
          </a:p>
        </p:txBody>
      </p:sp>
      <p:sp>
        <p:nvSpPr>
          <p:cNvPr id="3" name="Text 1"/>
          <p:cNvSpPr txBox="1"/>
          <p:nvPr/>
        </p:nvSpPr>
        <p:spPr>
          <a:xfrm>
            <a:off x="685800" y="1508760"/>
            <a:ext cx="10789920" cy="4572000"/>
          </a:xfrm>
          <a:prstGeom prst="rect">
            <a:avLst/>
          </a:prstGeom>
          <a:noFill/>
          <a:ln/>
        </p:spPr>
        <p:txBody>
          <a:bodyPr wrap="square" rtlCol="0" anchor="t"/>
          <a:lstStyle/>
          <a:p>
            <a:pPr marL="342900" indent="-342900">
              <a:spcAft>
                <a:spcPts val="1000"/>
              </a:spcAft>
              <a:buSzPct val="100000"/>
              <a:buChar char="•"/>
            </a:pPr>
            <a:r>
              <a:rPr lang="en-US" sz="1700" dirty="0">
                <a:solidFill>
                  <a:schemeClr val="tx1"/>
                </a:solidFill>
              </a:rPr>
              <a:t>Los segmentos de ancestría terminan donde hubo recombinación, y la recombinación no ocurre de forma uniforme a lo largo del cromosoma.</a:t>
            </a:r>
            <a:endParaRPr lang="en-US" sz="1700" dirty="0"/>
          </a:p>
          <a:p>
            <a:pPr marL="342900" indent="-342900">
              <a:spcAft>
                <a:spcPts val="1000"/>
              </a:spcAft>
              <a:buSzPct val="100000"/>
              <a:buChar char="•"/>
            </a:pPr>
            <a:r>
              <a:rPr lang="en-US" sz="1700" dirty="0">
                <a:solidFill>
                  <a:schemeClr val="tx1"/>
                </a:solidFill>
              </a:rPr>
              <a:t>Hay regiones con mucha recombinación y otras con muy poca, así que dos tramos del mismo tamaño en pares de bases no son equivalentes.</a:t>
            </a:r>
            <a:endParaRPr lang="en-US" sz="1700" dirty="0"/>
          </a:p>
          <a:p>
            <a:pPr marL="342900" indent="-342900">
              <a:spcAft>
                <a:spcPts val="1000"/>
              </a:spcAft>
              <a:buSzPct val="100000"/>
              <a:buChar char="•"/>
            </a:pPr>
            <a:r>
              <a:rPr lang="en-US" sz="1700" dirty="0">
                <a:solidFill>
                  <a:schemeClr val="tx1"/>
                </a:solidFill>
              </a:rPr>
              <a:t>Por eso se usa el centimorgan (cM): la unidad en la que 1 cM equivale a un 1 % de probabilidad de recombinación por generación.</a:t>
            </a:r>
            <a:endParaRPr lang="en-US" sz="1700" dirty="0"/>
          </a:p>
          <a:p>
            <a:pPr marL="342900" indent="-342900">
              <a:spcAft>
                <a:spcPts val="1000"/>
              </a:spcAft>
              <a:buSzPct val="100000"/>
              <a:buChar char="•"/>
            </a:pPr>
            <a:r>
              <a:rPr lang="en-US" sz="1700" dirty="0">
                <a:solidFill>
                  <a:schemeClr val="tx1"/>
                </a:solidFill>
              </a:rPr>
              <a:t>El mapa genético traduce posiciones en pares de bases a posiciones en cM. Es uno de los cuatro archivos que RFMix exige.</a:t>
            </a:r>
            <a:endParaRPr lang="en-US" sz="1700" dirty="0"/>
          </a:p>
        </p:txBody>
      </p:sp>
      <p:sp>
        <p:nvSpPr>
          <p:cNvPr id="4" name="caja-cm"/>
          <p:cNvSpPr/>
          <p:nvPr/>
        </p:nvSpPr>
        <p:spPr>
          <a:xfrm>
            <a:off x="685800" y="4572000"/>
            <a:ext cx="10789920" cy="1280160"/>
          </a:xfrm>
          <a:prstGeom prst="roundRect">
            <a:avLst>
              <a:gd name="adj" fmla="val 7143"/>
            </a:avLst>
          </a:prstGeom>
          <a:solidFill>
            <a:schemeClr val="bg2"/>
          </a:solidFill>
          <a:ln w="6350">
            <a:solidFill>
              <a:srgbClr val="E2E2DE"/>
            </a:solidFill>
            <a:prstDash val="solid"/>
          </a:ln>
        </p:spPr>
      </p:sp>
      <p:sp>
        <p:nvSpPr>
          <p:cNvPr id="5" name="Text 3"/>
          <p:cNvSpPr txBox="1"/>
          <p:nvPr/>
        </p:nvSpPr>
        <p:spPr>
          <a:xfrm>
            <a:off x="914400" y="4754880"/>
            <a:ext cx="10332720" cy="914400"/>
          </a:xfrm>
          <a:prstGeom prst="rect">
            <a:avLst/>
          </a:prstGeom>
          <a:noFill/>
          <a:ln/>
        </p:spPr>
        <p:txBody>
          <a:bodyPr wrap="square" rtlCol="0" anchor="ctr"/>
          <a:lstStyle/>
          <a:p>
            <a:pPr indent="0" marL="0">
              <a:buNone/>
            </a:pPr>
            <a:r>
              <a:rPr lang="en-US" sz="1600" dirty="0">
                <a:solidFill>
                  <a:schemeClr val="tx1"/>
                </a:solidFill>
              </a:rPr>
              <a:t>El cromosoma 22 mide unos 50,8 millones de pares de bases y unos 74 cM. En la práctica veremos ese mapa graficado: la curva no es una recta.</a:t>
            </a:r>
            <a:endParaRPr lang="en-US" sz="1600" dirty="0"/>
          </a:p>
        </p:txBody>
      </p:sp>
      <p:sp>
        <p:nvSpPr>
          <p:cNvPr id="7" name="Text 0"/>
          <p:cNvSpPr/>
          <p:nvPr>
            <p:ph idx="101" type="body" hasCustomPrompt="1"/>
          </p:nvPr>
        </p:nvSpPr>
        <p:spPr>
          <a:xfrm>
            <a:off x="685800" y="1508760"/>
            <a:ext cx="10789920" cy="4663440"/>
          </a:xfrm>
          <a:prstGeom prst="rect">
            <a:avLst/>
          </a:prstGeom>
          <a:noFill/>
          <a:ln/>
        </p:spPr>
        <p:txBody>
          <a:bodyPr wrap="square" rtlCol="0" anchor="t"/>
          <a:lstStyle/>
          <a:p>
            <a:pPr indent="0" marL="0">
              <a:buNone/>
            </a:pPr>
            <a:endParaRPr lang="en-US" sz="1700" dirty="0"/>
          </a:p>
        </p:txBody>
      </p:sp>
      <p:sp>
        <p:nvSpPr>
          <p:cNvPr id="25" name="Slide Number Placeholder 0"/>
          <p:cNvSpPr>
            <a:spLocks noGrp="1"/>
          </p:cNvSpPr>
          <p:nvPr>
            <p:ph type="sldNum" sz="quarter" idx="4294967295"/>
          </p:nvPr>
        </p:nvSpPr>
        <p:spPr>
          <a:xfrm>
            <a:off x="1152144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9A9A"/>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68680"/>
          </a:xfrm>
          <a:prstGeom prst="rect">
            <a:avLst/>
          </a:prstGeom>
          <a:noFill/>
          <a:ln/>
        </p:spPr>
        <p:txBody>
          <a:bodyPr wrap="square" rtlCol="0" anchor="ctr"/>
          <a:lstStyle/>
          <a:p>
            <a:pPr indent="0" marL="0">
              <a:buNone/>
            </a:pPr>
            <a:r>
              <a:rPr lang="en-US" sz="3200" b="1" dirty="0">
                <a:solidFill>
                  <a:schemeClr val="tx2"/>
                </a:solidFill>
              </a:rPr>
              <a:t>Cómo decide RFMix la ancestría de cada tramo</a:t>
            </a:r>
            <a:endParaRPr lang="en-US" sz="3200" dirty="0"/>
          </a:p>
        </p:txBody>
      </p:sp>
      <p:sp>
        <p:nvSpPr>
          <p:cNvPr id="3" name="paso-0"/>
          <p:cNvSpPr/>
          <p:nvPr/>
        </p:nvSpPr>
        <p:spPr>
          <a:xfrm>
            <a:off x="685800" y="1664208"/>
            <a:ext cx="384048" cy="384048"/>
          </a:xfrm>
          <a:prstGeom prst="ellipse">
            <a:avLst/>
          </a:prstGeom>
          <a:solidFill>
            <a:schemeClr val="accent1"/>
          </a:solidFill>
          <a:ln w="12700">
            <a:solidFill>
              <a:schemeClr val="accent1"/>
            </a:solidFill>
            <a:prstDash val="solid"/>
          </a:ln>
        </p:spPr>
      </p:sp>
      <p:sp>
        <p:nvSpPr>
          <p:cNvPr id="4" name="Text 2"/>
          <p:cNvSpPr txBox="1"/>
          <p:nvPr/>
        </p:nvSpPr>
        <p:spPr>
          <a:xfrm>
            <a:off x="1252728" y="1600200"/>
            <a:ext cx="10040112" cy="347472"/>
          </a:xfrm>
          <a:prstGeom prst="rect">
            <a:avLst/>
          </a:prstGeom>
          <a:noFill/>
          <a:ln/>
        </p:spPr>
        <p:txBody>
          <a:bodyPr wrap="square" lIns="0" tIns="0" rIns="0" bIns="0" rtlCol="0" anchor="ctr"/>
          <a:lstStyle/>
          <a:p>
            <a:pPr indent="0" marL="0">
              <a:buNone/>
            </a:pPr>
            <a:r>
              <a:rPr lang="en-US" sz="1700" b="1" dirty="0">
                <a:solidFill>
                  <a:schemeClr val="tx2"/>
                </a:solidFill>
              </a:rPr>
              <a:t>1. Ventanas a lo largo del cromosoma</a:t>
            </a:r>
            <a:endParaRPr lang="en-US" sz="1700" dirty="0"/>
          </a:p>
        </p:txBody>
      </p:sp>
      <p:sp>
        <p:nvSpPr>
          <p:cNvPr id="5" name="Text 3"/>
          <p:cNvSpPr txBox="1"/>
          <p:nvPr/>
        </p:nvSpPr>
        <p:spPr>
          <a:xfrm>
            <a:off x="1252728" y="1984248"/>
            <a:ext cx="10040112" cy="777240"/>
          </a:xfrm>
          <a:prstGeom prst="rect">
            <a:avLst/>
          </a:prstGeom>
          <a:noFill/>
          <a:ln/>
        </p:spPr>
        <p:txBody>
          <a:bodyPr wrap="square" lIns="0" tIns="0" rIns="0" bIns="0" rtlCol="0" anchor="t"/>
          <a:lstStyle/>
          <a:p>
            <a:pPr indent="0" marL="0">
              <a:buNone/>
            </a:pPr>
            <a:r>
              <a:rPr lang="en-US" sz="1400" dirty="0">
                <a:solidFill>
                  <a:schemeClr val="tx1"/>
                </a:solidFill>
              </a:rPr>
              <a:t>Divide el cromosoma en ventanas y, en cada una, compara el haplotipo de la persona con los haplotipos de referencia.</a:t>
            </a:r>
            <a:endParaRPr lang="en-US" sz="1400" dirty="0"/>
          </a:p>
        </p:txBody>
      </p:sp>
      <p:sp>
        <p:nvSpPr>
          <p:cNvPr id="6" name="paso-1"/>
          <p:cNvSpPr/>
          <p:nvPr/>
        </p:nvSpPr>
        <p:spPr>
          <a:xfrm>
            <a:off x="685800" y="2852928"/>
            <a:ext cx="384048" cy="384048"/>
          </a:xfrm>
          <a:prstGeom prst="ellipse">
            <a:avLst/>
          </a:prstGeom>
          <a:solidFill>
            <a:schemeClr val="accent3"/>
          </a:solidFill>
          <a:ln w="12700">
            <a:solidFill>
              <a:schemeClr val="accent3"/>
            </a:solidFill>
            <a:prstDash val="solid"/>
          </a:ln>
        </p:spPr>
      </p:sp>
      <p:sp>
        <p:nvSpPr>
          <p:cNvPr id="7" name="Text 5"/>
          <p:cNvSpPr txBox="1"/>
          <p:nvPr/>
        </p:nvSpPr>
        <p:spPr>
          <a:xfrm>
            <a:off x="1252728" y="2788920"/>
            <a:ext cx="10040112" cy="347472"/>
          </a:xfrm>
          <a:prstGeom prst="rect">
            <a:avLst/>
          </a:prstGeom>
          <a:noFill/>
          <a:ln/>
        </p:spPr>
        <p:txBody>
          <a:bodyPr wrap="square" lIns="0" tIns="0" rIns="0" bIns="0" rtlCol="0" anchor="ctr"/>
          <a:lstStyle/>
          <a:p>
            <a:pPr indent="0" marL="0">
              <a:buNone/>
            </a:pPr>
            <a:r>
              <a:rPr lang="en-US" sz="1700" b="1" dirty="0">
                <a:solidFill>
                  <a:schemeClr val="tx2"/>
                </a:solidFill>
              </a:rPr>
              <a:t>2. Bosque aleatorio en cada ventana</a:t>
            </a:r>
            <a:endParaRPr lang="en-US" sz="1700" dirty="0"/>
          </a:p>
        </p:txBody>
      </p:sp>
      <p:sp>
        <p:nvSpPr>
          <p:cNvPr id="8" name="Text 6"/>
          <p:cNvSpPr txBox="1"/>
          <p:nvPr/>
        </p:nvSpPr>
        <p:spPr>
          <a:xfrm>
            <a:off x="1252728" y="3172968"/>
            <a:ext cx="10040112" cy="777240"/>
          </a:xfrm>
          <a:prstGeom prst="rect">
            <a:avLst/>
          </a:prstGeom>
          <a:noFill/>
          <a:ln/>
        </p:spPr>
        <p:txBody>
          <a:bodyPr wrap="square" lIns="0" tIns="0" rIns="0" bIns="0" rtlCol="0" anchor="t"/>
          <a:lstStyle/>
          <a:p>
            <a:pPr indent="0" marL="0">
              <a:buNone/>
            </a:pPr>
            <a:r>
              <a:rPr lang="en-US" sz="1400" dirty="0">
                <a:solidFill>
                  <a:schemeClr val="tx1"/>
                </a:solidFill>
              </a:rPr>
              <a:t>Entrena un clasificador con las referencias y le pregunta a qué ancestría se parece más esa ventana. Esa es la parte "RF" del nombre.</a:t>
            </a:r>
            <a:endParaRPr lang="en-US" sz="1400" dirty="0"/>
          </a:p>
        </p:txBody>
      </p:sp>
      <p:sp>
        <p:nvSpPr>
          <p:cNvPr id="9" name="paso-2"/>
          <p:cNvSpPr/>
          <p:nvPr/>
        </p:nvSpPr>
        <p:spPr>
          <a:xfrm>
            <a:off x="685800" y="4041648"/>
            <a:ext cx="384048" cy="384048"/>
          </a:xfrm>
          <a:prstGeom prst="ellipse">
            <a:avLst/>
          </a:prstGeom>
          <a:solidFill>
            <a:schemeClr val="accent5"/>
          </a:solidFill>
          <a:ln w="12700">
            <a:solidFill>
              <a:schemeClr val="accent5"/>
            </a:solidFill>
            <a:prstDash val="solid"/>
          </a:ln>
        </p:spPr>
      </p:sp>
      <p:sp>
        <p:nvSpPr>
          <p:cNvPr id="10" name="Text 8"/>
          <p:cNvSpPr txBox="1"/>
          <p:nvPr/>
        </p:nvSpPr>
        <p:spPr>
          <a:xfrm>
            <a:off x="1252728" y="3977640"/>
            <a:ext cx="10040112" cy="347472"/>
          </a:xfrm>
          <a:prstGeom prst="rect">
            <a:avLst/>
          </a:prstGeom>
          <a:noFill/>
          <a:ln/>
        </p:spPr>
        <p:txBody>
          <a:bodyPr wrap="square" lIns="0" tIns="0" rIns="0" bIns="0" rtlCol="0" anchor="ctr"/>
          <a:lstStyle/>
          <a:p>
            <a:pPr indent="0" marL="0">
              <a:buNone/>
            </a:pPr>
            <a:r>
              <a:rPr lang="en-US" sz="1700" b="1" dirty="0">
                <a:solidFill>
                  <a:schemeClr val="tx2"/>
                </a:solidFill>
              </a:rPr>
              <a:t>3. Un modelo del cromosoma entero</a:t>
            </a:r>
            <a:endParaRPr lang="en-US" sz="1700" dirty="0"/>
          </a:p>
        </p:txBody>
      </p:sp>
      <p:sp>
        <p:nvSpPr>
          <p:cNvPr id="11" name="Text 9"/>
          <p:cNvSpPr txBox="1"/>
          <p:nvPr/>
        </p:nvSpPr>
        <p:spPr>
          <a:xfrm>
            <a:off x="1252728" y="4361688"/>
            <a:ext cx="10040112" cy="777240"/>
          </a:xfrm>
          <a:prstGeom prst="rect">
            <a:avLst/>
          </a:prstGeom>
          <a:noFill/>
          <a:ln/>
        </p:spPr>
        <p:txBody>
          <a:bodyPr wrap="square" lIns="0" tIns="0" rIns="0" bIns="0" rtlCol="0" anchor="t"/>
          <a:lstStyle/>
          <a:p>
            <a:pPr indent="0" marL="0">
              <a:buNone/>
            </a:pPr>
            <a:r>
              <a:rPr lang="en-US" sz="1400" dirty="0">
                <a:solidFill>
                  <a:schemeClr val="tx1"/>
                </a:solidFill>
              </a:rPr>
              <a:t>Una ventana aislada se puede equivocar. Un campo aleatorio condicional usa el contexto: cambiar de ancestría tiene un costo, porque la recombinación es poco frecuente.</a:t>
            </a:r>
            <a:endParaRPr lang="en-US" sz="1400" dirty="0"/>
          </a:p>
        </p:txBody>
      </p:sp>
      <p:sp>
        <p:nvSpPr>
          <p:cNvPr id="12" name="paso-3"/>
          <p:cNvSpPr/>
          <p:nvPr/>
        </p:nvSpPr>
        <p:spPr>
          <a:xfrm>
            <a:off x="685800" y="5230368"/>
            <a:ext cx="384048" cy="384048"/>
          </a:xfrm>
          <a:prstGeom prst="ellipse">
            <a:avLst/>
          </a:prstGeom>
          <a:solidFill>
            <a:schemeClr val="accent2"/>
          </a:solidFill>
          <a:ln w="12700">
            <a:solidFill>
              <a:schemeClr val="accent2"/>
            </a:solidFill>
            <a:prstDash val="solid"/>
          </a:ln>
        </p:spPr>
      </p:sp>
      <p:sp>
        <p:nvSpPr>
          <p:cNvPr id="13" name="Text 11"/>
          <p:cNvSpPr txBox="1"/>
          <p:nvPr/>
        </p:nvSpPr>
        <p:spPr>
          <a:xfrm>
            <a:off x="1252728" y="5166360"/>
            <a:ext cx="10040112" cy="347472"/>
          </a:xfrm>
          <a:prstGeom prst="rect">
            <a:avLst/>
          </a:prstGeom>
          <a:noFill/>
          <a:ln/>
        </p:spPr>
        <p:txBody>
          <a:bodyPr wrap="square" lIns="0" tIns="0" rIns="0" bIns="0" rtlCol="0" anchor="ctr"/>
          <a:lstStyle/>
          <a:p>
            <a:pPr indent="0" marL="0">
              <a:buNone/>
            </a:pPr>
            <a:r>
              <a:rPr lang="en-US" sz="1700" b="1" dirty="0">
                <a:solidFill>
                  <a:schemeClr val="tx2"/>
                </a:solidFill>
              </a:rPr>
              <a:t>4. Resultado: segmentos, no ventanas sueltas</a:t>
            </a:r>
            <a:endParaRPr lang="en-US" sz="1700" dirty="0"/>
          </a:p>
        </p:txBody>
      </p:sp>
      <p:sp>
        <p:nvSpPr>
          <p:cNvPr id="14" name="Text 12"/>
          <p:cNvSpPr txBox="1"/>
          <p:nvPr/>
        </p:nvSpPr>
        <p:spPr>
          <a:xfrm>
            <a:off x="1252728" y="5550408"/>
            <a:ext cx="10040112" cy="777240"/>
          </a:xfrm>
          <a:prstGeom prst="rect">
            <a:avLst/>
          </a:prstGeom>
          <a:noFill/>
          <a:ln/>
        </p:spPr>
        <p:txBody>
          <a:bodyPr wrap="square" lIns="0" tIns="0" rIns="0" bIns="0" rtlCol="0" anchor="t"/>
          <a:lstStyle/>
          <a:p>
            <a:pPr indent="0" marL="0">
              <a:buNone/>
            </a:pPr>
            <a:r>
              <a:rPr lang="en-US" sz="1400" dirty="0">
                <a:solidFill>
                  <a:schemeClr val="tx1"/>
                </a:solidFill>
              </a:rPr>
              <a:t>La salida son tramos continuos con una ancestría asignada a cada uno, para cada uno de los dos haplotipos de la persona.</a:t>
            </a:r>
            <a:endParaRPr lang="en-US" sz="1400" dirty="0"/>
          </a:p>
        </p:txBody>
      </p:sp>
      <p:sp>
        <p:nvSpPr>
          <p:cNvPr id="15" name="Text 13"/>
          <p:cNvSpPr txBox="1"/>
          <p:nvPr/>
        </p:nvSpPr>
        <p:spPr>
          <a:xfrm>
            <a:off x="685800" y="6199632"/>
            <a:ext cx="10424160" cy="365760"/>
          </a:xfrm>
          <a:prstGeom prst="rect">
            <a:avLst/>
          </a:prstGeom>
          <a:noFill/>
          <a:ln/>
        </p:spPr>
        <p:txBody>
          <a:bodyPr wrap="square" lIns="0" tIns="0" rIns="0" bIns="0" rtlCol="0" anchor="ctr"/>
          <a:lstStyle/>
          <a:p>
            <a:pPr indent="0" marL="0">
              <a:buNone/>
            </a:pPr>
            <a:r>
              <a:rPr lang="en-US" sz="1100" i="1" dirty="0">
                <a:solidFill>
                  <a:srgbClr val="6B6B6B"/>
                </a:solidFill>
              </a:rPr>
              <a:t>Maples, Gravel, Kenny y Bustamante, Am J Hum Genet 2013;93:278–288. doi:10.1016/j.ajhg.2013.06.020</a:t>
            </a:r>
            <a:endParaRPr lang="en-US" sz="1100" dirty="0"/>
          </a:p>
        </p:txBody>
      </p:sp>
      <p:sp>
        <p:nvSpPr>
          <p:cNvPr id="25" name="Slide Number Placeholder 0"/>
          <p:cNvSpPr>
            <a:spLocks noGrp="1"/>
          </p:cNvSpPr>
          <p:nvPr>
            <p:ph type="sldNum" sz="quarter" idx="4294967295"/>
          </p:nvPr>
        </p:nvSpPr>
        <p:spPr>
          <a:xfrm>
            <a:off x="1152144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9A9A"/>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68680"/>
          </a:xfrm>
          <a:prstGeom prst="rect">
            <a:avLst/>
          </a:prstGeom>
          <a:noFill/>
          <a:ln/>
        </p:spPr>
        <p:txBody>
          <a:bodyPr wrap="square" rtlCol="0" anchor="ctr"/>
          <a:lstStyle/>
          <a:p>
            <a:pPr indent="0" marL="0">
              <a:buNone/>
            </a:pPr>
            <a:r>
              <a:rPr lang="en-US" sz="3200" b="1" dirty="0">
                <a:solidFill>
                  <a:schemeClr val="tx2"/>
                </a:solidFill>
              </a:rPr>
              <a:t>Lo que RFMix necesita: cuatro archivos</a:t>
            </a:r>
            <a:endParaRPr lang="en-US" sz="3200" dirty="0"/>
          </a:p>
        </p:txBody>
      </p:sp>
      <p:sp>
        <p:nvSpPr>
          <p:cNvPr id="3" name="insumo-0"/>
          <p:cNvSpPr/>
          <p:nvPr/>
        </p:nvSpPr>
        <p:spPr>
          <a:xfrm>
            <a:off x="685800" y="1801368"/>
            <a:ext cx="384048" cy="384048"/>
          </a:xfrm>
          <a:prstGeom prst="ellipse">
            <a:avLst/>
          </a:prstGeom>
          <a:solidFill>
            <a:schemeClr val="accent1"/>
          </a:solidFill>
          <a:ln w="12700">
            <a:solidFill>
              <a:schemeClr val="accent1"/>
            </a:solidFill>
            <a:prstDash val="solid"/>
          </a:ln>
        </p:spPr>
      </p:sp>
      <p:sp>
        <p:nvSpPr>
          <p:cNvPr id="4" name="Text 2"/>
          <p:cNvSpPr txBox="1"/>
          <p:nvPr/>
        </p:nvSpPr>
        <p:spPr>
          <a:xfrm>
            <a:off x="1252728" y="1737360"/>
            <a:ext cx="4462272" cy="347472"/>
          </a:xfrm>
          <a:prstGeom prst="rect">
            <a:avLst/>
          </a:prstGeom>
          <a:noFill/>
          <a:ln/>
        </p:spPr>
        <p:txBody>
          <a:bodyPr wrap="square" lIns="0" tIns="0" rIns="0" bIns="0" rtlCol="0" anchor="ctr"/>
          <a:lstStyle/>
          <a:p>
            <a:pPr indent="0" marL="0">
              <a:buNone/>
            </a:pPr>
            <a:r>
              <a:rPr lang="en-US" sz="1700" b="1" dirty="0">
                <a:solidFill>
                  <a:schemeClr val="tx2"/>
                </a:solidFill>
              </a:rPr>
              <a:t>Haplotipos de consulta</a:t>
            </a:r>
            <a:endParaRPr lang="en-US" sz="1700" dirty="0"/>
          </a:p>
        </p:txBody>
      </p:sp>
      <p:sp>
        <p:nvSpPr>
          <p:cNvPr id="5" name="Text 3"/>
          <p:cNvSpPr txBox="1"/>
          <p:nvPr/>
        </p:nvSpPr>
        <p:spPr>
          <a:xfrm>
            <a:off x="1252728" y="2121408"/>
            <a:ext cx="4462272" cy="777240"/>
          </a:xfrm>
          <a:prstGeom prst="rect">
            <a:avLst/>
          </a:prstGeom>
          <a:noFill/>
          <a:ln/>
        </p:spPr>
        <p:txBody>
          <a:bodyPr wrap="square" lIns="0" tIns="0" rIns="0" bIns="0" rtlCol="0" anchor="t"/>
          <a:lstStyle/>
          <a:p>
            <a:pPr indent="0" marL="0">
              <a:buNone/>
            </a:pPr>
            <a:r>
              <a:rPr lang="en-US" sz="1400" dirty="0">
                <a:solidFill>
                  <a:schemeClr val="tx1"/>
                </a:solidFill>
              </a:rPr>
              <a:t>VCF faseado de las personas que queremos analizar.</a:t>
            </a:r>
            <a:endParaRPr lang="en-US" sz="1400" dirty="0"/>
          </a:p>
        </p:txBody>
      </p:sp>
      <p:sp>
        <p:nvSpPr>
          <p:cNvPr id="6" name="insumo-1"/>
          <p:cNvSpPr/>
          <p:nvPr/>
        </p:nvSpPr>
        <p:spPr>
          <a:xfrm>
            <a:off x="6172200" y="1801368"/>
            <a:ext cx="384048" cy="384048"/>
          </a:xfrm>
          <a:prstGeom prst="ellipse">
            <a:avLst/>
          </a:prstGeom>
          <a:solidFill>
            <a:schemeClr val="accent3"/>
          </a:solidFill>
          <a:ln w="12700">
            <a:solidFill>
              <a:schemeClr val="accent3"/>
            </a:solidFill>
            <a:prstDash val="solid"/>
          </a:ln>
        </p:spPr>
      </p:sp>
      <p:sp>
        <p:nvSpPr>
          <p:cNvPr id="7" name="Text 5"/>
          <p:cNvSpPr txBox="1"/>
          <p:nvPr/>
        </p:nvSpPr>
        <p:spPr>
          <a:xfrm>
            <a:off x="6739128" y="1737360"/>
            <a:ext cx="4462272" cy="347472"/>
          </a:xfrm>
          <a:prstGeom prst="rect">
            <a:avLst/>
          </a:prstGeom>
          <a:noFill/>
          <a:ln/>
        </p:spPr>
        <p:txBody>
          <a:bodyPr wrap="square" lIns="0" tIns="0" rIns="0" bIns="0" rtlCol="0" anchor="ctr"/>
          <a:lstStyle/>
          <a:p>
            <a:pPr indent="0" marL="0">
              <a:buNone/>
            </a:pPr>
            <a:r>
              <a:rPr lang="en-US" sz="1700" b="1" dirty="0">
                <a:solidFill>
                  <a:schemeClr val="tx2"/>
                </a:solidFill>
              </a:rPr>
              <a:t>Haplotipos de referencia</a:t>
            </a:r>
            <a:endParaRPr lang="en-US" sz="1700" dirty="0"/>
          </a:p>
        </p:txBody>
      </p:sp>
      <p:sp>
        <p:nvSpPr>
          <p:cNvPr id="8" name="Text 6"/>
          <p:cNvSpPr txBox="1"/>
          <p:nvPr/>
        </p:nvSpPr>
        <p:spPr>
          <a:xfrm>
            <a:off x="6739128" y="2121408"/>
            <a:ext cx="4462272" cy="777240"/>
          </a:xfrm>
          <a:prstGeom prst="rect">
            <a:avLst/>
          </a:prstGeom>
          <a:noFill/>
          <a:ln/>
        </p:spPr>
        <p:txBody>
          <a:bodyPr wrap="square" lIns="0" tIns="0" rIns="0" bIns="0" rtlCol="0" anchor="t"/>
          <a:lstStyle/>
          <a:p>
            <a:pPr indent="0" marL="0">
              <a:buNone/>
            </a:pPr>
            <a:r>
              <a:rPr lang="en-US" sz="1400" dirty="0">
                <a:solidFill>
                  <a:schemeClr val="tx1"/>
                </a:solidFill>
              </a:rPr>
              <a:t>VCF faseado de personas de ancestría conocida y no mezcladas.</a:t>
            </a:r>
            <a:endParaRPr lang="en-US" sz="1400" dirty="0"/>
          </a:p>
        </p:txBody>
      </p:sp>
      <p:sp>
        <p:nvSpPr>
          <p:cNvPr id="9" name="insumo-2"/>
          <p:cNvSpPr/>
          <p:nvPr/>
        </p:nvSpPr>
        <p:spPr>
          <a:xfrm>
            <a:off x="685800" y="3401568"/>
            <a:ext cx="384048" cy="384048"/>
          </a:xfrm>
          <a:prstGeom prst="ellipse">
            <a:avLst/>
          </a:prstGeom>
          <a:solidFill>
            <a:schemeClr val="accent5"/>
          </a:solidFill>
          <a:ln w="12700">
            <a:solidFill>
              <a:schemeClr val="accent5"/>
            </a:solidFill>
            <a:prstDash val="solid"/>
          </a:ln>
        </p:spPr>
      </p:sp>
      <p:sp>
        <p:nvSpPr>
          <p:cNvPr id="10" name="Text 8"/>
          <p:cNvSpPr txBox="1"/>
          <p:nvPr/>
        </p:nvSpPr>
        <p:spPr>
          <a:xfrm>
            <a:off x="1252728" y="3337560"/>
            <a:ext cx="4462272" cy="347472"/>
          </a:xfrm>
          <a:prstGeom prst="rect">
            <a:avLst/>
          </a:prstGeom>
          <a:noFill/>
          <a:ln/>
        </p:spPr>
        <p:txBody>
          <a:bodyPr wrap="square" lIns="0" tIns="0" rIns="0" bIns="0" rtlCol="0" anchor="ctr"/>
          <a:lstStyle/>
          <a:p>
            <a:pPr indent="0" marL="0">
              <a:buNone/>
            </a:pPr>
            <a:r>
              <a:rPr lang="en-US" sz="1700" b="1" dirty="0">
                <a:solidFill>
                  <a:schemeClr val="tx2"/>
                </a:solidFill>
              </a:rPr>
              <a:t>Sample map</a:t>
            </a:r>
            <a:endParaRPr lang="en-US" sz="1700" dirty="0"/>
          </a:p>
        </p:txBody>
      </p:sp>
      <p:sp>
        <p:nvSpPr>
          <p:cNvPr id="11" name="Text 9"/>
          <p:cNvSpPr txBox="1"/>
          <p:nvPr/>
        </p:nvSpPr>
        <p:spPr>
          <a:xfrm>
            <a:off x="1252728" y="3721608"/>
            <a:ext cx="4462272" cy="777240"/>
          </a:xfrm>
          <a:prstGeom prst="rect">
            <a:avLst/>
          </a:prstGeom>
          <a:noFill/>
          <a:ln/>
        </p:spPr>
        <p:txBody>
          <a:bodyPr wrap="square" lIns="0" tIns="0" rIns="0" bIns="0" rtlCol="0" anchor="t"/>
          <a:lstStyle/>
          <a:p>
            <a:pPr indent="0" marL="0">
              <a:buNone/>
            </a:pPr>
            <a:r>
              <a:rPr lang="en-US" sz="1400" dirty="0">
                <a:solidFill>
                  <a:schemeClr val="tx1"/>
                </a:solidFill>
              </a:rPr>
              <a:t>Una tabla que dice qué ancestría representa cada persona de referencia.</a:t>
            </a:r>
            <a:endParaRPr lang="en-US" sz="1400" dirty="0"/>
          </a:p>
        </p:txBody>
      </p:sp>
      <p:sp>
        <p:nvSpPr>
          <p:cNvPr id="12" name="insumo-3"/>
          <p:cNvSpPr/>
          <p:nvPr/>
        </p:nvSpPr>
        <p:spPr>
          <a:xfrm>
            <a:off x="6172200" y="3401568"/>
            <a:ext cx="384048" cy="384048"/>
          </a:xfrm>
          <a:prstGeom prst="ellipse">
            <a:avLst/>
          </a:prstGeom>
          <a:solidFill>
            <a:schemeClr val="accent2"/>
          </a:solidFill>
          <a:ln w="12700">
            <a:solidFill>
              <a:schemeClr val="accent2"/>
            </a:solidFill>
            <a:prstDash val="solid"/>
          </a:ln>
        </p:spPr>
      </p:sp>
      <p:sp>
        <p:nvSpPr>
          <p:cNvPr id="13" name="Text 11"/>
          <p:cNvSpPr txBox="1"/>
          <p:nvPr/>
        </p:nvSpPr>
        <p:spPr>
          <a:xfrm>
            <a:off x="6739128" y="3337560"/>
            <a:ext cx="4462272" cy="347472"/>
          </a:xfrm>
          <a:prstGeom prst="rect">
            <a:avLst/>
          </a:prstGeom>
          <a:noFill/>
          <a:ln/>
        </p:spPr>
        <p:txBody>
          <a:bodyPr wrap="square" lIns="0" tIns="0" rIns="0" bIns="0" rtlCol="0" anchor="ctr"/>
          <a:lstStyle/>
          <a:p>
            <a:pPr indent="0" marL="0">
              <a:buNone/>
            </a:pPr>
            <a:r>
              <a:rPr lang="en-US" sz="1700" b="1" dirty="0">
                <a:solidFill>
                  <a:schemeClr val="tx2"/>
                </a:solidFill>
              </a:rPr>
              <a:t>Mapa genético</a:t>
            </a:r>
            <a:endParaRPr lang="en-US" sz="1700" dirty="0"/>
          </a:p>
        </p:txBody>
      </p:sp>
      <p:sp>
        <p:nvSpPr>
          <p:cNvPr id="14" name="Text 12"/>
          <p:cNvSpPr txBox="1"/>
          <p:nvPr/>
        </p:nvSpPr>
        <p:spPr>
          <a:xfrm>
            <a:off x="6739128" y="3721608"/>
            <a:ext cx="4462272" cy="777240"/>
          </a:xfrm>
          <a:prstGeom prst="rect">
            <a:avLst/>
          </a:prstGeom>
          <a:noFill/>
          <a:ln/>
        </p:spPr>
        <p:txBody>
          <a:bodyPr wrap="square" lIns="0" tIns="0" rIns="0" bIns="0" rtlCol="0" anchor="t"/>
          <a:lstStyle/>
          <a:p>
            <a:pPr indent="0" marL="0">
              <a:buNone/>
            </a:pPr>
            <a:r>
              <a:rPr lang="en-US" sz="1400" dirty="0">
                <a:solidFill>
                  <a:schemeClr val="tx1"/>
                </a:solidFill>
              </a:rPr>
              <a:t>La posición en centimorgans de cada punto del cromosoma.</a:t>
            </a:r>
            <a:endParaRPr lang="en-US" sz="1400" dirty="0"/>
          </a:p>
        </p:txBody>
      </p:sp>
      <p:sp>
        <p:nvSpPr>
          <p:cNvPr id="15" name="caja-refs"/>
          <p:cNvSpPr/>
          <p:nvPr/>
        </p:nvSpPr>
        <p:spPr>
          <a:xfrm>
            <a:off x="685800" y="4937760"/>
            <a:ext cx="10789920" cy="1097280"/>
          </a:xfrm>
          <a:prstGeom prst="roundRect">
            <a:avLst>
              <a:gd name="adj" fmla="val 8333"/>
            </a:avLst>
          </a:prstGeom>
          <a:solidFill>
            <a:schemeClr val="bg2"/>
          </a:solidFill>
          <a:ln w="6350">
            <a:solidFill>
              <a:srgbClr val="E2E2DE"/>
            </a:solidFill>
            <a:prstDash val="solid"/>
          </a:ln>
        </p:spPr>
      </p:sp>
      <p:sp>
        <p:nvSpPr>
          <p:cNvPr id="16" name="Text 14"/>
          <p:cNvSpPr txBox="1"/>
          <p:nvPr/>
        </p:nvSpPr>
        <p:spPr>
          <a:xfrm>
            <a:off x="914400" y="5074920"/>
            <a:ext cx="10332720" cy="822960"/>
          </a:xfrm>
          <a:prstGeom prst="rect">
            <a:avLst/>
          </a:prstGeom>
          <a:noFill/>
          <a:ln/>
        </p:spPr>
        <p:txBody>
          <a:bodyPr wrap="square" rtlCol="0" anchor="ctr"/>
          <a:lstStyle/>
          <a:p>
            <a:pPr indent="0" marL="0">
              <a:buNone/>
            </a:pPr>
            <a:r>
              <a:rPr lang="en-US" sz="1600" dirty="0">
                <a:solidFill>
                  <a:schemeClr val="tx1"/>
                </a:solidFill>
              </a:rPr>
              <a:t>La calidad del resultado depende sobre todo de las referencias: si una población de referencia está ella misma mezclada, RFMix confundirá ancestrías. Lo comprobaremos el sábado con un caso real.</a:t>
            </a:r>
            <a:endParaRPr lang="en-US" sz="1600" dirty="0"/>
          </a:p>
        </p:txBody>
      </p:sp>
      <p:sp>
        <p:nvSpPr>
          <p:cNvPr id="25" name="Slide Number Placeholder 0"/>
          <p:cNvSpPr>
            <a:spLocks noGrp="1"/>
          </p:cNvSpPr>
          <p:nvPr>
            <p:ph type="sldNum" sz="quarter" idx="4294967295"/>
          </p:nvPr>
        </p:nvSpPr>
        <p:spPr>
          <a:xfrm>
            <a:off x="1152144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9A9A"/>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68680"/>
          </a:xfrm>
          <a:prstGeom prst="rect">
            <a:avLst/>
          </a:prstGeom>
          <a:noFill/>
          <a:ln/>
        </p:spPr>
        <p:txBody>
          <a:bodyPr wrap="square" rtlCol="0" anchor="ctr"/>
          <a:lstStyle/>
          <a:p>
            <a:pPr indent="0" marL="0">
              <a:buNone/>
            </a:pPr>
            <a:r>
              <a:rPr lang="en-US" sz="3200" b="1" dirty="0">
                <a:solidFill>
                  <a:schemeClr val="tx2"/>
                </a:solidFill>
              </a:rPr>
              <a:t>El largo de los segmentos cuenta el tiempo</a:t>
            </a:r>
            <a:endParaRPr lang="en-US" sz="3200" dirty="0"/>
          </a:p>
        </p:txBody>
      </p:sp>
      <p:sp>
        <p:nvSpPr>
          <p:cNvPr id="3" name="Text 1"/>
          <p:cNvSpPr txBox="1"/>
          <p:nvPr/>
        </p:nvSpPr>
        <p:spPr>
          <a:xfrm>
            <a:off x="685800" y="1645920"/>
            <a:ext cx="5486400" cy="2926080"/>
          </a:xfrm>
          <a:prstGeom prst="rect">
            <a:avLst/>
          </a:prstGeom>
          <a:noFill/>
          <a:ln/>
        </p:spPr>
        <p:txBody>
          <a:bodyPr wrap="square" rtlCol="0" anchor="t"/>
          <a:lstStyle/>
          <a:p>
            <a:pPr indent="0" marL="0">
              <a:buNone/>
            </a:pPr>
            <a:r>
              <a:rPr lang="en-US" sz="1600" dirty="0">
                <a:solidFill>
                  <a:schemeClr val="tx1"/>
                </a:solidFill>
              </a:rPr>
              <a:t>Cada generación desde la mezcla, la recombinación corta los segmentos de ancestría. Segmentos largos significan mezcla reciente; segmentos cortos, mezcla antigua.
</a:t>
            </a:r>
            <a:endParaRPr lang="en-US" sz="1600" dirty="0"/>
          </a:p>
          <a:p>
            <a:pPr indent="0" marL="0">
              <a:buNone/>
            </a:pPr>
            <a:r>
              <a:rPr lang="en-US" sz="1600" dirty="0">
                <a:solidFill>
                  <a:schemeClr val="tx1"/>
                </a:solidFill>
              </a:rPr>
              <a:t>De ahí se puede estimar hace cuántas generaciones ocurrió la mezcla. En las poblaciones latinoamericanas el orden de magnitud son 15 a 20 generaciones, es decir unos 400 a 500 años, que coincide con lo que sabemos por historia.</a:t>
            </a:r>
            <a:endParaRPr lang="en-US" sz="1600" dirty="0"/>
          </a:p>
        </p:txBody>
      </p:sp>
      <p:pic>
        <p:nvPicPr>
          <p:cNvPr id="4" name="figura-lineas" descr="/tmp/claude-0/-home-claude/e238050a-ce3c-58bd-bb86-9554df59862c/scratchpad/figs/lineas.png">    </p:cNvPr>
          <p:cNvPicPr>
            <a:picLocks noChangeAspect="1"/>
          </p:cNvPicPr>
          <p:nvPr/>
        </p:nvPicPr>
        <p:blipFill>
          <a:blip r:embed="rId1"/>
          <a:stretch>
            <a:fillRect/>
          </a:stretch>
        </p:blipFill>
        <p:spPr>
          <a:xfrm>
            <a:off x="6492240" y="1508760"/>
            <a:ext cx="4937760" cy="4443984"/>
          </a:xfrm>
          <a:prstGeom prst="rect">
            <a:avLst/>
          </a:prstGeom>
        </p:spPr>
      </p:pic>
      <p:sp>
        <p:nvSpPr>
          <p:cNvPr id="5" name="Text 2"/>
          <p:cNvSpPr txBox="1"/>
          <p:nvPr/>
        </p:nvSpPr>
        <p:spPr>
          <a:xfrm>
            <a:off x="685800" y="4754880"/>
            <a:ext cx="5486400" cy="1188720"/>
          </a:xfrm>
          <a:prstGeom prst="rect">
            <a:avLst/>
          </a:prstGeom>
          <a:noFill/>
          <a:ln/>
        </p:spPr>
        <p:txBody>
          <a:bodyPr wrap="square" rtlCol="0" anchor="t"/>
          <a:lstStyle/>
          <a:p>
            <a:pPr indent="0" marL="0">
              <a:buNone/>
            </a:pPr>
            <a:r>
              <a:rPr lang="en-US" sz="1400" i="1" dirty="0">
                <a:solidFill>
                  <a:srgbClr val="52514E"/>
                </a:solidFill>
              </a:rPr>
              <a:t>A la derecha, la otra cara: la ancestría promedio a lo largo del cromosoma 22 en cuatro poblaciones. Las líneas son casi planas, como corresponde a una mezcla sin selección fuerte.</a:t>
            </a:r>
            <a:endParaRPr lang="en-US" sz="1400" dirty="0"/>
          </a:p>
        </p:txBody>
      </p:sp>
      <p:sp>
        <p:nvSpPr>
          <p:cNvPr id="6" name="Text 3"/>
          <p:cNvSpPr txBox="1"/>
          <p:nvPr/>
        </p:nvSpPr>
        <p:spPr>
          <a:xfrm>
            <a:off x="685800" y="6199632"/>
            <a:ext cx="10424160" cy="365760"/>
          </a:xfrm>
          <a:prstGeom prst="rect">
            <a:avLst/>
          </a:prstGeom>
          <a:noFill/>
          <a:ln/>
        </p:spPr>
        <p:txBody>
          <a:bodyPr wrap="square" lIns="0" tIns="0" rIns="0" bIns="0" rtlCol="0" anchor="ctr"/>
          <a:lstStyle/>
          <a:p>
            <a:pPr indent="0" marL="0">
              <a:buNone/>
            </a:pPr>
            <a:r>
              <a:rPr lang="en-US" sz="1100" i="1" dirty="0">
                <a:solidFill>
                  <a:srgbClr val="6B6B6B"/>
                </a:solidFill>
              </a:rPr>
              <a:t>Gravel, Genetics 2012;191:607–619. doi:10.1534/genetics.112.139808</a:t>
            </a:r>
            <a:endParaRPr lang="en-US" sz="1100" dirty="0"/>
          </a:p>
        </p:txBody>
      </p:sp>
      <p:sp>
        <p:nvSpPr>
          <p:cNvPr id="25" name="Slide Number Placeholder 0"/>
          <p:cNvSpPr>
            <a:spLocks noGrp="1"/>
          </p:cNvSpPr>
          <p:nvPr>
            <p:ph type="sldNum" sz="quarter" idx="4294967295"/>
          </p:nvPr>
        </p:nvSpPr>
        <p:spPr>
          <a:xfrm>
            <a:off x="1152144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9A9A"/>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68680"/>
          </a:xfrm>
          <a:prstGeom prst="rect">
            <a:avLst/>
          </a:prstGeom>
          <a:noFill/>
          <a:ln/>
        </p:spPr>
        <p:txBody>
          <a:bodyPr wrap="square" rtlCol="0" anchor="ctr"/>
          <a:lstStyle/>
          <a:p>
            <a:pPr indent="0" marL="0">
              <a:buNone/>
            </a:pPr>
            <a:r>
              <a:rPr lang="en-US" sz="3200" b="1" dirty="0">
                <a:solidFill>
                  <a:schemeClr val="tx2"/>
                </a:solidFill>
              </a:rPr>
              <a:t>Para la sesión 3 del sábado</a:t>
            </a:r>
            <a:endParaRPr lang="en-US" sz="3200" dirty="0"/>
          </a:p>
        </p:txBody>
      </p:sp>
      <p:sp>
        <p:nvSpPr>
          <p:cNvPr id="3" name="Text 1"/>
          <p:cNvSpPr txBox="1"/>
          <p:nvPr/>
        </p:nvSpPr>
        <p:spPr>
          <a:xfrm>
            <a:off x="685800" y="1508760"/>
            <a:ext cx="10789920" cy="4572000"/>
          </a:xfrm>
          <a:prstGeom prst="rect">
            <a:avLst/>
          </a:prstGeom>
          <a:noFill/>
          <a:ln/>
        </p:spPr>
        <p:txBody>
          <a:bodyPr wrap="square" rtlCol="0" anchor="t"/>
          <a:lstStyle/>
          <a:p>
            <a:pPr marL="342900" indent="-342900">
              <a:spcAft>
                <a:spcPts val="1000"/>
              </a:spcAft>
              <a:buSzPct val="100000"/>
              <a:buChar char="•"/>
            </a:pPr>
            <a:r>
              <a:rPr lang="en-US" sz="1700" dirty="0">
                <a:solidFill>
                  <a:schemeClr val="tx1"/>
                </a:solidFill>
              </a:rPr>
              <a:t>Usaremos el cromosoma 22 ya faseado de personas de Medellín, México, Puerto Rico y Lima.</a:t>
            </a:r>
            <a:endParaRPr lang="en-US" sz="1700" dirty="0"/>
          </a:p>
          <a:p>
            <a:pPr marL="342900" indent="-342900">
              <a:spcAft>
                <a:spcPts val="1000"/>
              </a:spcAft>
              <a:buSzPct val="100000"/>
              <a:buChar char="•"/>
            </a:pPr>
            <a:r>
              <a:rPr lang="en-US" sz="1700" dirty="0">
                <a:solidFill>
                  <a:schemeClr val="tx1"/>
                </a:solidFill>
              </a:rPr>
              <a:t>Revisaremos los cuatro insumos y armaremos el sample map como ejercicio.</a:t>
            </a:r>
            <a:endParaRPr lang="en-US" sz="1700" dirty="0"/>
          </a:p>
          <a:p>
            <a:pPr marL="342900" indent="-342900">
              <a:spcAft>
                <a:spcPts val="1000"/>
              </a:spcAft>
              <a:buSzPct val="100000"/>
              <a:buChar char="•"/>
            </a:pPr>
            <a:r>
              <a:rPr lang="en-US" sz="1700" dirty="0">
                <a:solidFill>
                  <a:schemeClr val="tx1"/>
                </a:solidFill>
              </a:rPr>
              <a:t>Compilaremos y correremos RFMix: unos 4 minutos con 10 personas.</a:t>
            </a:r>
            <a:endParaRPr lang="en-US" sz="1700" dirty="0"/>
          </a:p>
          <a:p>
            <a:pPr marL="342900" indent="-342900">
              <a:spcAft>
                <a:spcPts val="1000"/>
              </a:spcAft>
              <a:buSzPct val="100000"/>
              <a:buChar char="•"/>
            </a:pPr>
            <a:r>
              <a:rPr lang="en-US" sz="1700" dirty="0">
                <a:solidFill>
                  <a:schemeClr val="tx1"/>
                </a:solidFill>
              </a:rPr>
              <a:t>Pintaremos los cromosomas de dos formas y compararemos las cuatro poblaciones.</a:t>
            </a:r>
            <a:endParaRPr lang="en-US" sz="1700" dirty="0"/>
          </a:p>
        </p:txBody>
      </p:sp>
      <p:sp>
        <p:nvSpPr>
          <p:cNvPr id="4" name="caja-lect3"/>
          <p:cNvSpPr/>
          <p:nvPr/>
        </p:nvSpPr>
        <p:spPr>
          <a:xfrm>
            <a:off x="685800" y="4206240"/>
            <a:ext cx="10789920" cy="1737360"/>
          </a:xfrm>
          <a:prstGeom prst="roundRect">
            <a:avLst>
              <a:gd name="adj" fmla="val 5263"/>
            </a:avLst>
          </a:prstGeom>
          <a:solidFill>
            <a:schemeClr val="bg2"/>
          </a:solidFill>
          <a:ln w="6350">
            <a:solidFill>
              <a:srgbClr val="E2E2DE"/>
            </a:solidFill>
            <a:prstDash val="solid"/>
          </a:ln>
        </p:spPr>
      </p:sp>
      <p:sp>
        <p:nvSpPr>
          <p:cNvPr id="5" name="Text 3"/>
          <p:cNvSpPr txBox="1"/>
          <p:nvPr/>
        </p:nvSpPr>
        <p:spPr>
          <a:xfrm>
            <a:off x="960120" y="4370832"/>
            <a:ext cx="10241280" cy="365760"/>
          </a:xfrm>
          <a:prstGeom prst="rect">
            <a:avLst/>
          </a:prstGeom>
          <a:noFill/>
          <a:ln/>
        </p:spPr>
        <p:txBody>
          <a:bodyPr wrap="square" lIns="0" tIns="0" rIns="0" bIns="0" rtlCol="0" anchor="ctr"/>
          <a:lstStyle/>
          <a:p>
            <a:pPr indent="0" marL="0">
              <a:buNone/>
            </a:pPr>
            <a:r>
              <a:rPr lang="en-US" sz="1600" b="1" dirty="0">
                <a:solidFill>
                  <a:schemeClr val="tx2"/>
                </a:solidFill>
              </a:rPr>
              <a:t>Lecturas de este módulo</a:t>
            </a:r>
            <a:endParaRPr lang="en-US" sz="1600" dirty="0"/>
          </a:p>
        </p:txBody>
      </p:sp>
      <p:sp>
        <p:nvSpPr>
          <p:cNvPr id="6" name="Text 4"/>
          <p:cNvSpPr txBox="1"/>
          <p:nvPr/>
        </p:nvSpPr>
        <p:spPr>
          <a:xfrm>
            <a:off x="960120" y="4754880"/>
            <a:ext cx="10241280" cy="1097280"/>
          </a:xfrm>
          <a:prstGeom prst="rect">
            <a:avLst/>
          </a:prstGeom>
          <a:noFill/>
          <a:ln/>
        </p:spPr>
        <p:txBody>
          <a:bodyPr wrap="square" rtlCol="0" anchor="t"/>
          <a:lstStyle/>
          <a:p>
            <a:pPr marL="342900" indent="-342900">
              <a:spcAft>
                <a:spcPts val="400"/>
              </a:spcAft>
              <a:buSzPct val="100000"/>
              <a:buChar char="•"/>
            </a:pPr>
            <a:r>
              <a:rPr lang="en-US" sz="1300" dirty="0">
                <a:solidFill>
                  <a:schemeClr val="tx1"/>
                </a:solidFill>
              </a:rPr>
              <a:t>Maples et al. RFMix: a discriminative modeling approach for rapid and robust local-ancestry inference. Am J Hum Genet 2013;93:278–288 (principal)</a:t>
            </a:r>
            <a:endParaRPr lang="en-US" sz="1300" dirty="0"/>
          </a:p>
          <a:p>
            <a:pPr marL="342900" indent="-342900">
              <a:spcAft>
                <a:spcPts val="400"/>
              </a:spcAft>
              <a:buSzPct val="100000"/>
              <a:buChar char="•"/>
            </a:pPr>
            <a:r>
              <a:rPr lang="en-US" sz="1300" dirty="0">
                <a:solidFill>
                  <a:schemeClr val="tx1"/>
                </a:solidFill>
              </a:rPr>
              <a:t>Gravel. Population genetics models of local ancestry. Genetics 2012;191:607–619</a:t>
            </a:r>
            <a:endParaRPr lang="en-US" sz="1300" dirty="0"/>
          </a:p>
          <a:p>
            <a:pPr marL="342900" indent="-342900">
              <a:spcAft>
                <a:spcPts val="400"/>
              </a:spcAft>
              <a:buSzPct val="100000"/>
              <a:buChar char="•"/>
            </a:pPr>
            <a:r>
              <a:rPr lang="en-US" sz="1300" dirty="0">
                <a:solidFill>
                  <a:schemeClr val="tx1"/>
                </a:solidFill>
              </a:rPr>
              <a:t>Koenig et al. A harmonized public resource of deeply sequenced diverse human genomes. Genome Res 2024;34(5):796</a:t>
            </a:r>
            <a:endParaRPr lang="en-US" sz="1300" dirty="0"/>
          </a:p>
        </p:txBody>
      </p:sp>
      <p:sp>
        <p:nvSpPr>
          <p:cNvPr id="8" name="Text 0"/>
          <p:cNvSpPr/>
          <p:nvPr>
            <p:ph idx="101" type="body" hasCustomPrompt="1"/>
          </p:nvPr>
        </p:nvSpPr>
        <p:spPr>
          <a:xfrm>
            <a:off x="685800" y="1508760"/>
            <a:ext cx="10789920" cy="4663440"/>
          </a:xfrm>
          <a:prstGeom prst="rect">
            <a:avLst/>
          </a:prstGeom>
          <a:noFill/>
          <a:ln/>
        </p:spPr>
        <p:txBody>
          <a:bodyPr wrap="square" rtlCol="0" anchor="t"/>
          <a:lstStyle/>
          <a:p>
            <a:pPr indent="0" marL="0">
              <a:buNone/>
            </a:pPr>
            <a:endParaRPr lang="en-US" sz="1700" dirty="0"/>
          </a:p>
        </p:txBody>
      </p:sp>
      <p:sp>
        <p:nvSpPr>
          <p:cNvPr id="25" name="Slide Number Placeholder 0"/>
          <p:cNvSpPr>
            <a:spLocks noGrp="1"/>
          </p:cNvSpPr>
          <p:nvPr>
            <p:ph type="sldNum" sz="quarter" idx="4294967295"/>
          </p:nvPr>
        </p:nvSpPr>
        <p:spPr>
          <a:xfrm>
            <a:off x="1152144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9A9A"/>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914400" y="2560320"/>
            <a:ext cx="10332720" cy="1280160"/>
          </a:xfrm>
          <a:prstGeom prst="rect">
            <a:avLst/>
          </a:prstGeom>
          <a:noFill/>
          <a:ln/>
        </p:spPr>
        <p:txBody>
          <a:bodyPr wrap="square" rtlCol="0" anchor="b"/>
          <a:lstStyle/>
          <a:p>
            <a:pPr indent="0" marL="0">
              <a:buNone/>
            </a:pPr>
            <a:r>
              <a:rPr lang="en-US" sz="3600" b="1" dirty="0">
                <a:solidFill>
                  <a:schemeClr val="bg1"/>
                </a:solidFill>
              </a:rPr>
              <a:t>Módulo 4. Aplicaciones</a:t>
            </a:r>
            <a:endParaRPr lang="en-US" sz="3600" dirty="0"/>
          </a:p>
        </p:txBody>
      </p:sp>
      <p:sp>
        <p:nvSpPr>
          <p:cNvPr id="3" name="Text 0"/>
          <p:cNvSpPr/>
          <p:nvPr>
            <p:ph idx="101" type="body" hasCustomPrompt="1"/>
          </p:nvPr>
        </p:nvSpPr>
        <p:spPr>
          <a:xfrm>
            <a:off x="914400" y="3886200"/>
            <a:ext cx="10332720" cy="1188720"/>
          </a:xfrm>
          <a:prstGeom prst="rect">
            <a:avLst/>
          </a:prstGeom>
          <a:noFill/>
          <a:ln/>
        </p:spPr>
        <p:txBody>
          <a:bodyPr wrap="square" rtlCol="0" anchor="t"/>
          <a:lstStyle/>
          <a:p>
            <a:pPr indent="0" marL="0">
              <a:buNone/>
            </a:pPr>
            <a:r>
              <a:rPr lang="en-US" sz="1700" dirty="0">
                <a:solidFill>
                  <a:srgbClr val="C3C2B7"/>
                </a:solidFill>
              </a:rPr>
              <a:t>Antes de la sesión 4 · Admixture mapping, puntajes de riesgo poligénico y medicina de precisión</a:t>
            </a:r>
            <a:endParaRPr lang="en-US" sz="1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68680"/>
          </a:xfrm>
          <a:prstGeom prst="rect">
            <a:avLst/>
          </a:prstGeom>
          <a:noFill/>
          <a:ln/>
        </p:spPr>
        <p:txBody>
          <a:bodyPr wrap="square" rtlCol="0" anchor="ctr"/>
          <a:lstStyle/>
          <a:p>
            <a:pPr indent="0" marL="0">
              <a:buNone/>
            </a:pPr>
            <a:r>
              <a:rPr lang="en-US" sz="3200" b="1" dirty="0">
                <a:solidFill>
                  <a:schemeClr val="tx2"/>
                </a:solidFill>
              </a:rPr>
              <a:t>Admixture mapping: buscar enfermedad a través de la ancestría</a:t>
            </a:r>
            <a:endParaRPr lang="en-US" sz="3200" dirty="0"/>
          </a:p>
        </p:txBody>
      </p:sp>
      <p:sp>
        <p:nvSpPr>
          <p:cNvPr id="3" name="Text 1"/>
          <p:cNvSpPr txBox="1"/>
          <p:nvPr/>
        </p:nvSpPr>
        <p:spPr>
          <a:xfrm>
            <a:off x="685800" y="1645920"/>
            <a:ext cx="5669280" cy="3291840"/>
          </a:xfrm>
          <a:prstGeom prst="rect">
            <a:avLst/>
          </a:prstGeom>
          <a:noFill/>
          <a:ln/>
        </p:spPr>
        <p:txBody>
          <a:bodyPr wrap="square" rtlCol="0" anchor="t"/>
          <a:lstStyle/>
          <a:p>
            <a:pPr indent="0" marL="0">
              <a:buNone/>
            </a:pPr>
            <a:r>
              <a:rPr lang="en-US" sz="1600" dirty="0">
                <a:solidFill>
                  <a:schemeClr val="tx1"/>
                </a:solidFill>
              </a:rPr>
              <a:t>La lógica: en una población mezclada, cada persona tiene una proporción de ancestría global, pero a lo largo del genoma esa proporción fluctúa por azar.
</a:t>
            </a:r>
            <a:endParaRPr lang="en-US" sz="1600" dirty="0"/>
          </a:p>
          <a:p>
            <a:pPr indent="0" marL="0">
              <a:buNone/>
            </a:pPr>
            <a:r>
              <a:rPr lang="en-US" sz="1600" dirty="0">
                <a:solidFill>
                  <a:schemeClr val="tx1"/>
                </a:solidFill>
              </a:rPr>
              <a:t>Si una enfermedad es más frecuente en uno de los grupos ancestrales por razones genéticas, las personas enfermas deberían tener, en la región responsable, más ancestría de ese grupo que en el resto de su genoma.
</a:t>
            </a:r>
            <a:endParaRPr lang="en-US" sz="1600" dirty="0"/>
          </a:p>
          <a:p>
            <a:pPr indent="0" marL="0">
              <a:buNone/>
            </a:pPr>
            <a:r>
              <a:rPr lang="en-US" sz="1600" dirty="0">
                <a:solidFill>
                  <a:schemeClr val="tx1"/>
                </a:solidFill>
              </a:rPr>
              <a:t>Entonces no se busca variante por variante, como en un GWAS: se busca exceso de ancestría local en los casos.</a:t>
            </a:r>
            <a:endParaRPr lang="en-US" sz="1600" dirty="0"/>
          </a:p>
        </p:txBody>
      </p:sp>
      <p:sp>
        <p:nvSpPr>
          <p:cNvPr id="4" name="caja-ventaja"/>
          <p:cNvSpPr/>
          <p:nvPr/>
        </p:nvSpPr>
        <p:spPr>
          <a:xfrm>
            <a:off x="6766560" y="1737360"/>
            <a:ext cx="4663440" cy="3657600"/>
          </a:xfrm>
          <a:prstGeom prst="roundRect">
            <a:avLst>
              <a:gd name="adj" fmla="val 2500"/>
            </a:avLst>
          </a:prstGeom>
          <a:solidFill>
            <a:schemeClr val="bg2"/>
          </a:solidFill>
          <a:ln w="6350">
            <a:solidFill>
              <a:srgbClr val="E2E2DE"/>
            </a:solidFill>
            <a:prstDash val="solid"/>
          </a:ln>
        </p:spPr>
      </p:sp>
      <p:sp>
        <p:nvSpPr>
          <p:cNvPr id="5" name="Text 3"/>
          <p:cNvSpPr txBox="1"/>
          <p:nvPr/>
        </p:nvSpPr>
        <p:spPr>
          <a:xfrm>
            <a:off x="7040880" y="1920240"/>
            <a:ext cx="4114800" cy="411480"/>
          </a:xfrm>
          <a:prstGeom prst="rect">
            <a:avLst/>
          </a:prstGeom>
          <a:noFill/>
          <a:ln/>
        </p:spPr>
        <p:txBody>
          <a:bodyPr wrap="square" lIns="0" tIns="0" rIns="0" bIns="0" rtlCol="0" anchor="ctr"/>
          <a:lstStyle/>
          <a:p>
            <a:pPr indent="0" marL="0">
              <a:buNone/>
            </a:pPr>
            <a:r>
              <a:rPr lang="en-US" sz="1900" b="1" dirty="0">
                <a:solidFill>
                  <a:schemeClr val="accent3"/>
                </a:solidFill>
              </a:rPr>
              <a:t>La ventaja</a:t>
            </a:r>
            <a:endParaRPr lang="en-US" sz="1900" dirty="0"/>
          </a:p>
        </p:txBody>
      </p:sp>
      <p:sp>
        <p:nvSpPr>
          <p:cNvPr id="6" name="Text 4"/>
          <p:cNvSpPr txBox="1"/>
          <p:nvPr/>
        </p:nvSpPr>
        <p:spPr>
          <a:xfrm>
            <a:off x="7040880" y="2377440"/>
            <a:ext cx="4114800" cy="2834640"/>
          </a:xfrm>
          <a:prstGeom prst="rect">
            <a:avLst/>
          </a:prstGeom>
          <a:noFill/>
          <a:ln/>
        </p:spPr>
        <p:txBody>
          <a:bodyPr wrap="square" rtlCol="0" anchor="t"/>
          <a:lstStyle/>
          <a:p>
            <a:pPr indent="0" marL="0">
              <a:buNone/>
            </a:pPr>
            <a:r>
              <a:rPr lang="en-US" sz="1400" dirty="0">
                <a:solidFill>
                  <a:schemeClr val="tx1"/>
                </a:solidFill>
              </a:rPr>
              <a:t>Los bloques de ancestría son enormes comparados con los bloques de desequilibrio de ligamiento dentro de una población.</a:t>
            </a:r>
            <a:endParaRPr lang="en-US" sz="1400" dirty="0"/>
          </a:p>
          <a:p>
            <a:pPr indent="0" marL="0">
              <a:buNone/>
            </a:pPr>
            <a:endParaRPr lang="en-US" sz="1400" dirty="0"/>
          </a:p>
          <a:p>
            <a:pPr indent="0" marL="0">
              <a:buNone/>
            </a:pPr>
            <a:r>
              <a:rPr lang="en-US" sz="1400" dirty="0">
                <a:solidFill>
                  <a:schemeClr val="tx1"/>
                </a:solidFill>
              </a:rPr>
              <a:t>Por eso hacen falta muchos menos marcadores que en un GWAS: unos miles, en lugar de cientos de miles.</a:t>
            </a:r>
            <a:endParaRPr lang="en-US" sz="1400" dirty="0"/>
          </a:p>
          <a:p>
            <a:pPr indent="0" marL="0">
              <a:buNone/>
            </a:pPr>
            <a:endParaRPr lang="en-US" sz="1400" dirty="0"/>
          </a:p>
          <a:p>
            <a:pPr indent="0" marL="0">
              <a:buNone/>
            </a:pPr>
            <a:r>
              <a:rPr lang="en-US" sz="1400" dirty="0">
                <a:solidFill>
                  <a:schemeClr val="tx1"/>
                </a:solidFill>
              </a:rPr>
              <a:t>La contrapartida es la resolución: señala una región amplia, no una variante.</a:t>
            </a:r>
            <a:endParaRPr lang="en-US" sz="1400" dirty="0"/>
          </a:p>
        </p:txBody>
      </p:sp>
      <p:sp>
        <p:nvSpPr>
          <p:cNvPr id="25" name="Slide Number Placeholder 0"/>
          <p:cNvSpPr>
            <a:spLocks noGrp="1"/>
          </p:cNvSpPr>
          <p:nvPr>
            <p:ph type="sldNum" sz="quarter" idx="4294967295"/>
          </p:nvPr>
        </p:nvSpPr>
        <p:spPr>
          <a:xfrm>
            <a:off x="1152144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9A9A"/>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68680"/>
          </a:xfrm>
          <a:prstGeom prst="rect">
            <a:avLst/>
          </a:prstGeom>
          <a:noFill/>
          <a:ln/>
        </p:spPr>
        <p:txBody>
          <a:bodyPr wrap="square" rtlCol="0" anchor="ctr"/>
          <a:lstStyle/>
          <a:p>
            <a:pPr indent="0" marL="0">
              <a:buNone/>
            </a:pPr>
            <a:r>
              <a:rPr lang="en-US" sz="3200" b="1" dirty="0">
                <a:solidFill>
                  <a:schemeClr val="tx2"/>
                </a:solidFill>
              </a:rPr>
              <a:t>El caso APOL1: del cromosoma 22 a la clínica</a:t>
            </a:r>
            <a:endParaRPr lang="en-US" sz="3200" dirty="0"/>
          </a:p>
        </p:txBody>
      </p:sp>
      <p:sp>
        <p:nvSpPr>
          <p:cNvPr id="3" name="hito-0"/>
          <p:cNvSpPr/>
          <p:nvPr/>
        </p:nvSpPr>
        <p:spPr>
          <a:xfrm>
            <a:off x="685800" y="1709928"/>
            <a:ext cx="384048" cy="384048"/>
          </a:xfrm>
          <a:prstGeom prst="ellipse">
            <a:avLst/>
          </a:prstGeom>
          <a:solidFill>
            <a:schemeClr val="accent1"/>
          </a:solidFill>
          <a:ln w="12700">
            <a:solidFill>
              <a:schemeClr val="accent1"/>
            </a:solidFill>
            <a:prstDash val="solid"/>
          </a:ln>
        </p:spPr>
      </p:sp>
      <p:sp>
        <p:nvSpPr>
          <p:cNvPr id="4" name="Text 2"/>
          <p:cNvSpPr txBox="1"/>
          <p:nvPr/>
        </p:nvSpPr>
        <p:spPr>
          <a:xfrm>
            <a:off x="1252728" y="1645920"/>
            <a:ext cx="10040112" cy="347472"/>
          </a:xfrm>
          <a:prstGeom prst="rect">
            <a:avLst/>
          </a:prstGeom>
          <a:noFill/>
          <a:ln/>
        </p:spPr>
        <p:txBody>
          <a:bodyPr wrap="square" lIns="0" tIns="0" rIns="0" bIns="0" rtlCol="0" anchor="ctr"/>
          <a:lstStyle/>
          <a:p>
            <a:pPr indent="0" marL="0">
              <a:buNone/>
            </a:pPr>
            <a:r>
              <a:rPr lang="en-US" sz="1700" b="1" dirty="0">
                <a:solidFill>
                  <a:schemeClr val="tx2"/>
                </a:solidFill>
              </a:rPr>
              <a:t>El hallazgo</a:t>
            </a:r>
            <a:endParaRPr lang="en-US" sz="1700" dirty="0"/>
          </a:p>
        </p:txBody>
      </p:sp>
      <p:sp>
        <p:nvSpPr>
          <p:cNvPr id="5" name="Text 3"/>
          <p:cNvSpPr txBox="1"/>
          <p:nvPr/>
        </p:nvSpPr>
        <p:spPr>
          <a:xfrm>
            <a:off x="1252728" y="2029968"/>
            <a:ext cx="10040112" cy="777240"/>
          </a:xfrm>
          <a:prstGeom prst="rect">
            <a:avLst/>
          </a:prstGeom>
          <a:noFill/>
          <a:ln/>
        </p:spPr>
        <p:txBody>
          <a:bodyPr wrap="square" lIns="0" tIns="0" rIns="0" bIns="0" rtlCol="0" anchor="t"/>
          <a:lstStyle/>
          <a:p>
            <a:pPr indent="0" marL="0">
              <a:buNone/>
            </a:pPr>
            <a:r>
              <a:rPr lang="en-US" sz="1400" dirty="0">
                <a:solidFill>
                  <a:schemeClr val="tx1"/>
                </a:solidFill>
              </a:rPr>
              <a:t>Un estudio de admixture mapping localizó en el cromosoma 22 una región asociada a enfermedad renal en afroamericanos.</a:t>
            </a:r>
            <a:endParaRPr lang="en-US" sz="1400" dirty="0"/>
          </a:p>
        </p:txBody>
      </p:sp>
      <p:sp>
        <p:nvSpPr>
          <p:cNvPr id="6" name="hito-1"/>
          <p:cNvSpPr/>
          <p:nvPr/>
        </p:nvSpPr>
        <p:spPr>
          <a:xfrm>
            <a:off x="685800" y="2898648"/>
            <a:ext cx="384048" cy="384048"/>
          </a:xfrm>
          <a:prstGeom prst="ellipse">
            <a:avLst/>
          </a:prstGeom>
          <a:solidFill>
            <a:schemeClr val="accent3"/>
          </a:solidFill>
          <a:ln w="12700">
            <a:solidFill>
              <a:schemeClr val="accent3"/>
            </a:solidFill>
            <a:prstDash val="solid"/>
          </a:ln>
        </p:spPr>
      </p:sp>
      <p:sp>
        <p:nvSpPr>
          <p:cNvPr id="7" name="Text 5"/>
          <p:cNvSpPr txBox="1"/>
          <p:nvPr/>
        </p:nvSpPr>
        <p:spPr>
          <a:xfrm>
            <a:off x="1252728" y="2834640"/>
            <a:ext cx="10040112" cy="347472"/>
          </a:xfrm>
          <a:prstGeom prst="rect">
            <a:avLst/>
          </a:prstGeom>
          <a:noFill/>
          <a:ln/>
        </p:spPr>
        <p:txBody>
          <a:bodyPr wrap="square" lIns="0" tIns="0" rIns="0" bIns="0" rtlCol="0" anchor="ctr"/>
          <a:lstStyle/>
          <a:p>
            <a:pPr indent="0" marL="0">
              <a:buNone/>
            </a:pPr>
            <a:r>
              <a:rPr lang="en-US" sz="1700" b="1" dirty="0">
                <a:solidFill>
                  <a:schemeClr val="tx2"/>
                </a:solidFill>
              </a:rPr>
              <a:t>Las variantes</a:t>
            </a:r>
            <a:endParaRPr lang="en-US" sz="1700" dirty="0"/>
          </a:p>
        </p:txBody>
      </p:sp>
      <p:sp>
        <p:nvSpPr>
          <p:cNvPr id="8" name="Text 6"/>
          <p:cNvSpPr txBox="1"/>
          <p:nvPr/>
        </p:nvSpPr>
        <p:spPr>
          <a:xfrm>
            <a:off x="1252728" y="3218688"/>
            <a:ext cx="10040112" cy="777240"/>
          </a:xfrm>
          <a:prstGeom prst="rect">
            <a:avLst/>
          </a:prstGeom>
          <a:noFill/>
          <a:ln/>
        </p:spPr>
        <p:txBody>
          <a:bodyPr wrap="square" lIns="0" tIns="0" rIns="0" bIns="0" rtlCol="0" anchor="t"/>
          <a:lstStyle/>
          <a:p>
            <a:pPr indent="0" marL="0">
              <a:buNone/>
            </a:pPr>
            <a:r>
              <a:rPr lang="en-US" sz="1400" dirty="0">
                <a:solidFill>
                  <a:schemeClr val="tx1"/>
                </a:solidFill>
              </a:rPr>
              <a:t>Dos variantes del gen APOL1, llamadas G1 y G2, resultaron ser las responsables.</a:t>
            </a:r>
            <a:endParaRPr lang="en-US" sz="1400" dirty="0"/>
          </a:p>
        </p:txBody>
      </p:sp>
      <p:sp>
        <p:nvSpPr>
          <p:cNvPr id="9" name="hito-2"/>
          <p:cNvSpPr/>
          <p:nvPr/>
        </p:nvSpPr>
        <p:spPr>
          <a:xfrm>
            <a:off x="685800" y="4087368"/>
            <a:ext cx="384048" cy="384048"/>
          </a:xfrm>
          <a:prstGeom prst="ellipse">
            <a:avLst/>
          </a:prstGeom>
          <a:solidFill>
            <a:schemeClr val="accent5"/>
          </a:solidFill>
          <a:ln w="12700">
            <a:solidFill>
              <a:schemeClr val="accent5"/>
            </a:solidFill>
            <a:prstDash val="solid"/>
          </a:ln>
        </p:spPr>
      </p:sp>
      <p:sp>
        <p:nvSpPr>
          <p:cNvPr id="10" name="Text 8"/>
          <p:cNvSpPr txBox="1"/>
          <p:nvPr/>
        </p:nvSpPr>
        <p:spPr>
          <a:xfrm>
            <a:off x="1252728" y="4023360"/>
            <a:ext cx="10040112" cy="347472"/>
          </a:xfrm>
          <a:prstGeom prst="rect">
            <a:avLst/>
          </a:prstGeom>
          <a:noFill/>
          <a:ln/>
        </p:spPr>
        <p:txBody>
          <a:bodyPr wrap="square" lIns="0" tIns="0" rIns="0" bIns="0" rtlCol="0" anchor="ctr"/>
          <a:lstStyle/>
          <a:p>
            <a:pPr indent="0" marL="0">
              <a:buNone/>
            </a:pPr>
            <a:r>
              <a:rPr lang="en-US" sz="1700" b="1" dirty="0">
                <a:solidFill>
                  <a:schemeClr val="tx2"/>
                </a:solidFill>
              </a:rPr>
              <a:t>El patrón de ancestría</a:t>
            </a:r>
            <a:endParaRPr lang="en-US" sz="1700" dirty="0"/>
          </a:p>
        </p:txBody>
      </p:sp>
      <p:sp>
        <p:nvSpPr>
          <p:cNvPr id="11" name="Text 9"/>
          <p:cNvSpPr txBox="1"/>
          <p:nvPr/>
        </p:nvSpPr>
        <p:spPr>
          <a:xfrm>
            <a:off x="1252728" y="4407408"/>
            <a:ext cx="10040112" cy="777240"/>
          </a:xfrm>
          <a:prstGeom prst="rect">
            <a:avLst/>
          </a:prstGeom>
          <a:noFill/>
          <a:ln/>
        </p:spPr>
        <p:txBody>
          <a:bodyPr wrap="square" lIns="0" tIns="0" rIns="0" bIns="0" rtlCol="0" anchor="t"/>
          <a:lstStyle/>
          <a:p>
            <a:pPr indent="0" marL="0">
              <a:buNone/>
            </a:pPr>
            <a:r>
              <a:rPr lang="en-US" sz="1400" dirty="0">
                <a:solidFill>
                  <a:schemeClr val="tx1"/>
                </a:solidFill>
              </a:rPr>
              <a:t>Son prácticamente exclusivas de haplotipos africanos. En controles europeos su frecuencia es 0 %.</a:t>
            </a:r>
            <a:endParaRPr lang="en-US" sz="1400" dirty="0"/>
          </a:p>
        </p:txBody>
      </p:sp>
      <p:sp>
        <p:nvSpPr>
          <p:cNvPr id="12" name="hito-3"/>
          <p:cNvSpPr/>
          <p:nvPr/>
        </p:nvSpPr>
        <p:spPr>
          <a:xfrm>
            <a:off x="685800" y="5276088"/>
            <a:ext cx="384048" cy="384048"/>
          </a:xfrm>
          <a:prstGeom prst="ellipse">
            <a:avLst/>
          </a:prstGeom>
          <a:solidFill>
            <a:schemeClr val="accent2"/>
          </a:solidFill>
          <a:ln w="12700">
            <a:solidFill>
              <a:schemeClr val="accent2"/>
            </a:solidFill>
            <a:prstDash val="solid"/>
          </a:ln>
        </p:spPr>
      </p:sp>
      <p:sp>
        <p:nvSpPr>
          <p:cNvPr id="13" name="Text 11"/>
          <p:cNvSpPr txBox="1"/>
          <p:nvPr/>
        </p:nvSpPr>
        <p:spPr>
          <a:xfrm>
            <a:off x="1252728" y="5212080"/>
            <a:ext cx="10040112" cy="347472"/>
          </a:xfrm>
          <a:prstGeom prst="rect">
            <a:avLst/>
          </a:prstGeom>
          <a:noFill/>
          <a:ln/>
        </p:spPr>
        <p:txBody>
          <a:bodyPr wrap="square" lIns="0" tIns="0" rIns="0" bIns="0" rtlCol="0" anchor="ctr"/>
          <a:lstStyle/>
          <a:p>
            <a:pPr indent="0" marL="0">
              <a:buNone/>
            </a:pPr>
            <a:r>
              <a:rPr lang="en-US" sz="1700" b="1" dirty="0">
                <a:solidFill>
                  <a:schemeClr val="tx2"/>
                </a:solidFill>
              </a:rPr>
              <a:t>El efecto</a:t>
            </a:r>
            <a:endParaRPr lang="en-US" sz="1700" dirty="0"/>
          </a:p>
        </p:txBody>
      </p:sp>
      <p:sp>
        <p:nvSpPr>
          <p:cNvPr id="14" name="Text 12"/>
          <p:cNvSpPr txBox="1"/>
          <p:nvPr/>
        </p:nvSpPr>
        <p:spPr>
          <a:xfrm>
            <a:off x="1252728" y="5596128"/>
            <a:ext cx="10040112" cy="777240"/>
          </a:xfrm>
          <a:prstGeom prst="rect">
            <a:avLst/>
          </a:prstGeom>
          <a:noFill/>
          <a:ln/>
        </p:spPr>
        <p:txBody>
          <a:bodyPr wrap="square" lIns="0" tIns="0" rIns="0" bIns="0" rtlCol="0" anchor="t"/>
          <a:lstStyle/>
          <a:p>
            <a:pPr indent="0" marL="0">
              <a:buNone/>
            </a:pPr>
            <a:r>
              <a:rPr lang="en-US" sz="1400" dirty="0">
                <a:solidFill>
                  <a:schemeClr val="tx1"/>
                </a:solidFill>
              </a:rPr>
              <a:t>Con dos copias de riesgo, la razón de momios de enfermedad renal terminal es de alrededor de 6,7. El patrón es recesivo.</a:t>
            </a:r>
            <a:endParaRPr lang="en-US" sz="1400" dirty="0"/>
          </a:p>
        </p:txBody>
      </p:sp>
      <p:sp>
        <p:nvSpPr>
          <p:cNvPr id="15" name="Text 13"/>
          <p:cNvSpPr txBox="1"/>
          <p:nvPr/>
        </p:nvSpPr>
        <p:spPr>
          <a:xfrm>
            <a:off x="685800" y="6199632"/>
            <a:ext cx="10424160" cy="365760"/>
          </a:xfrm>
          <a:prstGeom prst="rect">
            <a:avLst/>
          </a:prstGeom>
          <a:noFill/>
          <a:ln/>
        </p:spPr>
        <p:txBody>
          <a:bodyPr wrap="square" lIns="0" tIns="0" rIns="0" bIns="0" rtlCol="0" anchor="ctr"/>
          <a:lstStyle/>
          <a:p>
            <a:pPr indent="0" marL="0">
              <a:buNone/>
            </a:pPr>
            <a:r>
              <a:rPr lang="en-US" sz="1100" i="1" dirty="0">
                <a:solidFill>
                  <a:srgbClr val="6B6B6B"/>
                </a:solidFill>
              </a:rPr>
              <a:t>Tzur et al., Human Genetics 2010;128(3):345–350. doi:10.1007/s00439-010-0861-0</a:t>
            </a:r>
            <a:endParaRPr lang="en-US" sz="1100" dirty="0"/>
          </a:p>
        </p:txBody>
      </p:sp>
      <p:sp>
        <p:nvSpPr>
          <p:cNvPr id="25" name="Slide Number Placeholder 0"/>
          <p:cNvSpPr>
            <a:spLocks noGrp="1"/>
          </p:cNvSpPr>
          <p:nvPr>
            <p:ph type="sldNum" sz="quarter" idx="4294967295"/>
          </p:nvPr>
        </p:nvSpPr>
        <p:spPr>
          <a:xfrm>
            <a:off x="1152144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9A9A"/>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68680"/>
          </a:xfrm>
          <a:prstGeom prst="rect">
            <a:avLst/>
          </a:prstGeom>
          <a:noFill/>
          <a:ln/>
        </p:spPr>
        <p:txBody>
          <a:bodyPr wrap="square" rtlCol="0" anchor="ctr"/>
          <a:lstStyle/>
          <a:p>
            <a:pPr indent="0" marL="0">
              <a:buNone/>
            </a:pPr>
            <a:r>
              <a:rPr lang="en-US" sz="3200" b="1" dirty="0">
                <a:solidFill>
                  <a:schemeClr val="tx2"/>
                </a:solidFill>
              </a:rPr>
              <a:t>Por qué aquí la ancestría local sí cambia la respuesta</a:t>
            </a:r>
            <a:endParaRPr lang="en-US" sz="3200" dirty="0"/>
          </a:p>
        </p:txBody>
      </p:sp>
      <p:pic>
        <p:nvPicPr>
          <p:cNvPr id="3" name="figura-apol1" descr="/tmp/claude-0/-home-claude/e238050a-ce3c-58bd-bb86-9554df59862c/scratchpad/figs/apol1.png">    </p:cNvPr>
          <p:cNvPicPr>
            <a:picLocks noChangeAspect="1"/>
          </p:cNvPicPr>
          <p:nvPr/>
        </p:nvPicPr>
        <p:blipFill>
          <a:blip r:embed="rId1"/>
          <a:stretch>
            <a:fillRect/>
          </a:stretch>
        </p:blipFill>
        <p:spPr>
          <a:xfrm>
            <a:off x="685800" y="1737360"/>
            <a:ext cx="5760720" cy="3255264"/>
          </a:xfrm>
          <a:prstGeom prst="rect">
            <a:avLst/>
          </a:prstGeom>
        </p:spPr>
      </p:pic>
      <p:sp>
        <p:nvSpPr>
          <p:cNvPr id="4" name="Text 1"/>
          <p:cNvSpPr txBox="1"/>
          <p:nvPr/>
        </p:nvSpPr>
        <p:spPr>
          <a:xfrm>
            <a:off x="6766560" y="1783080"/>
            <a:ext cx="4663440" cy="3840480"/>
          </a:xfrm>
          <a:prstGeom prst="rect">
            <a:avLst/>
          </a:prstGeom>
          <a:noFill/>
          <a:ln/>
        </p:spPr>
        <p:txBody>
          <a:bodyPr wrap="square" rtlCol="0" anchor="t"/>
          <a:lstStyle/>
          <a:p>
            <a:pPr indent="0" marL="0">
              <a:buNone/>
            </a:pPr>
            <a:r>
              <a:rPr lang="en-US" sz="1400" dirty="0">
                <a:solidFill>
                  <a:schemeClr val="tx1"/>
                </a:solidFill>
              </a:rPr>
              <a:t>Resultado real del curso: cuántas de las dos copias del cromosoma 22 son de ancestría africana justo en APOL1.
</a:t>
            </a:r>
            <a:endParaRPr lang="en-US" sz="1400" dirty="0"/>
          </a:p>
          <a:p>
            <a:pPr indent="0" marL="0">
              <a:buNone/>
            </a:pPr>
            <a:r>
              <a:rPr lang="en-US" sz="1400" dirty="0">
                <a:solidFill>
                  <a:schemeClr val="tx1"/>
                </a:solidFill>
              </a:rPr>
              <a:t>En Medellín, el 88 % de las personas no tiene ninguna copia africana ahí, el 10 % tiene una y solo el 1 % tiene las dos.
</a:t>
            </a:r>
            <a:endParaRPr lang="en-US" sz="1400" dirty="0"/>
          </a:p>
          <a:p>
            <a:pPr indent="0" marL="0">
              <a:buNone/>
            </a:pPr>
            <a:r>
              <a:rPr lang="en-US" sz="1400" dirty="0">
                <a:solidFill>
                  <a:schemeClr val="tx1"/>
                </a:solidFill>
              </a:rPr>
              <a:t>Como el riesgo es recesivo, solo ese 1 % puede tener el genotipo de riesgo, aunque la ancestría africana global de la población sea del 7 %.</a:t>
            </a:r>
            <a:endParaRPr lang="en-US" sz="1400" dirty="0"/>
          </a:p>
        </p:txBody>
      </p:sp>
      <p:sp>
        <p:nvSpPr>
          <p:cNvPr id="5" name="Text 2"/>
          <p:cNvSpPr txBox="1"/>
          <p:nvPr/>
        </p:nvSpPr>
        <p:spPr>
          <a:xfrm>
            <a:off x="685800" y="5166360"/>
            <a:ext cx="5760720" cy="914400"/>
          </a:xfrm>
          <a:prstGeom prst="rect">
            <a:avLst/>
          </a:prstGeom>
          <a:noFill/>
          <a:ln/>
        </p:spPr>
        <p:txBody>
          <a:bodyPr wrap="square" rtlCol="0" anchor="t"/>
          <a:lstStyle/>
          <a:p>
            <a:pPr indent="0" marL="0">
              <a:buNone/>
            </a:pPr>
            <a:r>
              <a:rPr lang="en-US" sz="1400" i="1" dirty="0">
                <a:solidFill>
                  <a:schemeClr val="tx2"/>
                </a:solidFill>
              </a:rPr>
              <a:t>La ancestría global habría dado una respuesta equivocada. La pregunta clínica no es cuánta ancestría africana tiene la persona, sino si la tiene en ese gen y en cuántas copias.</a:t>
            </a:r>
            <a:endParaRPr lang="en-US" sz="1400" dirty="0"/>
          </a:p>
        </p:txBody>
      </p:sp>
      <p:sp>
        <p:nvSpPr>
          <p:cNvPr id="25" name="Slide Number Placeholder 0"/>
          <p:cNvSpPr>
            <a:spLocks noGrp="1"/>
          </p:cNvSpPr>
          <p:nvPr>
            <p:ph type="sldNum" sz="quarter" idx="4294967295"/>
          </p:nvPr>
        </p:nvSpPr>
        <p:spPr>
          <a:xfrm>
            <a:off x="1152144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9A9A"/>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68680"/>
          </a:xfrm>
          <a:prstGeom prst="rect">
            <a:avLst/>
          </a:prstGeom>
          <a:noFill/>
          <a:ln/>
        </p:spPr>
        <p:txBody>
          <a:bodyPr wrap="square" rtlCol="0" anchor="ctr"/>
          <a:lstStyle/>
          <a:p>
            <a:pPr indent="0" marL="0">
              <a:buNone/>
            </a:pPr>
            <a:r>
              <a:rPr lang="en-US" sz="3200" b="1" dirty="0">
                <a:solidFill>
                  <a:schemeClr val="tx2"/>
                </a:solidFill>
              </a:rPr>
              <a:t>Puntajes de riesgo poligénico (PRS) y ancestría</a:t>
            </a:r>
            <a:endParaRPr lang="en-US" sz="3200" dirty="0"/>
          </a:p>
        </p:txBody>
      </p:sp>
      <p:sp>
        <p:nvSpPr>
          <p:cNvPr id="3" name="Text 1"/>
          <p:cNvSpPr txBox="1"/>
          <p:nvPr/>
        </p:nvSpPr>
        <p:spPr>
          <a:xfrm>
            <a:off x="685800" y="1508760"/>
            <a:ext cx="10789920" cy="4572000"/>
          </a:xfrm>
          <a:prstGeom prst="rect">
            <a:avLst/>
          </a:prstGeom>
          <a:noFill/>
          <a:ln/>
        </p:spPr>
        <p:txBody>
          <a:bodyPr wrap="square" rtlCol="0" anchor="t"/>
          <a:lstStyle/>
          <a:p>
            <a:pPr marL="342900" indent="-342900">
              <a:spcAft>
                <a:spcPts val="1000"/>
              </a:spcAft>
              <a:buSzPct val="100000"/>
              <a:buChar char="•"/>
            </a:pPr>
            <a:r>
              <a:rPr lang="en-US" sz="1700" dirty="0">
                <a:solidFill>
                  <a:schemeClr val="tx1"/>
                </a:solidFill>
              </a:rPr>
              <a:t>Un PRS suma el efecto de muchas variantes para estimar el riesgo de una persona frente a una enfermedad.</a:t>
            </a:r>
            <a:endParaRPr lang="en-US" sz="1700" dirty="0"/>
          </a:p>
          <a:p>
            <a:pPr marL="342900" indent="-342900">
              <a:spcAft>
                <a:spcPts val="1000"/>
              </a:spcAft>
              <a:buSzPct val="100000"/>
              <a:buChar char="•"/>
            </a:pPr>
            <a:r>
              <a:rPr lang="en-US" sz="1700" dirty="0">
                <a:solidFill>
                  <a:schemeClr val="tx1"/>
                </a:solidFill>
              </a:rPr>
              <a:t>Los pesos de esa suma salen de estudios de asociación (GWAS), y la gran mayoría de los GWAS se han hecho en personas de ancestría europea.</a:t>
            </a:r>
            <a:endParaRPr lang="en-US" sz="1700" dirty="0"/>
          </a:p>
          <a:p>
            <a:pPr marL="342900" indent="-342900">
              <a:spcAft>
                <a:spcPts val="1000"/>
              </a:spcAft>
              <a:buSzPct val="100000"/>
              <a:buChar char="•"/>
            </a:pPr>
            <a:r>
              <a:rPr lang="en-US" sz="1700" dirty="0">
                <a:solidFill>
                  <a:schemeClr val="tx1"/>
                </a:solidFill>
              </a:rPr>
              <a:t>Al aplicar ese PRS a una persona de otra ancestría, el puntaje pierde precisión. No por biología: por el sesgo de las bases de datos.</a:t>
            </a:r>
            <a:endParaRPr lang="en-US" sz="1700" dirty="0"/>
          </a:p>
        </p:txBody>
      </p:sp>
      <p:sp>
        <p:nvSpPr>
          <p:cNvPr id="4" name="stat-prs"/>
          <p:cNvSpPr/>
          <p:nvPr/>
        </p:nvSpPr>
        <p:spPr>
          <a:xfrm>
            <a:off x="685800" y="3749040"/>
            <a:ext cx="3291840" cy="2103120"/>
          </a:xfrm>
          <a:prstGeom prst="roundRect">
            <a:avLst>
              <a:gd name="adj" fmla="val 4348"/>
            </a:avLst>
          </a:prstGeom>
          <a:solidFill>
            <a:schemeClr val="bg2"/>
          </a:solidFill>
          <a:ln w="6350">
            <a:solidFill>
              <a:srgbClr val="E2E2DE"/>
            </a:solidFill>
            <a:prstDash val="solid"/>
          </a:ln>
        </p:spPr>
      </p:sp>
      <p:sp>
        <p:nvSpPr>
          <p:cNvPr id="5" name="Text 3"/>
          <p:cNvSpPr txBox="1"/>
          <p:nvPr/>
        </p:nvSpPr>
        <p:spPr>
          <a:xfrm>
            <a:off x="822960" y="3950208"/>
            <a:ext cx="3017520" cy="868680"/>
          </a:xfrm>
          <a:prstGeom prst="rect">
            <a:avLst/>
          </a:prstGeom>
          <a:noFill/>
          <a:ln/>
        </p:spPr>
        <p:txBody>
          <a:bodyPr wrap="square" lIns="0" tIns="0" rIns="0" bIns="0" rtlCol="0" anchor="ctr"/>
          <a:lstStyle/>
          <a:p>
            <a:pPr algn="ctr" indent="0" marL="0">
              <a:buNone/>
            </a:pPr>
            <a:r>
              <a:rPr lang="en-US" sz="4000" b="1" dirty="0">
                <a:solidFill>
                  <a:schemeClr val="accent2"/>
                </a:solidFill>
              </a:rPr>
              <a:t>4,9×</a:t>
            </a:r>
            <a:endParaRPr lang="en-US" sz="4000" dirty="0"/>
          </a:p>
        </p:txBody>
      </p:sp>
      <p:sp>
        <p:nvSpPr>
          <p:cNvPr id="6" name="Text 4"/>
          <p:cNvSpPr txBox="1"/>
          <p:nvPr/>
        </p:nvSpPr>
        <p:spPr>
          <a:xfrm>
            <a:off x="822960" y="4846320"/>
            <a:ext cx="3017520" cy="868680"/>
          </a:xfrm>
          <a:prstGeom prst="rect">
            <a:avLst/>
          </a:prstGeom>
          <a:noFill/>
          <a:ln/>
        </p:spPr>
        <p:txBody>
          <a:bodyPr wrap="square" lIns="0" tIns="0" rIns="0" bIns="0" rtlCol="0" anchor="t"/>
          <a:lstStyle/>
          <a:p>
            <a:pPr algn="ctr" indent="0" marL="0">
              <a:buNone/>
            </a:pPr>
            <a:r>
              <a:rPr lang="en-US" sz="1300" dirty="0">
                <a:solidFill>
                  <a:schemeClr val="tx1"/>
                </a:solidFill>
              </a:rPr>
              <a:t>menor precisión del PRS en personas de ancestría africana que en europeas, en el Biobanco del Reino Unido</a:t>
            </a:r>
            <a:endParaRPr lang="en-US" sz="1300" dirty="0"/>
          </a:p>
        </p:txBody>
      </p:sp>
      <p:sp>
        <p:nvSpPr>
          <p:cNvPr id="7" name="caja-prs"/>
          <p:cNvSpPr/>
          <p:nvPr/>
        </p:nvSpPr>
        <p:spPr>
          <a:xfrm>
            <a:off x="4434840" y="3749040"/>
            <a:ext cx="7040880" cy="2103120"/>
          </a:xfrm>
          <a:prstGeom prst="roundRect">
            <a:avLst>
              <a:gd name="adj" fmla="val 4348"/>
            </a:avLst>
          </a:prstGeom>
          <a:solidFill>
            <a:schemeClr val="bg2"/>
          </a:solidFill>
          <a:ln w="6350">
            <a:solidFill>
              <a:srgbClr val="E2E2DE"/>
            </a:solidFill>
            <a:prstDash val="solid"/>
          </a:ln>
        </p:spPr>
      </p:sp>
      <p:sp>
        <p:nvSpPr>
          <p:cNvPr id="8" name="Text 6"/>
          <p:cNvSpPr txBox="1"/>
          <p:nvPr/>
        </p:nvSpPr>
        <p:spPr>
          <a:xfrm>
            <a:off x="4709160" y="3977640"/>
            <a:ext cx="6492240" cy="1691640"/>
          </a:xfrm>
          <a:prstGeom prst="rect">
            <a:avLst/>
          </a:prstGeom>
          <a:noFill/>
          <a:ln/>
        </p:spPr>
        <p:txBody>
          <a:bodyPr wrap="square" rtlCol="0" anchor="t"/>
          <a:lstStyle/>
          <a:p>
            <a:pPr indent="0" marL="0">
              <a:buNone/>
            </a:pPr>
            <a:r>
              <a:rPr lang="en-US" sz="1500" dirty="0">
                <a:solidFill>
                  <a:schemeClr val="tx1"/>
                </a:solidFill>
              </a:rPr>
              <a:t>La precisión cae a medida que aumenta la distancia genética respecto a la población en la que se derivó el puntaje. En poblaciones mezcladas el resultado queda en un punto intermedio, y además no es uniforme a lo largo del genoma: funciona mejor en los tramos de ancestría europea.</a:t>
            </a:r>
            <a:endParaRPr lang="en-US" sz="1500" dirty="0"/>
          </a:p>
        </p:txBody>
      </p:sp>
      <p:sp>
        <p:nvSpPr>
          <p:cNvPr id="9" name="Text 7"/>
          <p:cNvSpPr txBox="1"/>
          <p:nvPr/>
        </p:nvSpPr>
        <p:spPr>
          <a:xfrm>
            <a:off x="685800" y="6199632"/>
            <a:ext cx="10424160" cy="365760"/>
          </a:xfrm>
          <a:prstGeom prst="rect">
            <a:avLst/>
          </a:prstGeom>
          <a:noFill/>
          <a:ln/>
        </p:spPr>
        <p:txBody>
          <a:bodyPr wrap="square" lIns="0" tIns="0" rIns="0" bIns="0" rtlCol="0" anchor="ctr"/>
          <a:lstStyle/>
          <a:p>
            <a:pPr indent="0" marL="0">
              <a:buNone/>
            </a:pPr>
            <a:r>
              <a:rPr lang="en-US" sz="1100" i="1" dirty="0">
                <a:solidFill>
                  <a:srgbClr val="6B6B6B"/>
                </a:solidFill>
              </a:rPr>
              <a:t>Martin et al., Nature Genetics 2019;51(4):584–591. doi:10.1038/s41588-019-0379-x</a:t>
            </a:r>
            <a:endParaRPr lang="en-US" sz="1100" dirty="0"/>
          </a:p>
        </p:txBody>
      </p:sp>
      <p:sp>
        <p:nvSpPr>
          <p:cNvPr id="11" name="Text 0"/>
          <p:cNvSpPr/>
          <p:nvPr>
            <p:ph idx="101" type="body" hasCustomPrompt="1"/>
          </p:nvPr>
        </p:nvSpPr>
        <p:spPr>
          <a:xfrm>
            <a:off x="685800" y="1508760"/>
            <a:ext cx="10789920" cy="4663440"/>
          </a:xfrm>
          <a:prstGeom prst="rect">
            <a:avLst/>
          </a:prstGeom>
          <a:noFill/>
          <a:ln/>
        </p:spPr>
        <p:txBody>
          <a:bodyPr wrap="square" rtlCol="0" anchor="t"/>
          <a:lstStyle/>
          <a:p>
            <a:pPr indent="0" marL="0">
              <a:buNone/>
            </a:pPr>
            <a:endParaRPr lang="en-US" sz="1700" dirty="0"/>
          </a:p>
        </p:txBody>
      </p:sp>
      <p:sp>
        <p:nvSpPr>
          <p:cNvPr id="25" name="Slide Number Placeholder 0"/>
          <p:cNvSpPr>
            <a:spLocks noGrp="1"/>
          </p:cNvSpPr>
          <p:nvPr>
            <p:ph type="sldNum" sz="quarter" idx="4294967295"/>
          </p:nvPr>
        </p:nvSpPr>
        <p:spPr>
          <a:xfrm>
            <a:off x="1152144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9A9A"/>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68680"/>
          </a:xfrm>
          <a:prstGeom prst="rect">
            <a:avLst/>
          </a:prstGeom>
          <a:noFill/>
          <a:ln/>
        </p:spPr>
        <p:txBody>
          <a:bodyPr wrap="square" rtlCol="0" anchor="ctr"/>
          <a:lstStyle/>
          <a:p>
            <a:pPr indent="0" marL="0">
              <a:buNone/>
            </a:pPr>
            <a:r>
              <a:rPr lang="en-US" sz="3200" b="1" dirty="0">
                <a:solidFill>
                  <a:schemeClr val="tx2"/>
                </a:solidFill>
              </a:rPr>
              <a:t>Tres razones por las que un PRS no se traslada</a:t>
            </a:r>
            <a:endParaRPr lang="en-US" sz="3200" dirty="0"/>
          </a:p>
        </p:txBody>
      </p:sp>
      <p:sp>
        <p:nvSpPr>
          <p:cNvPr id="3" name="razon-0"/>
          <p:cNvSpPr/>
          <p:nvPr/>
        </p:nvSpPr>
        <p:spPr>
          <a:xfrm>
            <a:off x="685800" y="1847088"/>
            <a:ext cx="384048" cy="384048"/>
          </a:xfrm>
          <a:prstGeom prst="ellipse">
            <a:avLst/>
          </a:prstGeom>
          <a:solidFill>
            <a:schemeClr val="accent1"/>
          </a:solidFill>
          <a:ln w="12700">
            <a:solidFill>
              <a:schemeClr val="accent1"/>
            </a:solidFill>
            <a:prstDash val="solid"/>
          </a:ln>
        </p:spPr>
      </p:sp>
      <p:sp>
        <p:nvSpPr>
          <p:cNvPr id="4" name="Text 2"/>
          <p:cNvSpPr txBox="1"/>
          <p:nvPr/>
        </p:nvSpPr>
        <p:spPr>
          <a:xfrm>
            <a:off x="1252728" y="1783080"/>
            <a:ext cx="10040112" cy="347472"/>
          </a:xfrm>
          <a:prstGeom prst="rect">
            <a:avLst/>
          </a:prstGeom>
          <a:noFill/>
          <a:ln/>
        </p:spPr>
        <p:txBody>
          <a:bodyPr wrap="square" lIns="0" tIns="0" rIns="0" bIns="0" rtlCol="0" anchor="ctr"/>
          <a:lstStyle/>
          <a:p>
            <a:pPr indent="0" marL="0">
              <a:buNone/>
            </a:pPr>
            <a:r>
              <a:rPr lang="en-US" sz="1700" b="1" dirty="0">
                <a:solidFill>
                  <a:schemeClr val="tx2"/>
                </a:solidFill>
              </a:rPr>
              <a:t>Las frecuencias cambian</a:t>
            </a:r>
            <a:endParaRPr lang="en-US" sz="1700" dirty="0"/>
          </a:p>
        </p:txBody>
      </p:sp>
      <p:sp>
        <p:nvSpPr>
          <p:cNvPr id="5" name="Text 3"/>
          <p:cNvSpPr txBox="1"/>
          <p:nvPr/>
        </p:nvSpPr>
        <p:spPr>
          <a:xfrm>
            <a:off x="1252728" y="2167128"/>
            <a:ext cx="10040112" cy="777240"/>
          </a:xfrm>
          <a:prstGeom prst="rect">
            <a:avLst/>
          </a:prstGeom>
          <a:noFill/>
          <a:ln/>
        </p:spPr>
        <p:txBody>
          <a:bodyPr wrap="square" lIns="0" tIns="0" rIns="0" bIns="0" rtlCol="0" anchor="t"/>
          <a:lstStyle/>
          <a:p>
            <a:pPr indent="0" marL="0">
              <a:buNone/>
            </a:pPr>
            <a:r>
              <a:rPr lang="en-US" sz="1400" dirty="0">
                <a:solidFill>
                  <a:schemeClr val="tx1"/>
                </a:solidFill>
              </a:rPr>
              <a:t>Una variante común en europeos puede ser rara en otra población, así que aporta mucha menos información al puntaje.</a:t>
            </a:r>
            <a:endParaRPr lang="en-US" sz="1400" dirty="0"/>
          </a:p>
        </p:txBody>
      </p:sp>
      <p:sp>
        <p:nvSpPr>
          <p:cNvPr id="6" name="razon-1"/>
          <p:cNvSpPr/>
          <p:nvPr/>
        </p:nvSpPr>
        <p:spPr>
          <a:xfrm>
            <a:off x="685800" y="3310128"/>
            <a:ext cx="384048" cy="384048"/>
          </a:xfrm>
          <a:prstGeom prst="ellipse">
            <a:avLst/>
          </a:prstGeom>
          <a:solidFill>
            <a:schemeClr val="accent3"/>
          </a:solidFill>
          <a:ln w="12700">
            <a:solidFill>
              <a:schemeClr val="accent3"/>
            </a:solidFill>
            <a:prstDash val="solid"/>
          </a:ln>
        </p:spPr>
      </p:sp>
      <p:sp>
        <p:nvSpPr>
          <p:cNvPr id="7" name="Text 5"/>
          <p:cNvSpPr txBox="1"/>
          <p:nvPr/>
        </p:nvSpPr>
        <p:spPr>
          <a:xfrm>
            <a:off x="1252728" y="3246120"/>
            <a:ext cx="10040112" cy="347472"/>
          </a:xfrm>
          <a:prstGeom prst="rect">
            <a:avLst/>
          </a:prstGeom>
          <a:noFill/>
          <a:ln/>
        </p:spPr>
        <p:txBody>
          <a:bodyPr wrap="square" lIns="0" tIns="0" rIns="0" bIns="0" rtlCol="0" anchor="ctr"/>
          <a:lstStyle/>
          <a:p>
            <a:pPr indent="0" marL="0">
              <a:buNone/>
            </a:pPr>
            <a:r>
              <a:rPr lang="en-US" sz="1700" b="1" dirty="0">
                <a:solidFill>
                  <a:schemeClr val="tx2"/>
                </a:solidFill>
              </a:rPr>
              <a:t>El desequilibrio de ligamiento cambia</a:t>
            </a:r>
            <a:endParaRPr lang="en-US" sz="1700" dirty="0"/>
          </a:p>
        </p:txBody>
      </p:sp>
      <p:sp>
        <p:nvSpPr>
          <p:cNvPr id="8" name="Text 6"/>
          <p:cNvSpPr txBox="1"/>
          <p:nvPr/>
        </p:nvSpPr>
        <p:spPr>
          <a:xfrm>
            <a:off x="1252728" y="3630168"/>
            <a:ext cx="10040112" cy="777240"/>
          </a:xfrm>
          <a:prstGeom prst="rect">
            <a:avLst/>
          </a:prstGeom>
          <a:noFill/>
          <a:ln/>
        </p:spPr>
        <p:txBody>
          <a:bodyPr wrap="square" lIns="0" tIns="0" rIns="0" bIns="0" rtlCol="0" anchor="t"/>
          <a:lstStyle/>
          <a:p>
            <a:pPr indent="0" marL="0">
              <a:buNone/>
            </a:pPr>
            <a:r>
              <a:rPr lang="en-US" sz="1400" dirty="0">
                <a:solidFill>
                  <a:schemeClr val="tx1"/>
                </a:solidFill>
              </a:rPr>
              <a:t>El GWAS casi nunca encuentra la variante causal, sino una vecina correlacionada. Esa correlación es distinta en otra población, así que el peso deja de aplicar.</a:t>
            </a:r>
            <a:endParaRPr lang="en-US" sz="1400" dirty="0"/>
          </a:p>
        </p:txBody>
      </p:sp>
      <p:sp>
        <p:nvSpPr>
          <p:cNvPr id="9" name="razon-2"/>
          <p:cNvSpPr/>
          <p:nvPr/>
        </p:nvSpPr>
        <p:spPr>
          <a:xfrm>
            <a:off x="685800" y="4773168"/>
            <a:ext cx="384048" cy="384048"/>
          </a:xfrm>
          <a:prstGeom prst="ellipse">
            <a:avLst/>
          </a:prstGeom>
          <a:solidFill>
            <a:schemeClr val="accent2"/>
          </a:solidFill>
          <a:ln w="12700">
            <a:solidFill>
              <a:schemeClr val="accent2"/>
            </a:solidFill>
            <a:prstDash val="solid"/>
          </a:ln>
        </p:spPr>
      </p:sp>
      <p:sp>
        <p:nvSpPr>
          <p:cNvPr id="10" name="Text 8"/>
          <p:cNvSpPr txBox="1"/>
          <p:nvPr/>
        </p:nvSpPr>
        <p:spPr>
          <a:xfrm>
            <a:off x="1252728" y="4709160"/>
            <a:ext cx="10040112" cy="347472"/>
          </a:xfrm>
          <a:prstGeom prst="rect">
            <a:avLst/>
          </a:prstGeom>
          <a:noFill/>
          <a:ln/>
        </p:spPr>
        <p:txBody>
          <a:bodyPr wrap="square" lIns="0" tIns="0" rIns="0" bIns="0" rtlCol="0" anchor="ctr"/>
          <a:lstStyle/>
          <a:p>
            <a:pPr indent="0" marL="0">
              <a:buNone/>
            </a:pPr>
            <a:r>
              <a:rPr lang="en-US" sz="1700" b="1" dirty="0">
                <a:solidFill>
                  <a:schemeClr val="tx2"/>
                </a:solidFill>
              </a:rPr>
              <a:t>Faltan variantes</a:t>
            </a:r>
            <a:endParaRPr lang="en-US" sz="1700" dirty="0"/>
          </a:p>
        </p:txBody>
      </p:sp>
      <p:sp>
        <p:nvSpPr>
          <p:cNvPr id="11" name="Text 9"/>
          <p:cNvSpPr txBox="1"/>
          <p:nvPr/>
        </p:nvSpPr>
        <p:spPr>
          <a:xfrm>
            <a:off x="1252728" y="5093208"/>
            <a:ext cx="10040112" cy="777240"/>
          </a:xfrm>
          <a:prstGeom prst="rect">
            <a:avLst/>
          </a:prstGeom>
          <a:noFill/>
          <a:ln/>
        </p:spPr>
        <p:txBody>
          <a:bodyPr wrap="square" lIns="0" tIns="0" rIns="0" bIns="0" rtlCol="0" anchor="t"/>
          <a:lstStyle/>
          <a:p>
            <a:pPr indent="0" marL="0">
              <a:buNone/>
            </a:pPr>
            <a:r>
              <a:rPr lang="en-US" sz="1400" dirty="0">
                <a:solidFill>
                  <a:schemeClr val="tx1"/>
                </a:solidFill>
              </a:rPr>
              <a:t>Variantes importantes en una población pueden no existir en la otra, y el GWAS europeo ni siquiera las midió.</a:t>
            </a:r>
            <a:endParaRPr lang="en-US" sz="1400" dirty="0"/>
          </a:p>
        </p:txBody>
      </p:sp>
      <p:sp>
        <p:nvSpPr>
          <p:cNvPr id="12" name="caja-colombia"/>
          <p:cNvSpPr/>
          <p:nvPr/>
        </p:nvSpPr>
        <p:spPr>
          <a:xfrm>
            <a:off x="685800" y="5120640"/>
            <a:ext cx="10789920" cy="1005840"/>
          </a:xfrm>
          <a:prstGeom prst="roundRect">
            <a:avLst>
              <a:gd name="adj" fmla="val 9091"/>
            </a:avLst>
          </a:prstGeom>
          <a:solidFill>
            <a:schemeClr val="bg2"/>
          </a:solidFill>
          <a:ln w="6350">
            <a:solidFill>
              <a:srgbClr val="E2E2DE"/>
            </a:solidFill>
            <a:prstDash val="solid"/>
          </a:ln>
        </p:spPr>
      </p:sp>
      <p:sp>
        <p:nvSpPr>
          <p:cNvPr id="13" name="Text 11"/>
          <p:cNvSpPr txBox="1"/>
          <p:nvPr/>
        </p:nvSpPr>
        <p:spPr>
          <a:xfrm>
            <a:off x="914400" y="5257800"/>
            <a:ext cx="10332720" cy="777240"/>
          </a:xfrm>
          <a:prstGeom prst="rect">
            <a:avLst/>
          </a:prstGeom>
          <a:noFill/>
          <a:ln/>
        </p:spPr>
        <p:txBody>
          <a:bodyPr wrap="square" rtlCol="0" anchor="ctr"/>
          <a:lstStyle/>
          <a:p>
            <a:pPr indent="0" marL="0">
              <a:buNone/>
            </a:pPr>
            <a:r>
              <a:rPr lang="en-US" sz="1500" b="1" dirty="0">
                <a:solidFill>
                  <a:schemeClr val="tx2"/>
                </a:solidFill>
              </a:rPr>
              <a:t>Para discutir el sábado: si tuvieras que aplicar un PRS de riesgo cardiovascular en una cohorte colombiana, ¿qué harías antes de reportar resultados individuales?</a:t>
            </a:r>
            <a:endParaRPr lang="en-US" sz="1500" dirty="0"/>
          </a:p>
        </p:txBody>
      </p:sp>
      <p:sp>
        <p:nvSpPr>
          <p:cNvPr id="25" name="Slide Number Placeholder 0"/>
          <p:cNvSpPr>
            <a:spLocks noGrp="1"/>
          </p:cNvSpPr>
          <p:nvPr>
            <p:ph type="sldNum" sz="quarter" idx="4294967295"/>
          </p:nvPr>
        </p:nvSpPr>
        <p:spPr>
          <a:xfrm>
            <a:off x="1152144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9A9A"/>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68680"/>
          </a:xfrm>
          <a:prstGeom prst="rect">
            <a:avLst/>
          </a:prstGeom>
          <a:noFill/>
          <a:ln/>
        </p:spPr>
        <p:txBody>
          <a:bodyPr wrap="square" rtlCol="0" anchor="ctr"/>
          <a:lstStyle/>
          <a:p>
            <a:pPr indent="0" marL="0">
              <a:buNone/>
            </a:pPr>
            <a:r>
              <a:rPr lang="en-US" sz="3200" b="1" dirty="0">
                <a:solidFill>
                  <a:schemeClr val="tx2"/>
                </a:solidFill>
              </a:rPr>
              <a:t>Para la sesión 4 del sábado</a:t>
            </a:r>
            <a:endParaRPr lang="en-US" sz="3200" dirty="0"/>
          </a:p>
        </p:txBody>
      </p:sp>
      <p:sp>
        <p:nvSpPr>
          <p:cNvPr id="3" name="Text 1"/>
          <p:cNvSpPr txBox="1"/>
          <p:nvPr/>
        </p:nvSpPr>
        <p:spPr>
          <a:xfrm>
            <a:off x="685800" y="1508760"/>
            <a:ext cx="10789920" cy="4572000"/>
          </a:xfrm>
          <a:prstGeom prst="rect">
            <a:avLst/>
          </a:prstGeom>
          <a:noFill/>
          <a:ln/>
        </p:spPr>
        <p:txBody>
          <a:bodyPr wrap="square" rtlCol="0" anchor="t"/>
          <a:lstStyle/>
          <a:p>
            <a:pPr marL="342900" indent="-342900">
              <a:spcAft>
                <a:spcPts val="1000"/>
              </a:spcAft>
              <a:buSzPct val="100000"/>
              <a:buChar char="•"/>
            </a:pPr>
            <a:r>
              <a:rPr lang="en-US" sz="1700" dirty="0">
                <a:solidFill>
                  <a:schemeClr val="tx1"/>
                </a:solidFill>
              </a:rPr>
              <a:t>Consultaremos qué ancestría tiene cada persona en la posición exacta de APOL1.</a:t>
            </a:r>
            <a:endParaRPr lang="en-US" sz="1700" dirty="0"/>
          </a:p>
          <a:p>
            <a:pPr marL="342900" indent="-342900">
              <a:spcAft>
                <a:spcPts val="1000"/>
              </a:spcAft>
              <a:buSzPct val="100000"/>
              <a:buChar char="•"/>
            </a:pPr>
            <a:r>
              <a:rPr lang="en-US" sz="1700" dirty="0">
                <a:solidFill>
                  <a:schemeClr val="tx1"/>
                </a:solidFill>
              </a:rPr>
              <a:t>Contaremos cuántas de sus dos copias son africanas ahí, que es lo que define el riesgo recesivo.</a:t>
            </a:r>
            <a:endParaRPr lang="en-US" sz="1700" dirty="0"/>
          </a:p>
          <a:p>
            <a:pPr marL="342900" indent="-342900">
              <a:spcAft>
                <a:spcPts val="1000"/>
              </a:spcAft>
              <a:buSzPct val="100000"/>
              <a:buChar char="•"/>
            </a:pPr>
            <a:r>
              <a:rPr lang="en-US" sz="1700" dirty="0">
                <a:solidFill>
                  <a:schemeClr val="tx1"/>
                </a:solidFill>
              </a:rPr>
              <a:t>Veremos la lógica del admixture mapping midiendo la desviación de la ancestría a lo largo del cromosoma.</a:t>
            </a:r>
            <a:endParaRPr lang="en-US" sz="1700" dirty="0"/>
          </a:p>
          <a:p>
            <a:pPr marL="342900" indent="-342900">
              <a:spcAft>
                <a:spcPts val="1000"/>
              </a:spcAft>
              <a:buSzPct val="100000"/>
              <a:buChar char="•"/>
            </a:pPr>
            <a:r>
              <a:rPr lang="en-US" sz="1700" dirty="0">
                <a:solidFill>
                  <a:schemeClr val="tx1"/>
                </a:solidFill>
              </a:rPr>
              <a:t>Cerraremos discutiendo límites: qué se puede concluir con estos datos y qué no.</a:t>
            </a:r>
            <a:endParaRPr lang="en-US" sz="1700" dirty="0"/>
          </a:p>
        </p:txBody>
      </p:sp>
      <p:sp>
        <p:nvSpPr>
          <p:cNvPr id="4" name="caja-lect4"/>
          <p:cNvSpPr/>
          <p:nvPr/>
        </p:nvSpPr>
        <p:spPr>
          <a:xfrm>
            <a:off x="685800" y="4206240"/>
            <a:ext cx="10789920" cy="1737360"/>
          </a:xfrm>
          <a:prstGeom prst="roundRect">
            <a:avLst>
              <a:gd name="adj" fmla="val 5263"/>
            </a:avLst>
          </a:prstGeom>
          <a:solidFill>
            <a:schemeClr val="bg2"/>
          </a:solidFill>
          <a:ln w="6350">
            <a:solidFill>
              <a:srgbClr val="E2E2DE"/>
            </a:solidFill>
            <a:prstDash val="solid"/>
          </a:ln>
        </p:spPr>
      </p:sp>
      <p:sp>
        <p:nvSpPr>
          <p:cNvPr id="5" name="Text 3"/>
          <p:cNvSpPr txBox="1"/>
          <p:nvPr/>
        </p:nvSpPr>
        <p:spPr>
          <a:xfrm>
            <a:off x="960120" y="4370832"/>
            <a:ext cx="10241280" cy="365760"/>
          </a:xfrm>
          <a:prstGeom prst="rect">
            <a:avLst/>
          </a:prstGeom>
          <a:noFill/>
          <a:ln/>
        </p:spPr>
        <p:txBody>
          <a:bodyPr wrap="square" lIns="0" tIns="0" rIns="0" bIns="0" rtlCol="0" anchor="ctr"/>
          <a:lstStyle/>
          <a:p>
            <a:pPr indent="0" marL="0">
              <a:buNone/>
            </a:pPr>
            <a:r>
              <a:rPr lang="en-US" sz="1600" b="1" dirty="0">
                <a:solidFill>
                  <a:schemeClr val="tx2"/>
                </a:solidFill>
              </a:rPr>
              <a:t>Lecturas de este módulo</a:t>
            </a:r>
            <a:endParaRPr lang="en-US" sz="1600" dirty="0"/>
          </a:p>
        </p:txBody>
      </p:sp>
      <p:sp>
        <p:nvSpPr>
          <p:cNvPr id="6" name="Text 4"/>
          <p:cNvSpPr txBox="1"/>
          <p:nvPr/>
        </p:nvSpPr>
        <p:spPr>
          <a:xfrm>
            <a:off x="960120" y="4754880"/>
            <a:ext cx="10241280" cy="1097280"/>
          </a:xfrm>
          <a:prstGeom prst="rect">
            <a:avLst/>
          </a:prstGeom>
          <a:noFill/>
          <a:ln/>
        </p:spPr>
        <p:txBody>
          <a:bodyPr wrap="square" rtlCol="0" anchor="t"/>
          <a:lstStyle/>
          <a:p>
            <a:pPr marL="342900" indent="-342900">
              <a:spcAft>
                <a:spcPts val="400"/>
              </a:spcAft>
              <a:buSzPct val="100000"/>
              <a:buChar char="•"/>
            </a:pPr>
            <a:r>
              <a:rPr lang="en-US" sz="1300" dirty="0">
                <a:solidFill>
                  <a:schemeClr val="tx1"/>
                </a:solidFill>
              </a:rPr>
              <a:t>Martin et al. Current clinical use of polygenic scores will risk exacerbating health disparities. Nat Genet 2019;51(4):584–591 (principal)</a:t>
            </a:r>
            <a:endParaRPr lang="en-US" sz="1300" dirty="0"/>
          </a:p>
          <a:p>
            <a:pPr marL="342900" indent="-342900">
              <a:spcAft>
                <a:spcPts val="400"/>
              </a:spcAft>
              <a:buSzPct val="100000"/>
              <a:buChar char="•"/>
            </a:pPr>
            <a:r>
              <a:rPr lang="en-US" sz="1300" dirty="0">
                <a:solidFill>
                  <a:schemeClr val="tx1"/>
                </a:solidFill>
              </a:rPr>
              <a:t>Tzur et al. Missense mutations in the APOL1 gene are highly associated with end stage kidney disease risk previously attributed to the MYH9 gene. Hum Genet 2010;128(3):345–350</a:t>
            </a:r>
            <a:endParaRPr lang="en-US" sz="1300" dirty="0"/>
          </a:p>
        </p:txBody>
      </p:sp>
      <p:sp>
        <p:nvSpPr>
          <p:cNvPr id="8" name="Text 0"/>
          <p:cNvSpPr/>
          <p:nvPr>
            <p:ph idx="101" type="body" hasCustomPrompt="1"/>
          </p:nvPr>
        </p:nvSpPr>
        <p:spPr>
          <a:xfrm>
            <a:off x="685800" y="1508760"/>
            <a:ext cx="10789920" cy="4663440"/>
          </a:xfrm>
          <a:prstGeom prst="rect">
            <a:avLst/>
          </a:prstGeom>
          <a:noFill/>
          <a:ln/>
        </p:spPr>
        <p:txBody>
          <a:bodyPr wrap="square" rtlCol="0" anchor="t"/>
          <a:lstStyle/>
          <a:p>
            <a:pPr indent="0" marL="0">
              <a:buNone/>
            </a:pPr>
            <a:endParaRPr lang="en-US" sz="1700" dirty="0"/>
          </a:p>
        </p:txBody>
      </p:sp>
      <p:sp>
        <p:nvSpPr>
          <p:cNvPr id="25" name="Slide Number Placeholder 0"/>
          <p:cNvSpPr>
            <a:spLocks noGrp="1"/>
          </p:cNvSpPr>
          <p:nvPr>
            <p:ph type="sldNum" sz="quarter" idx="4294967295"/>
          </p:nvPr>
        </p:nvSpPr>
        <p:spPr>
          <a:xfrm>
            <a:off x="1152144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9A9A"/>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914400" y="2560320"/>
            <a:ext cx="10332720" cy="1280160"/>
          </a:xfrm>
          <a:prstGeom prst="rect">
            <a:avLst/>
          </a:prstGeom>
          <a:noFill/>
          <a:ln/>
        </p:spPr>
        <p:txBody>
          <a:bodyPr wrap="square" rtlCol="0" anchor="b"/>
          <a:lstStyle/>
          <a:p>
            <a:pPr indent="0" marL="0">
              <a:buNone/>
            </a:pPr>
            <a:r>
              <a:rPr lang="en-US" sz="3600" b="1" dirty="0">
                <a:solidFill>
                  <a:schemeClr val="bg1"/>
                </a:solidFill>
              </a:rPr>
              <a:t>Lo que llevamos y lo que falta</a:t>
            </a:r>
            <a:endParaRPr lang="en-US" sz="3600" dirty="0"/>
          </a:p>
        </p:txBody>
      </p:sp>
      <p:sp>
        <p:nvSpPr>
          <p:cNvPr id="3" name="Text 0"/>
          <p:cNvSpPr/>
          <p:nvPr>
            <p:ph idx="101" type="body" hasCustomPrompt="1"/>
          </p:nvPr>
        </p:nvSpPr>
        <p:spPr>
          <a:xfrm>
            <a:off x="914400" y="3886200"/>
            <a:ext cx="10332720" cy="1188720"/>
          </a:xfrm>
          <a:prstGeom prst="rect">
            <a:avLst/>
          </a:prstGeom>
          <a:noFill/>
          <a:ln/>
        </p:spPr>
        <p:txBody>
          <a:bodyPr wrap="square" rtlCol="0" anchor="t"/>
          <a:lstStyle/>
          <a:p>
            <a:pPr indent="0" marL="0">
              <a:buNone/>
            </a:pPr>
            <a:r>
              <a:rPr lang="en-US" sz="1700" dirty="0">
                <a:solidFill>
                  <a:srgbClr val="C3C2B7"/>
                </a:solidFill>
              </a:rPr>
              <a:t>Elegir K con validación cruzada · Fasear datos propios con SHAPEIT o Beagle · Trabajar con todo el genoma, no un cromosoma · Modo supervisado de ADMIXTURE · Fechar la mezcla a partir del largo de los segmentos</a:t>
            </a:r>
            <a:endParaRPr lang="en-US" sz="1700" dirty="0"/>
          </a:p>
        </p:txBody>
      </p:sp>
    </p:spTree>
  </p:cSld>
  <p:clrMapOvr>
    <a:masterClrMapping/>
  </p:clrMapOvr>
</p:sld>
</file>

<file path=ppt/theme/theme1.xml><?xml version="1.0" encoding="utf-8"?>
<a:theme xmlns:a="http://schemas.openxmlformats.org/drawingml/2006/main" name="Ancestria">
  <a:themeElements>
    <a:clrScheme name="Ancestria">
      <a:dk1>
        <a:srgbClr val="1A1A1A"/>
      </a:dk1>
      <a:lt1>
        <a:srgbClr val="FFFFFF"/>
      </a:lt1>
      <a:dk2>
        <a:srgbClr val="23313A"/>
      </a:dk2>
      <a:lt2>
        <a:srgbClr val="F2F2F0"/>
      </a:lt2>
      <a:accent1>
        <a:srgbClr val="2A78D6"/>
      </a:accent1>
      <a:accent2>
        <a:srgbClr val="EB6834"/>
      </a:accent2>
      <a:accent3>
        <a:srgbClr val="1BAF7A"/>
      </a:accent3>
      <a:accent4>
        <a:srgbClr val="6B6B6B"/>
      </a:accent4>
      <a:accent5>
        <a:srgbClr val="EDA100"/>
      </a:accent5>
      <a:accent6>
        <a:srgbClr val="6250D6"/>
      </a:accent6>
      <a:hlink>
        <a:srgbClr val="2A78D6"/>
      </a:hlink>
      <a:folHlink>
        <a:srgbClr val="6250D6"/>
      </a:folHlink>
    </a:clrScheme>
    <a:fontScheme name="Ancestri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Teoria del curso de ancestria genetica</dc:title>
  <dc:subject>PptxGenJS Presentation</dc:subject>
  <dc:creator>Curso de ancestria genetica</dc:creator>
  <cp:lastModifiedBy>Curso de ancestria genetica</cp:lastModifiedBy>
  <cp:revision>1</cp:revision>
  <dcterms:created xsi:type="dcterms:W3CDTF">2026-10-23T18:42:52Z</dcterms:created>
  <dcterms:modified xsi:type="dcterms:W3CDTF">2026-10-23T18:42:52Z</dcterms:modified>
</cp:coreProperties>
</file>